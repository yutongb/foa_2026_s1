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Fira Code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B6D326-2104-4C06-A86E-4448A5FDA8ED}">
  <a:tblStyle styleId="{57B6D326-2104-4C06-A86E-4448A5FDA8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FiraCode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FiraCod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9f9c354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9f9c354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9f9c35483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9f9c35483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9f9c35483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9f9c35483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3860476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3860476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9f9c35483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9f9c35483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9f9c35483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9f9c35483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9f9c35483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99f9c35483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9f9c35483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9f9c35483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9f9c35483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9f9c35483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9f9c3548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99f9c3548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9f9c354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9f9c354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9f9c3548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9f9c3548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9f9c3548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9f9c3548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9f9c3548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99f9c354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9f9c3548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99f9c3548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9f9c3548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9f9c3548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9f9c3548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9f9c3548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9f9c3548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9f9c3548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99f9c3548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99f9c3548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9f9c3548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9f9c3548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9f9c35483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99f9c35483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9f9c3548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9f9c3548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9f9c3548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99f9c3548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99f9c3548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99f9c3548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9f9c3548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9f9c3548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9c3548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9c3548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99f9c3548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99f9c3548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99f9c35483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99f9c35483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99f9c35483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99f9c35483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99f9c3548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99f9c3548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99f9c3548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99f9c3548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99f9c35483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99f9c35483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99f9c3548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99f9c3548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99f9c35483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99f9c35483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99f9c35483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99f9c35483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99f9c35483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99f9c35483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99f9c35483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99f9c35483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99f9c35483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99f9c35483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99f9c35483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99f9c35483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99f9c35483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99f9c35483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99f9c35483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99f9c35483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99f9c3548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99f9c3548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This isn’t a catch-all solution and bad practice.  It’s better to have arr = NULL just so we know it’s not initialised.  We’ll see some examples later.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99f9c3548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99f9c3548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99f9c35483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99f9c35483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99f9c35483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99f9c35483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99f9c35483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99f9c35483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Dynamic Memory Allocation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6000" y="4499275"/>
            <a:ext cx="1572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(summary)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Ask for memory, as we need it.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Biggest limitation: We </a:t>
            </a:r>
            <a:r>
              <a:rPr b="1" lang="en-GB" sz="2200" u="sng"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free it ourselves once done with it.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Uses: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Dynamic array allocation - when we don’t know input size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Large array / data structure - start small, increase size as we need it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Other data structures - Linked lists, etc.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Build a program that reads in a list of integers, and outputs its sum.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The program should handle lists of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any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(reasonable)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example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Build a program that reads in a list of integers, and outputs its sum.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The program should handle lists of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any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(reasonable)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>
                <a:latin typeface="Consolas"/>
                <a:ea typeface="Consolas"/>
                <a:cs typeface="Consolas"/>
                <a:sym typeface="Consolas"/>
              </a:rPr>
              <a:t>How to do this?</a:t>
            </a:r>
            <a:endParaRPr sz="1600" u="sng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Use a variable to hold the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capacity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of the array ::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size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Start with ‘small’ capacity - say 10.</a:t>
            </a:r>
            <a:endParaRPr i="1"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Use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to allocate a block of memory of that size to hold the array.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Read in each integer once at a time.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we read in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integers,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realloc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Finish reading the integers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Do our required task -- calculate sum, output them.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AutoNum type="arabicPeriod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Release the block of memory allocated with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example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Allocates a contiguous block of memory of SIZE bytes, returning a void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Pointer to the first byte.  Elements are left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uninitialised.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(void *ptr)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Frees the memory block pointed to by ptr, IF that pointer once returned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by malloc / calloc / realloc.  Pointer address is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changed.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calloc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(size_t nmemb, 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Same as malloc, but (1) checks if nmemb * size will integer overflow, and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(2) initialises all elements to 0. (Slow)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realloc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(void *ptr, 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Changes size of memory block pointed to by ptr to one having size SIZE,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returning a pointer to that memory block.  Some caveats.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- &lt;stdlib.h&gt;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No upper bound on size of input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There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an upper bound on size of input, but it’s large -&gt; waste memory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Want to use a lot of memory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Want to have memory / data structures persist in your program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Want memory on the heap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When to use Dynamic Memory 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Gotta watch out when doing dynamic memory allocation.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Issues to consider: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Failed to allocate memory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Double Free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Memory Corruption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issues.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0"/>
          <p:cNvGraphicFramePr/>
          <p:nvPr/>
        </p:nvGraphicFramePr>
        <p:xfrm>
          <a:off x="1816550" y="62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853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" name="Google Shape;110;p20"/>
          <p:cNvGraphicFramePr/>
          <p:nvPr/>
        </p:nvGraphicFramePr>
        <p:xfrm>
          <a:off x="4804600" y="67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853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20"/>
          <p:cNvSpPr/>
          <p:nvPr/>
        </p:nvSpPr>
        <p:spPr>
          <a:xfrm>
            <a:off x="2669100" y="259825"/>
            <a:ext cx="2798100" cy="489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2669100" y="749425"/>
            <a:ext cx="2798100" cy="139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3C78D8"/>
              </a:gs>
            </a:gsLst>
            <a:lin ang="16200038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2669100" y="2140275"/>
            <a:ext cx="2798100" cy="1263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CC0000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2669100" y="3403850"/>
            <a:ext cx="2798100" cy="7848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2669750" y="4188650"/>
            <a:ext cx="2798100" cy="644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1356850" y="4514025"/>
            <a:ext cx="132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0x0000 0000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17900" y="4514025"/>
            <a:ext cx="1539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‘Low’ address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1357025" y="315450"/>
            <a:ext cx="132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0xFFFF FFFF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94100" y="315450"/>
            <a:ext cx="1539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‘High’ address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5774200" y="157250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(Command-line arguments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 Environment variables)</a:t>
            </a:r>
            <a:endParaRPr i="1"/>
          </a:p>
        </p:txBody>
      </p:sp>
      <p:sp>
        <p:nvSpPr>
          <p:cNvPr id="121" name="Google Shape;121;p20"/>
          <p:cNvSpPr txBox="1"/>
          <p:nvPr/>
        </p:nvSpPr>
        <p:spPr>
          <a:xfrm>
            <a:off x="5774200" y="794775"/>
            <a:ext cx="28779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stack </a:t>
            </a:r>
            <a:r>
              <a:rPr lang="en-GB"/>
              <a:t> local variables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5774200" y="2603825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heap</a:t>
            </a:r>
            <a:r>
              <a:rPr lang="en-GB"/>
              <a:t>  dynamic memory allocation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(malloc)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5774200" y="3576350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 </a:t>
            </a:r>
            <a:r>
              <a:rPr lang="en-GB"/>
              <a:t> static, global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function pointers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5774200" y="4260475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code  </a:t>
            </a:r>
            <a:r>
              <a:rPr lang="en-GB"/>
              <a:t>program code (binary)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433550" y="767763"/>
            <a:ext cx="25227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x[10];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2669100" y="3007650"/>
            <a:ext cx="34302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*A = malloc(10*sizeof(int));</a:t>
            </a:r>
            <a:endParaRPr b="1" sz="1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128750" y="3557850"/>
            <a:ext cx="25227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static int p = 5;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global = 4;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21"/>
          <p:cNvGraphicFramePr/>
          <p:nvPr/>
        </p:nvGraphicFramePr>
        <p:xfrm>
          <a:off x="151650" y="10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1820250"/>
                <a:gridCol w="2470125"/>
                <a:gridCol w="2094700"/>
                <a:gridCol w="2455625"/>
              </a:tblGrid>
              <a:tr h="48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Memory allocation: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Automatic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Static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Dynamic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7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Managed by...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the compiler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the compiler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the programmer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8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Alloc’d...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during variable initialisation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at compile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using </a:t>
                      </a:r>
                      <a:r>
                        <a:rPr lang="en-GB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malloc</a:t>
                      </a:r>
                      <a:r>
                        <a:rPr lang="en-GB"/>
                        <a:t> / </a:t>
                      </a:r>
                      <a:r>
                        <a:rPr lang="en-GB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calloc</a:t>
                      </a:r>
                      <a:r>
                        <a:rPr lang="en-GB"/>
                        <a:t> / </a:t>
                      </a:r>
                      <a:r>
                        <a:rPr lang="en-GB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realloc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8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Free’d...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automatically, when exiting scope of variable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automatically, at end of program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manually, when </a:t>
                      </a:r>
                      <a:r>
                        <a:rPr lang="en-GB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r>
                        <a:rPr lang="en-GB"/>
                        <a:t> is called    </a:t>
                      </a:r>
                      <a:r>
                        <a:rPr i="1" lang="en-GB"/>
                        <a:t>!! memory leaks !!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578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Memory </a:t>
                      </a:r>
                      <a:br>
                        <a:rPr i="1" lang="en-GB"/>
                      </a:br>
                      <a:r>
                        <a:rPr i="1" lang="en-GB"/>
                        <a:t>assigned to...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stack</a:t>
                      </a:r>
                      <a:r>
                        <a:rPr lang="en-GB"/>
                        <a:t>, within </a:t>
                      </a:r>
                      <a:r>
                        <a:rPr b="1" lang="en-GB"/>
                        <a:t>stack frame </a:t>
                      </a:r>
                      <a:r>
                        <a:rPr lang="en-GB"/>
                        <a:t>(at runtime)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data </a:t>
                      </a:r>
                      <a:r>
                        <a:rPr lang="en-GB"/>
                        <a:t>(at compile time)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heap </a:t>
                      </a:r>
                      <a:r>
                        <a:rPr lang="en-GB"/>
                        <a:t>(at runtime)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88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Examples / Uses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local variables, function arguments, array size 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global, static variables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Dynamically sized arrays, structs, array size unknown,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Large data structures, custom data structures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865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/>
                        <a:t>Issues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Limited control of lifetime;</a:t>
                      </a:r>
                      <a:br>
                        <a:rPr lang="en-GB">
                          <a:solidFill>
                            <a:schemeClr val="dk1"/>
                          </a:solidFill>
                        </a:rPr>
                      </a:br>
                      <a:r>
                        <a:rPr lang="en-GB">
                          <a:solidFill>
                            <a:schemeClr val="dk1"/>
                          </a:solidFill>
                        </a:rPr>
                        <a:t>Can’t change size after init;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Size calculated at compile time;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Size limits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Variable is allocated permanently, wastes memory;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Same limitations as automatic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Memory leak (no free);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Double free;</a:t>
                      </a:r>
                      <a:br>
                        <a:rPr lang="en-GB"/>
                      </a:br>
                      <a:r>
                        <a:rPr lang="en-GB"/>
                        <a:t>Additional memory required to store pointer to memory;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Static &amp; Automatic allocation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Build a program that reads in a list of integers, and outputs its sum.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The program should handle lists of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any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(reasonable)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Scenario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Automatic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By the compiler, at runtime, stored in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stack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Static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By the compiler, at compile time, stored in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data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Dynamic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By the programmer, at runtime, stored in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Memory 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5"/>
          <p:cNvGraphicFramePr/>
          <p:nvPr/>
        </p:nvGraphicFramePr>
        <p:xfrm>
          <a:off x="1816550" y="62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853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" name="Google Shape;160;p25"/>
          <p:cNvGraphicFramePr/>
          <p:nvPr/>
        </p:nvGraphicFramePr>
        <p:xfrm>
          <a:off x="4804600" y="67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853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25"/>
          <p:cNvSpPr/>
          <p:nvPr/>
        </p:nvSpPr>
        <p:spPr>
          <a:xfrm>
            <a:off x="2669100" y="259825"/>
            <a:ext cx="2798100" cy="489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2669100" y="749425"/>
            <a:ext cx="2798100" cy="139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3C78D8"/>
              </a:gs>
            </a:gsLst>
            <a:lin ang="16200038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2669100" y="2140275"/>
            <a:ext cx="2798100" cy="1263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CC0000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2669100" y="3403850"/>
            <a:ext cx="2798100" cy="7848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2669750" y="4188650"/>
            <a:ext cx="2798100" cy="644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1356850" y="4514025"/>
            <a:ext cx="132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0x0000 0000</a:t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17900" y="4514025"/>
            <a:ext cx="1539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‘Low’ address</a:t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1357025" y="315450"/>
            <a:ext cx="132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0xFFFF FFFF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94100" y="315450"/>
            <a:ext cx="1539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‘High’ address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5774200" y="157250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(Command-line arguments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 Environment variables)</a:t>
            </a:r>
            <a:endParaRPr i="1"/>
          </a:p>
        </p:txBody>
      </p:sp>
      <p:sp>
        <p:nvSpPr>
          <p:cNvPr id="171" name="Google Shape;171;p25"/>
          <p:cNvSpPr txBox="1"/>
          <p:nvPr/>
        </p:nvSpPr>
        <p:spPr>
          <a:xfrm>
            <a:off x="5774200" y="794775"/>
            <a:ext cx="28779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stack </a:t>
            </a:r>
            <a:r>
              <a:rPr lang="en-GB"/>
              <a:t> local variables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5774200" y="2603825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heap</a:t>
            </a:r>
            <a:r>
              <a:rPr lang="en-GB"/>
              <a:t>  dynamic memory allocation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(malloc)</a:t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5774200" y="3576350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 </a:t>
            </a:r>
            <a:r>
              <a:rPr lang="en-GB"/>
              <a:t> static, global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function pointers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5774200" y="4260475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code  </a:t>
            </a:r>
            <a:r>
              <a:rPr lang="en-GB"/>
              <a:t>program code (binary)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236600" y="862900"/>
            <a:ext cx="2125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Recall memory layout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g = 4;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func(int arg, char *str)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static int x = 5;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double pair[2] = {1.4, 4.3};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for (int i = 0; i &lt; g; i++)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printf(“%d “, i * x++);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Static &amp; Automatic Memory 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519125" y="1429900"/>
            <a:ext cx="1730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(1)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032825" y="2420250"/>
            <a:ext cx="1730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(2)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828525" y="3175100"/>
            <a:ext cx="1730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(3)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1023400" y="3527550"/>
            <a:ext cx="1730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(4)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404100" y="3982950"/>
            <a:ext cx="17304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(5)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3372525" y="1329700"/>
            <a:ext cx="476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</a:t>
            </a:r>
            <a:r>
              <a:rPr lang="en-GB" u="sng"/>
              <a:t>in memory</a:t>
            </a:r>
            <a:r>
              <a:rPr lang="en-GB"/>
              <a:t>, and what’s </a:t>
            </a:r>
            <a:r>
              <a:rPr lang="en-GB" u="sng"/>
              <a:t>in scope</a:t>
            </a:r>
            <a:r>
              <a:rPr lang="en-GB"/>
              <a:t> at each point?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g = 4;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</a:t>
            </a: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 arg, char *str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static int x = 5;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	double pair[2] = {1.4, 4.3};</a:t>
            </a:r>
            <a:endParaRPr sz="160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for (</a:t>
            </a: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 i = 0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; i &lt; g; i++)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printf(“%d “, i * x++);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Automatic memory allocation</a:t>
            </a: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- automatically allocated by the compiler at runtime,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once we enter scope of the variable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- freed once we exit the scope of the variable.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- stored within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stack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Static &amp; Automatic Memory 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Google Shape;202;p28"/>
          <p:cNvGraphicFramePr/>
          <p:nvPr/>
        </p:nvGraphicFramePr>
        <p:xfrm>
          <a:off x="1816550" y="62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853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28"/>
          <p:cNvGraphicFramePr/>
          <p:nvPr/>
        </p:nvGraphicFramePr>
        <p:xfrm>
          <a:off x="4804600" y="67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{57B6D326-2104-4C06-A86E-4448A5FDA8ED}</a:tableStyleId>
              </a:tblPr>
              <a:tblGrid>
                <a:gridCol w="853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8"/>
          <p:cNvSpPr/>
          <p:nvPr/>
        </p:nvSpPr>
        <p:spPr>
          <a:xfrm>
            <a:off x="2669100" y="259825"/>
            <a:ext cx="2798100" cy="489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2669100" y="749425"/>
            <a:ext cx="2798100" cy="139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3C78D8"/>
              </a:gs>
            </a:gsLst>
            <a:lin ang="16200038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2669100" y="2140275"/>
            <a:ext cx="2798100" cy="1263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CC0000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2669100" y="3403850"/>
            <a:ext cx="2798100" cy="7848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2669750" y="4188650"/>
            <a:ext cx="2798100" cy="644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1356850" y="4514025"/>
            <a:ext cx="132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0x0000 0000</a:t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17900" y="4514025"/>
            <a:ext cx="1539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‘Low’ address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1357025" y="315450"/>
            <a:ext cx="132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0xFFFF FFFF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94100" y="315450"/>
            <a:ext cx="1539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‘High’ address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5774200" y="157250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(Command-line arguments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 Environment variables)</a:t>
            </a:r>
            <a:endParaRPr i="1"/>
          </a:p>
        </p:txBody>
      </p:sp>
      <p:sp>
        <p:nvSpPr>
          <p:cNvPr id="214" name="Google Shape;214;p28"/>
          <p:cNvSpPr txBox="1"/>
          <p:nvPr/>
        </p:nvSpPr>
        <p:spPr>
          <a:xfrm>
            <a:off x="5774200" y="794775"/>
            <a:ext cx="28779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stack </a:t>
            </a:r>
            <a:r>
              <a:rPr lang="en-GB"/>
              <a:t> local variables</a:t>
            </a:r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5774200" y="2603825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heap</a:t>
            </a:r>
            <a:r>
              <a:rPr lang="en-GB"/>
              <a:t>  dynamic memory allocation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(malloc)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5774200" y="3576350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 </a:t>
            </a:r>
            <a:r>
              <a:rPr lang="en-GB"/>
              <a:t> static, global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function pointers</a:t>
            </a:r>
            <a:endParaRPr/>
          </a:p>
        </p:txBody>
      </p:sp>
      <p:sp>
        <p:nvSpPr>
          <p:cNvPr id="217" name="Google Shape;217;p28"/>
          <p:cNvSpPr txBox="1"/>
          <p:nvPr/>
        </p:nvSpPr>
        <p:spPr>
          <a:xfrm>
            <a:off x="5774200" y="4260475"/>
            <a:ext cx="287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code  </a:t>
            </a:r>
            <a:r>
              <a:rPr lang="en-GB"/>
              <a:t>program code (binary)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236600" y="862900"/>
            <a:ext cx="2125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Where do those variables go?</a:t>
            </a:r>
            <a:endParaRPr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 g = 4;</a:t>
            </a:r>
            <a:endParaRPr sz="160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func(int arg, char *str)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static int x = 5;</a:t>
            </a:r>
            <a:endParaRPr sz="160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double pair[2] = {1.4, 4.3};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for (int i = 0; i &lt; g; i++)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printf(“%d “, i * x++);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Static memory allocation</a:t>
            </a: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- allocated by the compiler at compile time,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once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- freed at program exit.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- stored within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data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Static &amp; Automatic Memory 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 calculated at compile time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no dynamically sized arrays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eg: Can’t create array based on input size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Allocated size can’t be changed after initialisation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Need to allocate upper bound of requirement -- wastes memory.  eg: storing between 10-10000 items, must create array of size 10000 to ensure there’s enough space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Limited stack memory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Limited size to memory blocks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“Array too large”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Problems with </a:t>
            </a:r>
            <a:r>
              <a:rPr b="1"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automatic </a:t>
            </a: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Once a variable is allocated, it is permanently allocated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Free’d at program exit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Waste memory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Created at compile time -- can only have one of each item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Same problems as automatic allocation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Problems with </a:t>
            </a:r>
            <a:r>
              <a:rPr b="1"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static </a:t>
            </a: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allocation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152475"/>
            <a:ext cx="85206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Build a program that reads in a list of integers, and outputs its sum.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The program should handle lists of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any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(reasonable)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Can we do this with automatic / static allocation?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Scenario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 txBox="1"/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stdlib.h memory functions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Allocates a contiguous block of memory of SIZE bytes, returning a void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Pointer to the first byte.  Elements are left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uninitialised.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(void *ptr)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Frees the memory block pointed to by ptr, IF that pointer once returned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by malloc / calloc / realloc.  Pointer address is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changed.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calloc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(size_t nmemb, 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Same as malloc, but (1) checks if nmemb * size will integer overflow, and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(2) initialises all elements to 0. (Slow)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realloc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(void *ptr, 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Changes size of memory block pointed to by ptr to one having size SIZE,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returning a pointer to that memory block.  Some caveats.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- &lt;stdlib.h&gt;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Allocates a contiguous block of memory of SIZE bytes within the heap, returning a void pointer to the first byte.  Elements are left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uninitialised.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(int *) malloc(5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^ Allocates a block of size 5 ints within the heap.  Stores an address in the stack to the first element of that block in arr.  Effectively the same as: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arr[5];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Difference?  Malloc: we need a pointer to access the memory block - an additional 8B of memory.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arr[0] = 5;     works for both.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*malloc(size_t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Equivalencies:</a:t>
            </a:r>
            <a:endParaRPr i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(int *) malloc(5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* sizeof(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… some code …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arr = malloc(5 * sizeof(int));         // what is the type of arr?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OR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arr = (int *) malloc(5 * sizeof(int)); // ah, it’s an int *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arr = malloc(5 * sizeof(*arr));        // sizeof takes variables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*malloc(size_t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"/>
          <p:cNvSpPr txBox="1"/>
          <p:nvPr/>
        </p:nvSpPr>
        <p:spPr>
          <a:xfrm>
            <a:off x="4698950" y="2113000"/>
            <a:ext cx="27681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necessary to cast, but may make your code clearer.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152475"/>
            <a:ext cx="5193900" cy="3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arr[5];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 ?? ...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[0x400 / stack]  arr[0]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arr[1]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arr[2]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arr[3]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arr[4]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 ?? ...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*malloc(size_t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/>
          <p:nvPr/>
        </p:nvSpPr>
        <p:spPr>
          <a:xfrm>
            <a:off x="7994200" y="12194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8313250" y="1158575"/>
            <a:ext cx="683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Stack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2" name="Google Shape;292;p37"/>
          <p:cNvSpPr/>
          <p:nvPr/>
        </p:nvSpPr>
        <p:spPr>
          <a:xfrm>
            <a:off x="5072200" y="30325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4780000" y="30325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4" name="Google Shape;294;p37"/>
          <p:cNvSpPr/>
          <p:nvPr/>
        </p:nvSpPr>
        <p:spPr>
          <a:xfrm>
            <a:off x="4487800" y="30325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4195600" y="30325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6" name="Google Shape;296;p37"/>
          <p:cNvSpPr/>
          <p:nvPr/>
        </p:nvSpPr>
        <p:spPr>
          <a:xfrm>
            <a:off x="5072200" y="27403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/>
          <p:nvPr/>
        </p:nvSpPr>
        <p:spPr>
          <a:xfrm>
            <a:off x="4780000" y="27403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>
            <a:off x="4487800" y="27403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/>
          <p:nvPr/>
        </p:nvSpPr>
        <p:spPr>
          <a:xfrm>
            <a:off x="4195600" y="27403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/>
          <p:nvPr/>
        </p:nvSpPr>
        <p:spPr>
          <a:xfrm>
            <a:off x="6241000" y="27403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/>
          <p:nvPr/>
        </p:nvSpPr>
        <p:spPr>
          <a:xfrm>
            <a:off x="5948800" y="27403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>
            <a:off x="5656600" y="27403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5364400" y="27403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/>
          <p:nvPr/>
        </p:nvSpPr>
        <p:spPr>
          <a:xfrm>
            <a:off x="62410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7"/>
          <p:cNvSpPr/>
          <p:nvPr/>
        </p:nvSpPr>
        <p:spPr>
          <a:xfrm>
            <a:off x="59488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7"/>
          <p:cNvSpPr/>
          <p:nvPr/>
        </p:nvSpPr>
        <p:spPr>
          <a:xfrm>
            <a:off x="56566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7"/>
          <p:cNvSpPr/>
          <p:nvPr/>
        </p:nvSpPr>
        <p:spPr>
          <a:xfrm>
            <a:off x="53644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7"/>
          <p:cNvSpPr/>
          <p:nvPr/>
        </p:nvSpPr>
        <p:spPr>
          <a:xfrm>
            <a:off x="7409800" y="30325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/>
          <p:nvPr/>
        </p:nvSpPr>
        <p:spPr>
          <a:xfrm>
            <a:off x="7117600" y="30325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7"/>
          <p:cNvSpPr/>
          <p:nvPr/>
        </p:nvSpPr>
        <p:spPr>
          <a:xfrm>
            <a:off x="6825400" y="30325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7"/>
          <p:cNvSpPr/>
          <p:nvPr/>
        </p:nvSpPr>
        <p:spPr>
          <a:xfrm>
            <a:off x="6533200" y="3032550"/>
            <a:ext cx="292200" cy="2922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7"/>
          <p:cNvSpPr/>
          <p:nvPr/>
        </p:nvSpPr>
        <p:spPr>
          <a:xfrm>
            <a:off x="85786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7"/>
          <p:cNvSpPr/>
          <p:nvPr/>
        </p:nvSpPr>
        <p:spPr>
          <a:xfrm>
            <a:off x="82864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7"/>
          <p:cNvSpPr/>
          <p:nvPr/>
        </p:nvSpPr>
        <p:spPr>
          <a:xfrm>
            <a:off x="79942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7"/>
          <p:cNvSpPr/>
          <p:nvPr/>
        </p:nvSpPr>
        <p:spPr>
          <a:xfrm>
            <a:off x="7702000" y="3032550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7"/>
          <p:cNvSpPr/>
          <p:nvPr/>
        </p:nvSpPr>
        <p:spPr>
          <a:xfrm>
            <a:off x="85786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7"/>
          <p:cNvSpPr/>
          <p:nvPr/>
        </p:nvSpPr>
        <p:spPr>
          <a:xfrm>
            <a:off x="82864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7"/>
          <p:cNvSpPr/>
          <p:nvPr/>
        </p:nvSpPr>
        <p:spPr>
          <a:xfrm>
            <a:off x="79942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/>
          <p:nvPr/>
        </p:nvSpPr>
        <p:spPr>
          <a:xfrm>
            <a:off x="77020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74098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7"/>
          <p:cNvSpPr/>
          <p:nvPr/>
        </p:nvSpPr>
        <p:spPr>
          <a:xfrm>
            <a:off x="71176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7"/>
          <p:cNvSpPr/>
          <p:nvPr/>
        </p:nvSpPr>
        <p:spPr>
          <a:xfrm>
            <a:off x="68254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"/>
          <p:cNvSpPr/>
          <p:nvPr/>
        </p:nvSpPr>
        <p:spPr>
          <a:xfrm>
            <a:off x="6533200" y="2740350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7"/>
          <p:cNvSpPr txBox="1"/>
          <p:nvPr/>
        </p:nvSpPr>
        <p:spPr>
          <a:xfrm>
            <a:off x="4104100" y="3277600"/>
            <a:ext cx="13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^ (unalloc. memory)</a:t>
            </a:r>
            <a:endParaRPr sz="800"/>
          </a:p>
        </p:txBody>
      </p:sp>
      <p:sp>
        <p:nvSpPr>
          <p:cNvPr id="325" name="Google Shape;325;p37"/>
          <p:cNvSpPr txBox="1"/>
          <p:nvPr/>
        </p:nvSpPr>
        <p:spPr>
          <a:xfrm>
            <a:off x="6475100" y="2414775"/>
            <a:ext cx="1439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nsolas"/>
                <a:ea typeface="Consolas"/>
                <a:cs typeface="Consolas"/>
                <a:sym typeface="Consolas"/>
              </a:rPr>
              <a:t>sizeof(int)*5 = 20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 rot="5400000">
            <a:off x="4330150" y="4174750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arr[0]</a:t>
            </a:r>
            <a:endParaRPr sz="800"/>
          </a:p>
        </p:txBody>
      </p:sp>
      <p:sp>
        <p:nvSpPr>
          <p:cNvPr id="327" name="Google Shape;327;p37"/>
          <p:cNvSpPr txBox="1"/>
          <p:nvPr/>
        </p:nvSpPr>
        <p:spPr>
          <a:xfrm rot="5400000">
            <a:off x="5498950" y="4174750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arr[1]</a:t>
            </a:r>
            <a:endParaRPr sz="800"/>
          </a:p>
        </p:txBody>
      </p:sp>
      <p:sp>
        <p:nvSpPr>
          <p:cNvPr id="328" name="Google Shape;328;p37"/>
          <p:cNvSpPr txBox="1"/>
          <p:nvPr/>
        </p:nvSpPr>
        <p:spPr>
          <a:xfrm rot="5400000">
            <a:off x="7579450" y="3339250"/>
            <a:ext cx="537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arr[2]</a:t>
            </a:r>
            <a:endParaRPr sz="800"/>
          </a:p>
        </p:txBody>
      </p:sp>
      <p:sp>
        <p:nvSpPr>
          <p:cNvPr id="329" name="Google Shape;329;p37"/>
          <p:cNvSpPr txBox="1"/>
          <p:nvPr/>
        </p:nvSpPr>
        <p:spPr>
          <a:xfrm rot="5400000">
            <a:off x="4330150" y="45557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0x400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330" name="Google Shape;330;p37"/>
          <p:cNvSpPr txBox="1"/>
          <p:nvPr/>
        </p:nvSpPr>
        <p:spPr>
          <a:xfrm rot="5400000">
            <a:off x="5267650" y="45557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0x403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4022800" y="2947350"/>
            <a:ext cx="414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 </a:t>
            </a:r>
            <a:endParaRPr/>
          </a:p>
        </p:txBody>
      </p:sp>
      <p:sp>
        <p:nvSpPr>
          <p:cNvPr id="332" name="Google Shape;332;p37"/>
          <p:cNvSpPr txBox="1"/>
          <p:nvPr/>
        </p:nvSpPr>
        <p:spPr>
          <a:xfrm>
            <a:off x="7840525" y="2488725"/>
            <a:ext cx="13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v (other stack variables)</a:t>
            </a:r>
            <a:endParaRPr sz="800"/>
          </a:p>
        </p:txBody>
      </p:sp>
      <p:sp>
        <p:nvSpPr>
          <p:cNvPr id="333" name="Google Shape;333;p37"/>
          <p:cNvSpPr txBox="1"/>
          <p:nvPr/>
        </p:nvSpPr>
        <p:spPr>
          <a:xfrm>
            <a:off x="8700925" y="2690675"/>
            <a:ext cx="465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 </a:t>
            </a:r>
            <a:endParaRPr/>
          </a:p>
        </p:txBody>
      </p:sp>
      <p:sp>
        <p:nvSpPr>
          <p:cNvPr id="334" name="Google Shape;334;p37"/>
          <p:cNvSpPr txBox="1"/>
          <p:nvPr/>
        </p:nvSpPr>
        <p:spPr>
          <a:xfrm rot="5400000">
            <a:off x="4001800" y="2356675"/>
            <a:ext cx="527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arr[3] &gt;</a:t>
            </a:r>
            <a:endParaRPr sz="800"/>
          </a:p>
        </p:txBody>
      </p:sp>
      <p:sp>
        <p:nvSpPr>
          <p:cNvPr id="335" name="Google Shape;335;p37"/>
          <p:cNvSpPr txBox="1"/>
          <p:nvPr/>
        </p:nvSpPr>
        <p:spPr>
          <a:xfrm rot="5400000">
            <a:off x="5089250" y="2407375"/>
            <a:ext cx="628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arr[4] &gt;</a:t>
            </a:r>
            <a:endParaRPr sz="800"/>
          </a:p>
        </p:txBody>
      </p:sp>
      <p:sp>
        <p:nvSpPr>
          <p:cNvPr id="336" name="Google Shape;336;p37"/>
          <p:cNvSpPr txBox="1"/>
          <p:nvPr/>
        </p:nvSpPr>
        <p:spPr>
          <a:xfrm rot="5400000">
            <a:off x="6070250" y="2372650"/>
            <a:ext cx="550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0x419</a:t>
            </a:r>
            <a:endParaRPr sz="800">
              <a:solidFill>
                <a:srgbClr val="0B5394"/>
              </a:solidFill>
            </a:endParaRPr>
          </a:p>
        </p:txBody>
      </p:sp>
      <p:cxnSp>
        <p:nvCxnSpPr>
          <p:cNvPr id="337" name="Google Shape;337;p37"/>
          <p:cNvCxnSpPr/>
          <p:nvPr/>
        </p:nvCxnSpPr>
        <p:spPr>
          <a:xfrm flipH="1" rot="10800000">
            <a:off x="5172550" y="3436175"/>
            <a:ext cx="208200" cy="377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7"/>
          <p:cNvSpPr txBox="1"/>
          <p:nvPr/>
        </p:nvSpPr>
        <p:spPr>
          <a:xfrm>
            <a:off x="4862600" y="3742525"/>
            <a:ext cx="5019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*arr</a:t>
            </a:r>
            <a:endParaRPr sz="1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idx="1" type="body"/>
          </p:nvPr>
        </p:nvSpPr>
        <p:spPr>
          <a:xfrm>
            <a:off x="311700" y="1152475"/>
            <a:ext cx="5193900" cy="3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(int *) malloc(5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[0x400 / stack]  arr    = 0x100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 ?? ...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[0x100 / heap ]  arr[0]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arr[1]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arr[2]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arr[3]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arr[4] = uninit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 ?? ...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*malloc(size_t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8"/>
          <p:cNvSpPr/>
          <p:nvPr/>
        </p:nvSpPr>
        <p:spPr>
          <a:xfrm>
            <a:off x="53644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8"/>
          <p:cNvSpPr/>
          <p:nvPr/>
        </p:nvSpPr>
        <p:spPr>
          <a:xfrm>
            <a:off x="56566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8"/>
          <p:cNvSpPr/>
          <p:nvPr/>
        </p:nvSpPr>
        <p:spPr>
          <a:xfrm>
            <a:off x="59488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8"/>
          <p:cNvSpPr/>
          <p:nvPr/>
        </p:nvSpPr>
        <p:spPr>
          <a:xfrm>
            <a:off x="62410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"/>
          <p:cNvSpPr/>
          <p:nvPr/>
        </p:nvSpPr>
        <p:spPr>
          <a:xfrm>
            <a:off x="65332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8"/>
          <p:cNvSpPr/>
          <p:nvPr/>
        </p:nvSpPr>
        <p:spPr>
          <a:xfrm>
            <a:off x="68254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8"/>
          <p:cNvSpPr/>
          <p:nvPr/>
        </p:nvSpPr>
        <p:spPr>
          <a:xfrm>
            <a:off x="71176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8"/>
          <p:cNvSpPr/>
          <p:nvPr/>
        </p:nvSpPr>
        <p:spPr>
          <a:xfrm>
            <a:off x="7409800" y="19560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8"/>
          <p:cNvSpPr txBox="1"/>
          <p:nvPr/>
        </p:nvSpPr>
        <p:spPr>
          <a:xfrm>
            <a:off x="5493700" y="1895175"/>
            <a:ext cx="683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0x100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6" name="Google Shape;356;p38"/>
          <p:cNvSpPr txBox="1"/>
          <p:nvPr/>
        </p:nvSpPr>
        <p:spPr>
          <a:xfrm rot="5400000">
            <a:off x="4330150" y="242567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0x400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6971550" y="1219475"/>
            <a:ext cx="292200" cy="292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8"/>
          <p:cNvSpPr/>
          <p:nvPr/>
        </p:nvSpPr>
        <p:spPr>
          <a:xfrm>
            <a:off x="8069050" y="1219475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8"/>
          <p:cNvSpPr txBox="1"/>
          <p:nvPr/>
        </p:nvSpPr>
        <p:spPr>
          <a:xfrm>
            <a:off x="7290600" y="1158575"/>
            <a:ext cx="683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Stack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360" name="Google Shape;360;p38"/>
          <p:cNvSpPr txBox="1"/>
          <p:nvPr/>
        </p:nvSpPr>
        <p:spPr>
          <a:xfrm rot="5400000">
            <a:off x="6375550" y="242567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0x407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361" name="Google Shape;361;p38"/>
          <p:cNvSpPr/>
          <p:nvPr/>
        </p:nvSpPr>
        <p:spPr>
          <a:xfrm>
            <a:off x="7702000" y="1956075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7994200" y="1956075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8"/>
          <p:cNvSpPr txBox="1"/>
          <p:nvPr/>
        </p:nvSpPr>
        <p:spPr>
          <a:xfrm rot="5400000">
            <a:off x="4330150" y="31301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</a:t>
            </a:r>
            <a:endParaRPr sz="800"/>
          </a:p>
        </p:txBody>
      </p:sp>
      <p:cxnSp>
        <p:nvCxnSpPr>
          <p:cNvPr id="364" name="Google Shape;364;p38"/>
          <p:cNvCxnSpPr/>
          <p:nvPr/>
        </p:nvCxnSpPr>
        <p:spPr>
          <a:xfrm>
            <a:off x="5364400" y="2281800"/>
            <a:ext cx="2352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8"/>
          <p:cNvSpPr/>
          <p:nvPr/>
        </p:nvSpPr>
        <p:spPr>
          <a:xfrm>
            <a:off x="5072200" y="1956075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8"/>
          <p:cNvSpPr/>
          <p:nvPr/>
        </p:nvSpPr>
        <p:spPr>
          <a:xfrm>
            <a:off x="4780000" y="1956075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8"/>
          <p:cNvSpPr txBox="1"/>
          <p:nvPr/>
        </p:nvSpPr>
        <p:spPr>
          <a:xfrm>
            <a:off x="7764975" y="2228525"/>
            <a:ext cx="13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^ (other stack variables)</a:t>
            </a:r>
            <a:endParaRPr sz="800"/>
          </a:p>
        </p:txBody>
      </p:sp>
      <p:sp>
        <p:nvSpPr>
          <p:cNvPr id="368" name="Google Shape;368;p38"/>
          <p:cNvSpPr/>
          <p:nvPr/>
        </p:nvSpPr>
        <p:spPr>
          <a:xfrm>
            <a:off x="8286400" y="1956075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8"/>
          <p:cNvSpPr/>
          <p:nvPr/>
        </p:nvSpPr>
        <p:spPr>
          <a:xfrm>
            <a:off x="8578600" y="1956075"/>
            <a:ext cx="292200" cy="292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8"/>
          <p:cNvSpPr/>
          <p:nvPr/>
        </p:nvSpPr>
        <p:spPr>
          <a:xfrm>
            <a:off x="4487800" y="1956075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8"/>
          <p:cNvSpPr/>
          <p:nvPr/>
        </p:nvSpPr>
        <p:spPr>
          <a:xfrm>
            <a:off x="4195600" y="1956075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8"/>
          <p:cNvSpPr txBox="1"/>
          <p:nvPr/>
        </p:nvSpPr>
        <p:spPr>
          <a:xfrm>
            <a:off x="4180300" y="2228525"/>
            <a:ext cx="13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^ (unalloc. memory)</a:t>
            </a:r>
            <a:endParaRPr sz="800"/>
          </a:p>
        </p:txBody>
      </p:sp>
      <p:sp>
        <p:nvSpPr>
          <p:cNvPr id="373" name="Google Shape;373;p38"/>
          <p:cNvSpPr/>
          <p:nvPr/>
        </p:nvSpPr>
        <p:spPr>
          <a:xfrm>
            <a:off x="5072200" y="3794550"/>
            <a:ext cx="292200" cy="292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4780000" y="3794550"/>
            <a:ext cx="292200" cy="292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375" name="Google Shape;375;p38"/>
          <p:cNvSpPr/>
          <p:nvPr/>
        </p:nvSpPr>
        <p:spPr>
          <a:xfrm>
            <a:off x="4487800" y="3794550"/>
            <a:ext cx="292200" cy="292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4195600" y="3794550"/>
            <a:ext cx="292200" cy="292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377" name="Google Shape;377;p38"/>
          <p:cNvSpPr/>
          <p:nvPr/>
        </p:nvSpPr>
        <p:spPr>
          <a:xfrm>
            <a:off x="5072200" y="35023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8"/>
          <p:cNvSpPr/>
          <p:nvPr/>
        </p:nvSpPr>
        <p:spPr>
          <a:xfrm>
            <a:off x="4780000" y="35023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8"/>
          <p:cNvSpPr/>
          <p:nvPr/>
        </p:nvSpPr>
        <p:spPr>
          <a:xfrm>
            <a:off x="4487800" y="35023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8"/>
          <p:cNvSpPr/>
          <p:nvPr/>
        </p:nvSpPr>
        <p:spPr>
          <a:xfrm>
            <a:off x="4195600" y="35023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8"/>
          <p:cNvSpPr/>
          <p:nvPr/>
        </p:nvSpPr>
        <p:spPr>
          <a:xfrm>
            <a:off x="6241000" y="35023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"/>
          <p:cNvSpPr/>
          <p:nvPr/>
        </p:nvSpPr>
        <p:spPr>
          <a:xfrm>
            <a:off x="5948800" y="35023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8"/>
          <p:cNvSpPr/>
          <p:nvPr/>
        </p:nvSpPr>
        <p:spPr>
          <a:xfrm>
            <a:off x="5656600" y="35023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8"/>
          <p:cNvSpPr/>
          <p:nvPr/>
        </p:nvSpPr>
        <p:spPr>
          <a:xfrm>
            <a:off x="5364400" y="35023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8"/>
          <p:cNvSpPr/>
          <p:nvPr/>
        </p:nvSpPr>
        <p:spPr>
          <a:xfrm>
            <a:off x="62410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8"/>
          <p:cNvSpPr/>
          <p:nvPr/>
        </p:nvSpPr>
        <p:spPr>
          <a:xfrm>
            <a:off x="59488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56566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53644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8"/>
          <p:cNvSpPr/>
          <p:nvPr/>
        </p:nvSpPr>
        <p:spPr>
          <a:xfrm>
            <a:off x="7409800" y="37945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>
            <a:off x="7117600" y="37945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>
            <a:off x="6825400" y="37945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"/>
          <p:cNvSpPr/>
          <p:nvPr/>
        </p:nvSpPr>
        <p:spPr>
          <a:xfrm>
            <a:off x="6533200" y="3794550"/>
            <a:ext cx="292200" cy="2922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85786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"/>
          <p:cNvSpPr/>
          <p:nvPr/>
        </p:nvSpPr>
        <p:spPr>
          <a:xfrm>
            <a:off x="82864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8"/>
          <p:cNvSpPr/>
          <p:nvPr/>
        </p:nvSpPr>
        <p:spPr>
          <a:xfrm>
            <a:off x="79942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/>
          <p:nvPr/>
        </p:nvSpPr>
        <p:spPr>
          <a:xfrm>
            <a:off x="7702000" y="3794550"/>
            <a:ext cx="292200" cy="2922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8"/>
          <p:cNvSpPr/>
          <p:nvPr/>
        </p:nvSpPr>
        <p:spPr>
          <a:xfrm>
            <a:off x="85786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8"/>
          <p:cNvSpPr/>
          <p:nvPr/>
        </p:nvSpPr>
        <p:spPr>
          <a:xfrm>
            <a:off x="82864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8"/>
          <p:cNvSpPr/>
          <p:nvPr/>
        </p:nvSpPr>
        <p:spPr>
          <a:xfrm>
            <a:off x="79942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77020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74098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"/>
          <p:cNvSpPr/>
          <p:nvPr/>
        </p:nvSpPr>
        <p:spPr>
          <a:xfrm>
            <a:off x="71176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8"/>
          <p:cNvSpPr/>
          <p:nvPr/>
        </p:nvSpPr>
        <p:spPr>
          <a:xfrm>
            <a:off x="68254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6533200" y="3502350"/>
            <a:ext cx="292200" cy="29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"/>
          <p:cNvSpPr txBox="1"/>
          <p:nvPr/>
        </p:nvSpPr>
        <p:spPr>
          <a:xfrm>
            <a:off x="6742500" y="4573300"/>
            <a:ext cx="2547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(graphics budget exhausted)</a:t>
            </a:r>
            <a:endParaRPr/>
          </a:p>
        </p:txBody>
      </p:sp>
      <p:sp>
        <p:nvSpPr>
          <p:cNvPr id="406" name="Google Shape;406;p38"/>
          <p:cNvSpPr txBox="1"/>
          <p:nvPr/>
        </p:nvSpPr>
        <p:spPr>
          <a:xfrm>
            <a:off x="4104100" y="4039600"/>
            <a:ext cx="13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^ (other heap variables)</a:t>
            </a:r>
            <a:endParaRPr sz="800"/>
          </a:p>
        </p:txBody>
      </p:sp>
      <p:sp>
        <p:nvSpPr>
          <p:cNvPr id="407" name="Google Shape;407;p38"/>
          <p:cNvSpPr txBox="1"/>
          <p:nvPr/>
        </p:nvSpPr>
        <p:spPr>
          <a:xfrm>
            <a:off x="5805725" y="1620875"/>
            <a:ext cx="1439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nsolas"/>
                <a:ea typeface="Consolas"/>
                <a:cs typeface="Consolas"/>
                <a:sym typeface="Consolas"/>
              </a:rPr>
              <a:t>sizeof(int*) = 8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38"/>
          <p:cNvSpPr txBox="1"/>
          <p:nvPr/>
        </p:nvSpPr>
        <p:spPr>
          <a:xfrm>
            <a:off x="6475100" y="3176775"/>
            <a:ext cx="1439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nsolas"/>
                <a:ea typeface="Consolas"/>
                <a:cs typeface="Consolas"/>
                <a:sym typeface="Consolas"/>
              </a:rPr>
              <a:t>sizeof(int)*5 = 20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38"/>
          <p:cNvSpPr txBox="1"/>
          <p:nvPr/>
        </p:nvSpPr>
        <p:spPr>
          <a:xfrm rot="5400000">
            <a:off x="4330150" y="4936750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arr[0]</a:t>
            </a:r>
            <a:endParaRPr sz="800"/>
          </a:p>
        </p:txBody>
      </p:sp>
      <p:sp>
        <p:nvSpPr>
          <p:cNvPr id="410" name="Google Shape;410;p38"/>
          <p:cNvSpPr txBox="1"/>
          <p:nvPr/>
        </p:nvSpPr>
        <p:spPr>
          <a:xfrm rot="5400000">
            <a:off x="5498950" y="4936750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arr[1]</a:t>
            </a:r>
            <a:endParaRPr sz="800"/>
          </a:p>
        </p:txBody>
      </p:sp>
      <p:sp>
        <p:nvSpPr>
          <p:cNvPr id="411" name="Google Shape;411;p38"/>
          <p:cNvSpPr txBox="1"/>
          <p:nvPr/>
        </p:nvSpPr>
        <p:spPr>
          <a:xfrm rot="5400000">
            <a:off x="7591600" y="4089100"/>
            <a:ext cx="51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&lt; arr[2]</a:t>
            </a:r>
            <a:endParaRPr sz="800"/>
          </a:p>
        </p:txBody>
      </p:sp>
      <p:sp>
        <p:nvSpPr>
          <p:cNvPr id="412" name="Google Shape;412;p38"/>
          <p:cNvSpPr txBox="1"/>
          <p:nvPr/>
        </p:nvSpPr>
        <p:spPr>
          <a:xfrm rot="5400000">
            <a:off x="4330150" y="53177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0x100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413" name="Google Shape;413;p38"/>
          <p:cNvSpPr txBox="1"/>
          <p:nvPr/>
        </p:nvSpPr>
        <p:spPr>
          <a:xfrm rot="5400000">
            <a:off x="5267650" y="53177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0x103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414" name="Google Shape;414;p38"/>
          <p:cNvSpPr txBox="1"/>
          <p:nvPr/>
        </p:nvSpPr>
        <p:spPr>
          <a:xfrm>
            <a:off x="8721350" y="1879875"/>
            <a:ext cx="465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 </a:t>
            </a:r>
            <a:endParaRPr/>
          </a:p>
        </p:txBody>
      </p:sp>
      <p:sp>
        <p:nvSpPr>
          <p:cNvPr id="415" name="Google Shape;415;p38"/>
          <p:cNvSpPr txBox="1"/>
          <p:nvPr/>
        </p:nvSpPr>
        <p:spPr>
          <a:xfrm>
            <a:off x="4022800" y="1879875"/>
            <a:ext cx="465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 </a:t>
            </a:r>
            <a:endParaRPr/>
          </a:p>
        </p:txBody>
      </p:sp>
      <p:sp>
        <p:nvSpPr>
          <p:cNvPr id="416" name="Google Shape;416;p38"/>
          <p:cNvSpPr txBox="1"/>
          <p:nvPr/>
        </p:nvSpPr>
        <p:spPr>
          <a:xfrm>
            <a:off x="4022800" y="3709350"/>
            <a:ext cx="465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 </a:t>
            </a:r>
            <a:endParaRPr/>
          </a:p>
        </p:txBody>
      </p:sp>
      <p:sp>
        <p:nvSpPr>
          <p:cNvPr id="417" name="Google Shape;417;p38"/>
          <p:cNvSpPr txBox="1"/>
          <p:nvPr/>
        </p:nvSpPr>
        <p:spPr>
          <a:xfrm>
            <a:off x="7840525" y="3250725"/>
            <a:ext cx="132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v (unalloc. memory)</a:t>
            </a:r>
            <a:endParaRPr sz="800"/>
          </a:p>
        </p:txBody>
      </p:sp>
      <p:sp>
        <p:nvSpPr>
          <p:cNvPr id="418" name="Google Shape;418;p38"/>
          <p:cNvSpPr txBox="1"/>
          <p:nvPr/>
        </p:nvSpPr>
        <p:spPr>
          <a:xfrm>
            <a:off x="8700925" y="3452675"/>
            <a:ext cx="4650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 </a:t>
            </a:r>
            <a:endParaRPr/>
          </a:p>
        </p:txBody>
      </p:sp>
      <p:sp>
        <p:nvSpPr>
          <p:cNvPr id="419" name="Google Shape;419;p38"/>
          <p:cNvSpPr txBox="1"/>
          <p:nvPr/>
        </p:nvSpPr>
        <p:spPr>
          <a:xfrm rot="5400000">
            <a:off x="3161350" y="39591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arr[3] &gt;</a:t>
            </a:r>
            <a:endParaRPr sz="800"/>
          </a:p>
        </p:txBody>
      </p:sp>
      <p:sp>
        <p:nvSpPr>
          <p:cNvPr id="420" name="Google Shape;420;p38"/>
          <p:cNvSpPr txBox="1"/>
          <p:nvPr/>
        </p:nvSpPr>
        <p:spPr>
          <a:xfrm rot="5400000">
            <a:off x="4299500" y="3959125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arr[4] &gt;</a:t>
            </a:r>
            <a:endParaRPr sz="800"/>
          </a:p>
        </p:txBody>
      </p:sp>
      <p:sp>
        <p:nvSpPr>
          <p:cNvPr id="421" name="Google Shape;421;p38"/>
          <p:cNvSpPr txBox="1"/>
          <p:nvPr/>
        </p:nvSpPr>
        <p:spPr>
          <a:xfrm rot="5400000">
            <a:off x="5241500" y="3963400"/>
            <a:ext cx="220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B5394"/>
                </a:solidFill>
              </a:rPr>
              <a:t>0x119</a:t>
            </a:r>
            <a:endParaRPr sz="800">
              <a:solidFill>
                <a:srgbClr val="0B5394"/>
              </a:solidFill>
            </a:endParaRPr>
          </a:p>
        </p:txBody>
      </p:sp>
      <p:cxnSp>
        <p:nvCxnSpPr>
          <p:cNvPr id="422" name="Google Shape;422;p38"/>
          <p:cNvCxnSpPr/>
          <p:nvPr/>
        </p:nvCxnSpPr>
        <p:spPr>
          <a:xfrm flipH="1" rot="10800000">
            <a:off x="5172550" y="4198175"/>
            <a:ext cx="208200" cy="377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38"/>
          <p:cNvSpPr txBox="1"/>
          <p:nvPr/>
        </p:nvSpPr>
        <p:spPr>
          <a:xfrm>
            <a:off x="4862600" y="4504525"/>
            <a:ext cx="5019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*arr</a:t>
            </a:r>
            <a:endParaRPr sz="1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8377650" y="1158575"/>
            <a:ext cx="683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Heap</a:t>
            </a:r>
            <a:endParaRPr>
              <a:solidFill>
                <a:srgbClr val="0000FF"/>
              </a:solidFill>
            </a:endParaRPr>
          </a:p>
        </p:txBody>
      </p:sp>
      <p:cxnSp>
        <p:nvCxnSpPr>
          <p:cNvPr id="425" name="Google Shape;425;p38"/>
          <p:cNvCxnSpPr/>
          <p:nvPr/>
        </p:nvCxnSpPr>
        <p:spPr>
          <a:xfrm flipH="1">
            <a:off x="5540500" y="2247250"/>
            <a:ext cx="218100" cy="1714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We wish to create an int array of size 5 on the heap.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Which is the correct malloc call?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(a)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(int *) malloc(5 * sizeof(*arr));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(b)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(int *) malloc(5 * sizeof(arr));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*malloc(size_t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3" name="Google Shape;433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0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*malloc(size_t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Allocates a contiguous block of memory of SIZE bytes, returning a void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Pointer to the first byte.  Elements are left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uninitialised.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void free(void *ptr)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Frees the memory block pointed to by ptr, IF that pointer once returned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by malloc / calloc / realloc.  Pointer address is </a:t>
            </a:r>
            <a:r>
              <a:rPr i="1" lang="en-GB" sz="1600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changed.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*calloc(size_t nmemb, 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Same as malloc, but (1) checks if nmemb * size will integer overflow, and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(2) initialises all elements to 0. (Slow)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*realloc(void *ptr, 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Changes size of memory block pointed to by ptr to one having size SIZE,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returning a pointer to that memory block.  Some caveats.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9" name="Google Shape;439;p4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- &lt;stdlib.h&gt;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4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1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Frees the memory block pointed to by ptr, IF that pointer once returned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by malloc / calloc / realloc.  </a:t>
            </a:r>
            <a:r>
              <a:rPr lang="en-GB" sz="1600" u="sng">
                <a:latin typeface="Consolas"/>
                <a:ea typeface="Consolas"/>
                <a:cs typeface="Consolas"/>
                <a:sym typeface="Consolas"/>
              </a:rPr>
              <a:t>Pointer address is </a:t>
            </a:r>
            <a:r>
              <a:rPr i="1" lang="en-GB" sz="1600" u="sng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GB" sz="1600" u="sng">
                <a:latin typeface="Consolas"/>
                <a:ea typeface="Consolas"/>
                <a:cs typeface="Consolas"/>
                <a:sym typeface="Consolas"/>
              </a:rPr>
              <a:t> changed.</a:t>
            </a:r>
            <a:endParaRPr sz="1600" u="sng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When we call malloc, we </a:t>
            </a:r>
            <a:r>
              <a:rPr b="1" lang="en-GB" sz="16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n-GB" sz="16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free it later.</a:t>
            </a:r>
            <a:endParaRPr sz="16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malloc(n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arr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free(arr);    // arr is free’d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Some things to be careful about ….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4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free(void *ptr)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Same as malloc, but: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(1) checks if nmemb * size will integer overflow, and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(2) initialises all elements to 0.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Because of (2) - this can be slow!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*x = calloc(10000,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Returns a pointer to an allocated block of memory to store 10000 ints.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All ints are set to 0.  =&gt; 10000 operations!  Necessary??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*calloc( size_t nmemb, size_t size) {  // (roughly)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if (nmemb &gt; MAX_INT / size) return; // size will overflow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void *p = malloc(nmemb * size);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return memset(p, 0, nmemb*size);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*calloc(size_t nmemb, 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7" name="Google Shape;457;p4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*memset(void *ptr, int c, size_t n)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Sets the first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bytes of memory at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to value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memset(p, 0, n);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Same as: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arr[] = {0, 0, 0, 0, 0, 0};   // for n = 6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3" name="Google Shape;463;p4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memset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5" name="Google Shape;465;p4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Changes size of memory block pointed to by ptr to one having size SIZE,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returning a pointer to that memory block.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Behaviour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ptr == NULL:  == void *malloc(size_t 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size == 0 &amp;&amp; ptr == NULL:  == void free(void *ptr)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size &gt; original size: the new elements are </a:t>
            </a:r>
            <a:r>
              <a:rPr lang="en-GB" sz="1600" u="sng">
                <a:latin typeface="Consolas"/>
                <a:ea typeface="Consolas"/>
                <a:cs typeface="Consolas"/>
                <a:sym typeface="Consolas"/>
              </a:rPr>
              <a:t>uninitialised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size &lt; original size: some elements are removed / truncated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1" name="Google Shape;471;p4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void *realloc(void *ptr, size_t size)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80" name="Google Shape;4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875" y="1372975"/>
            <a:ext cx="6112250" cy="23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6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6"/>
          <p:cNvSpPr txBox="1"/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Dynamic allocation issues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Gotta watch out when doing dynamic memory allocation.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Issues to consider: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Failed to allocate memory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Double Free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Memory Corruption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Dynamic memory allocation issues.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4" name="Google Shape;494;p4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malloc can fail (rarely) when no memory can be allocated.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System is out of memory   (embedded systems have &lt;100mb ram)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No contiguous free area of requested size can be located in the heap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This happens rarely - but you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should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still take care of it.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When malloc fails, it returns  NULL.    NULL = (void *) 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                                   (void pointer with value 0)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*str = malloc(INIT_SIZE * sizeof(char));  // sizeof(char) ==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(str == NULL) {  // handle memory allocate fail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fprintf(stderr, “Failed to allocate memory for str!”);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exit(EXIT_FAILURE);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… do stuff with str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4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When malloc fails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2" name="Google Shape;502;p4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*str = malloc(INIT_SIZE * sizeof(char));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(str == NULL)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fprintf(stderr, “Failed to allocate memory for str!”);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exit(EXIT_FAILURE);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… do stuff with str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Detect malloc fail - variants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0" name="Google Shape;510;p4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*str = malloc(INIT_SIZE * sizeof(char));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if (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!str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fprintf(stderr, “Failed to allocate memory for str!”);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exit(EXIT_FAILURE);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… do stuff with str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Detect malloc fail - variants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8" name="Google Shape;518;p5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*str = malloc(INIT_SIZE * sizeof(char));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assert(str);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str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4" name="Google Shape;524;p5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Detect malloc fail - variants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6" name="Google Shape;526;p5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2"/>
          <p:cNvSpPr txBox="1"/>
          <p:nvPr>
            <p:ph idx="1" type="body"/>
          </p:nvPr>
        </p:nvSpPr>
        <p:spPr>
          <a:xfrm>
            <a:off x="311700" y="1152475"/>
            <a:ext cx="85854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 useful library function to create: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check_ptr(void *p, char *msg)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if (p == NULL)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		fprintf(stderr, “check_ptr: %s”, msg);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	// .. do other stuff ..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		exit(EXIT_FAILURE);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*str = malloc(INIT_SIZE * sizeof(char));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check_ptr(str, “str alloc failed”);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str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Detect malloc fail - variants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4" name="Google Shape;534;p5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3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malloc(n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arr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we’re done with arr!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free(arr);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some other stuff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// ah, let’s make sure we free’d all our malloc’d variables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free(arr);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// </a:t>
            </a:r>
            <a:r>
              <a:rPr b="1" lang="en-GB" sz="1600">
                <a:latin typeface="Consolas"/>
                <a:ea typeface="Consolas"/>
                <a:cs typeface="Consolas"/>
                <a:sym typeface="Consolas"/>
              </a:rPr>
              <a:t>bad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crash.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*** Error in `./program': double free or corruption (fasttop): 0x085f6008 ***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5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Double Free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2" name="Google Shape;542;p5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4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malloc(n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arr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we’re done with arr!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free(arr);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	arr = NULL;     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some other stuff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// ah, let’s make sure we free’d all our malloc’d variables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free(arr); 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// nothing happens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8" name="Google Shape;548;p5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Double Free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0" name="Google Shape;550;p5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4"/>
          <p:cNvSpPr txBox="1"/>
          <p:nvPr/>
        </p:nvSpPr>
        <p:spPr>
          <a:xfrm>
            <a:off x="5301400" y="2147525"/>
            <a:ext cx="26019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5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malloc(n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arr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we’re done with arr!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free(arr);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arr[4] = 4;   // BAD! that’s not malloc’d anymore.  But no error!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silent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error! Be careful!  Very hard to debug!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 solution?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7" name="Google Shape;557;p5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Memory corruption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9" name="Google Shape;559;p5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6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malloc(n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arr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we’re done with arr!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free(arr);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arr = NULL;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arr[4] = 4;   // NULL[4] &lt;- </a:t>
            </a:r>
            <a:r>
              <a:rPr b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Segmentation fault (core dumped)</a:t>
            </a:r>
            <a:endParaRPr b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segmentation fault is still bad, but at least we can debug it.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program will simply crash on that line.  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5" name="Google Shape;565;p5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Memory corruption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7" name="Google Shape;567;p5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7"/>
          <p:cNvSpPr txBox="1"/>
          <p:nvPr>
            <p:ph idx="1" type="body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void func()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int *arr = malloc(n * sizeof(int));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*p = arr;    // a copy of that array pointer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arr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we’re done with arr! Let’s free 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free(arr);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some other stuff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 stuff with p -&gt; </a:t>
            </a:r>
            <a:r>
              <a:rPr b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memory corruption (silent error)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// done with p! Let’s free 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free(p);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 // </a:t>
            </a:r>
            <a:r>
              <a:rPr b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Double free (hard crash)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Program would crash on free(p), but if we deleted it, we’d still have memory corruption!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*** Error in `./program': double free or corruption (fasttop): 0x085f6008 ***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5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free issues: a more realistic scenario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5" name="Google Shape;575;p5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/>
          <p:nvPr>
            <p:ph idx="1" type="body"/>
          </p:nvPr>
        </p:nvSpPr>
        <p:spPr>
          <a:xfrm>
            <a:off x="311700" y="85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// Q2   :: do this one last!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Now: this is an </a:t>
            </a:r>
            <a:r>
              <a:rPr i="1"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i="1" lang="en-GB" sz="105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efficient</a:t>
            </a:r>
            <a:r>
              <a:rPr i="1"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solution.  DON'T do an efficent solution!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GB" sz="105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0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stdlib.h</a:t>
            </a:r>
            <a:r>
              <a:rPr lang="en-GB" sz="1050">
                <a:solidFill>
                  <a:srgbClr val="91B3E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// malloc, realloc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char *compute_interleave(char *strs[], int k) {   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endstr</a:t>
            </a: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05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tells us if we've reached the end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of string strs</a:t>
            </a: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05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 so shouldn't add \0 or garbage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The end of strs</a:t>
            </a: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050">
                <a:solidFill>
                  <a:srgbClr val="448C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is not necessarily \0s!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can buffer overflow!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char *endstr = malloc(k);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memset(endstr, 1, k);  // or use a for loop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int strsleft = k;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need to allocate memory properly!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int len = 0, size = 2*k;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char *retstr = malloc(size); // don't need sizeof -- char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strs[i][j].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strs is an array of strings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strs[0] is the first string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strs[0][0] is the first char of the first string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for (int j = 0; strsleft; j++) {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(int i = 0; i &lt; k; i++) {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if (endstr[i]) continue;  // skip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if (strs[i][j] == '\0') { // now end str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strsleft--;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endstr[i] = 0;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continue;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}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if (len == size) { // need to increase malloc'd len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size *= 2;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retstr = realloc(retstr, size);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}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// finally...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retstr[len++] = strs[i][j];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done with flag array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free(endstr);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make sure retstr is null terminated!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retstr[len] = '\0';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at the end, let's make sure retstr is only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// as large as it needs to be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retstr = realloc(retstr, len + 1);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return retstr;</a:t>
            </a:r>
            <a:endParaRPr sz="1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