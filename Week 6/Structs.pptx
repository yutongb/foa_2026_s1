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Fira Code" panose="020B0809050000020004" pitchFamily="49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591"/>
  </p:normalViewPr>
  <p:slideViewPr>
    <p:cSldViewPr snapToGrid="0">
      <p:cViewPr varScale="1">
        <p:scale>
          <a:sx n="158" d="100"/>
          <a:sy n="158" d="100"/>
        </p:scale>
        <p:origin x="51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85333042b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85333042b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85333042b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985333042b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985333042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985333042b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985333042b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985333042b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85333042b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85333042b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85333042b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85333042b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85333042b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85333042b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85333042b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85333042b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985333042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985333042b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85333042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85333042b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85333042b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85333042b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85333042b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85333042b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85333042b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85333042b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85333042b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85333042b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985333042b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985333042b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85333042b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85333042b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85333042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985333042b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985333042b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985333042b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985333042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985333042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85333042b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985333042b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985333042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985333042b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985333042b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985333042b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85333042b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985333042b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985333042b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985333042b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985333042b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985333042b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985333042b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985333042b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985333042b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985333042b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985333042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985333042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85333042b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85333042b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96ec3a6f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96ec3a6f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996ec3a6fe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996ec3a6fe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996ec3a6fe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996ec3a6fe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996ec3a6fe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996ec3a6fe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996ec3a6fe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996ec3a6fe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996ec3a6fe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996ec3a6fe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996ec3a6fe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996ec3a6fe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96ec3a6fe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996ec3a6fe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996ec3a6fe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996ec3a6fe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Structs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7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represent some real world structure.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store possibly </a:t>
            </a:r>
            <a:r>
              <a:rPr lang="en-GB" b="1">
                <a:latin typeface="Consolas"/>
                <a:ea typeface="Consolas"/>
                <a:cs typeface="Consolas"/>
                <a:sym typeface="Consolas"/>
              </a:rPr>
              <a:t>different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data types in a contiguous block of memory.  Each field is a fixed offset from the start.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represent some real world structure.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store possibly </a:t>
            </a:r>
            <a:r>
              <a:rPr lang="en-GB" b="1">
                <a:latin typeface="Consolas"/>
                <a:ea typeface="Consolas"/>
                <a:cs typeface="Consolas"/>
                <a:sym typeface="Consolas"/>
              </a:rPr>
              <a:t>different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data types in a contiguous block of memory.  Each field is a fixed offset from the start.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839875" y="5637550"/>
            <a:ext cx="4927200" cy="26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struct account accounts[10];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int n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struct account acc =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.id=12,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.name = "Liam",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.balance = 10.04,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.year_opened = 2023,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accounts[0] = acc;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accounts[0].name[0];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account.id = 12;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strcpy(“Liam”, account.name);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account.year_opened = 2023;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account.balance = 0.01;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// want to make another account...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account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533725" y="1151200"/>
            <a:ext cx="4927200" cy="21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// create account 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struct account account1;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account1.id = 12;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strcpy(“Liam”, account1.name);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account1.year_opened = 2023;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account1.balance = 0.01;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struct account account2;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account2.id = 13;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strcpy(“Anon”, account2.name);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account2.year_opened = 2020;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account2.balance = 42069.42;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verbose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“anonymous struct”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3533725" y="1151200"/>
            <a:ext cx="4927200" cy="21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// create account 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account_t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account1;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account1.id = 12;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strcpy(“Liam”, account1.name);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account1.year_opened = 2023;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account1.balance = 0.01;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account_t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account2;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account2.id = 13;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strcpy(“Anon”, account2.name);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account2.year_opened = 2020;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account2.balance = 42069.42;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verbose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account_t a1 = new_account(12, “Liam”, 2023, 0.01);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349225" y="998800"/>
            <a:ext cx="5807100" cy="21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account_t new_account(int id, char name[21],   int year_opened, double balance)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account_t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account1;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account1.id = id;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strcpy(name, account1.name);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account1.year_opened = year_opened;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account1.balance = balance;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account1;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774150" y="4374975"/>
            <a:ext cx="81513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Caution: this creates a struct within scope of new_account, and (shallow) copies the whole memory block to the returned scope.   Not a good idea if this is a large struct.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nsolas"/>
                <a:ea typeface="Consolas"/>
                <a:cs typeface="Consolas"/>
                <a:sym typeface="Consolas"/>
              </a:rPr>
              <a:t>account_t a1 = {.id=12, .name=“Liam”, 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18288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nsolas"/>
                <a:ea typeface="Consolas"/>
                <a:cs typeface="Consolas"/>
                <a:sym typeface="Consolas"/>
              </a:rPr>
              <a:t>.year_opened=2023, .balance=0.01};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a2 = a1;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a2.balance += 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printf(“%.2lf %.2lf”, a1.balance, a2.balance);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4355250" y="1511850"/>
            <a:ext cx="36429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all you need!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a1 = {12, “Liam”, 2023, 0.01};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a2 = a1;  // (shallow) copies!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a2.balance += 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printf(“%.2lf %.2lf”, a1.balance, a2.balance);  // 0.01 2.01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val;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char name[] = “Test”;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s1 = {12, name};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s2 = s1;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s1.name[0] = ‘t’;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S2.val = 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printf(“%d %d”, s1.val, s2.val};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printf(“%s %s”, s1.name, s2.name);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Shallow copy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7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val;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char name[] = “Test”;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s1 = {12, name};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s2 = s1;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s1.name[0] = ‘t’;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S2.val = 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printf(“%d %d”, s1.val, s2.val};   // 12 test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printf(“%s %s”, s1.name, s2.name); // 2 </a:t>
            </a:r>
            <a:r>
              <a:rPr lang="en-GB" sz="1400" b="1">
                <a:latin typeface="Consolas"/>
                <a:ea typeface="Consolas"/>
                <a:cs typeface="Consolas"/>
                <a:sym typeface="Consolas"/>
              </a:rPr>
              <a:t>test</a:t>
            </a:r>
            <a:endParaRPr sz="14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Shallow copy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3"/>
          <p:cNvSpPr txBox="1"/>
          <p:nvPr/>
        </p:nvSpPr>
        <p:spPr>
          <a:xfrm>
            <a:off x="5584750" y="4422325"/>
            <a:ext cx="3391500" cy="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Need to copy whatever is being stored as a pointer -- deep copy.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int cmp_account_id(void * a1, void *a2)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account_t *p1 = a1, *p2 = a2;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return p1-&gt;id - p2-&gt;id;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accounts[NUM_ACCTS] = …;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qsort(accounts, NUM_ACCTS, sizeof(account_t), cmp_account_id);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now accounts are sorted by id!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Motivation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5041050" y="1359450"/>
            <a:ext cx="36429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now sort by any of these fields.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int cmp_account_balance(void* a1, void* a2)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account_t *p1, *p2;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return p1-&gt;balance - p2-&gt;balance;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accounts[NUM_ACCTS] = …;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qsort(accounts, NUM_ACCTS, sizeof(account_t), cmp_account_balance);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now accounts are sorted by balance!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Motivation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5"/>
          <p:cNvSpPr txBox="1"/>
          <p:nvPr/>
        </p:nvSpPr>
        <p:spPr>
          <a:xfrm>
            <a:off x="5041050" y="1359450"/>
            <a:ext cx="36429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now sort by any of these fields.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opened_year, opened_month, opened_date;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closed_year, closed_month, closed_date;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… more repetition.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Solution?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Hierarchical struct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dd, mm, yyyy;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date_t;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date_t opened, closed;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liam = {42, "Liam Saliba", {20,9,2022}, {-1,-1,-1}, 0};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liam.opened.yyyy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Hierarchical struct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dd, mm, yyyy;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date_t;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date_t opened, closed;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Hierarchical struct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3533725" y="1320600"/>
            <a:ext cx="5455500" cy="3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void print_date(date_t date)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printf(“%d/%d/%d”, date.dd, date.mm, date.yyyy);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then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account_t account = {12, “Liam”, {11,12,2020}, {12,12,2020}, 0.01};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print_date(account.opened);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print_date(account.closed);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42603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are not arrays.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int x, y;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point_t;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!=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int point_t[2];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body" idx="1"/>
          </p:nvPr>
        </p:nvSpPr>
        <p:spPr>
          <a:xfrm>
            <a:off x="4343400" y="1381075"/>
            <a:ext cx="44628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both can be declared like this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 p = {1, 2};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struct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printf(“(%d, %d)”, p.x, p.y);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printf(“(%d, %d)”, p[0], p[1]);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(extension:)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point_t p = {.y = 2, .x = 1};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Calculate the Euclidean distance                between two</a:t>
            </a:r>
            <a:br>
              <a:rPr lang="en-GB"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points p1=(x1, y1) and p2=(x2, y2).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#include &lt;math.h&gt;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double distance(int x1, int y1, int x2, int y2)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sqrt( (x1-x2) * (x1-x2) + (y1-y2) * (y1-y2) 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3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Arrays...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775" y="1448175"/>
            <a:ext cx="1709224" cy="3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Calculate the Euclidean distance                between two</a:t>
            </a:r>
            <a:br>
              <a:rPr lang="en-GB"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points p1=(x1, y1) and p2=(x2, y2).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#include &lt;math.h&gt;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{int x, y;} point_t;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double distance(point_t p1, point_t p2)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xs = p1.x - p2.x, ys = p1.y - p2.y;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sqrt( xs*xs + ys*ys 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Structs...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775" y="1448175"/>
            <a:ext cx="1709224" cy="3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{int x, y;} point_t;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“highest” -- maximum y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 highest_point(point_t points[], int 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assert(n &gt;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point_t highest = points[0];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for (int i = 1; i &lt; 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if (points[i].y &gt; highest.y)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   highest = points[i];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highest;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“highest” -- maximum y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arguably less readable, and we can’t return the entire point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int highest_point(int points[][2], int 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assert(n &gt;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highest = points[0][1];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for (int i = 1; i &lt; 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if (points[i][1] &gt; highest)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   highest = points[i][1];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highest;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“highest” -- maximum y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arguably less readable now returning index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int highest_point(int points[][2], int 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assert(n &gt;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highest_i =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for (int i = 1; i &lt; 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if (points[i][1] &gt; points[highest_i][1])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   highest_i = 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highest_i;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body" idx="1"/>
          </p:nvPr>
        </p:nvSpPr>
        <p:spPr>
          <a:xfrm>
            <a:off x="100175" y="1228675"/>
            <a:ext cx="8779800" cy="37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struct pair_pt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point_t p1, p2;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double dist;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}; // not typedef’d as to not pollute types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// Find the closest pair of points, and their distance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struct pair_pt closestpair(point_t points[], int n)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assert( n &gt;= 2);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struct pair_pt closest_pair = {0, 1, distance(points[0], points[1])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for (int i = 0; i &lt; n - 1; i++)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for (int j = 1; j &lt; n; j++)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double dist = distance(points[i], points[j]);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if (dist &lt; closest_pair.dist) { // why can’t we do = {points[i], points[j], dist} ?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    closest_pair.p1 = points[i];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    closest_pair.p2 = points[j];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    closest_pair.dist = dist;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return closest_pair;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3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2074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sets a point p to (x,y)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point_t* set_point(point_t *p, int x, int y)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(*p).x = x;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(*p).y = y;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3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pointers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9" name="Google Shape;249;p3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613600" cy="3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sets a point p to (x,y)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point_t* set_point(point_t *p, int x, int y)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p-&gt;x = x;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p-&gt;y = y;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3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pointers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{int x, y;} point_t;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“highest” -- maximum y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 highest_point(point_t points[], int 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assert(n &gt;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point_t highest = points[0];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for (int i = 1; i &lt; 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if (</a:t>
            </a:r>
            <a:r>
              <a:rPr lang="en-GB" b="1">
                <a:latin typeface="Consolas"/>
                <a:ea typeface="Consolas"/>
                <a:cs typeface="Consolas"/>
                <a:sym typeface="Consolas"/>
              </a:rPr>
              <a:t>(points+i)-&gt;y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&gt; highest.y)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   highest = points[i];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highest;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3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char name_t[NAME_LEN + 1];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family tree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name_t name;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*mother;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*father;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*spouse;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person_t;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this won’t work.  Can’t use person_t when not yet defined.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3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Recursive struct definition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3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char name_t[NAME_LEN + 1];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family tree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person person_t;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person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name_t name;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*mother;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*father;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*spouse;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4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Recursive struct definition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1" name="Google Shape;281;p4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This definition is very powerful.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Used for: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Graphs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Linked lists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Trees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… among others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4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Coming up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9" name="Google Shape;289;p4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Use structs for…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Store hierarchically arranged data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Minimise repeated variable declarations (int year1, year2, year3 …)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Simplifying function calls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Multiple return values from functions (less messy than pointers)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Be careful...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are copied in their entirety when passed to a function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For large structs, this is an expensive operation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We may instead copy a pointer to the structure instead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Every struct.parameter becomes a struct-&gt;parameter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Final notes on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7" name="Google Shape;297;p4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err="1">
                <a:solidFill>
                  <a:srgbClr val="FFFFFF"/>
                </a:solidFill>
              </a:rPr>
              <a:t>sizeof</a:t>
            </a:r>
            <a:r>
              <a:rPr lang="en-GB" sz="4800" dirty="0">
                <a:solidFill>
                  <a:srgbClr val="FFFFFF"/>
                </a:solidFill>
              </a:rPr>
              <a:t> structs</a:t>
            </a:r>
            <a:endParaRPr sz="4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3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6" name="Google Shape;196;p3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sizeof(char) * 21 = 1 * 21 = 21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p3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3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sizeof(char) * 21 = 1 * 21 = 21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sizeof(account.id) + sizeof(account.name)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+ sizeof(account.year_opened) + sizeof(account.balance)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= sizeof(int) + 21 + sizeof(int) + sizeof(double)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= 4 + 21 + 4 + 8 = 37  (bytes)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3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2" name="Google Shape;212;p3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account.name = “Hello”;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=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=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3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3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account.name = “Hello”;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sizeof(char *) = 8 (64-bit), 4 (32-bit)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=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3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3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   int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year_opened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account.name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= “Hello”;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account.name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GB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-GB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-GB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(char *) = 8 (64-bit), 4 (32-bit)</a:t>
            </a:r>
            <a:endParaRPr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(account) </a:t>
            </a:r>
            <a:r>
              <a:rPr lang="en-GB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4 + 8 + 4 + 8 = 24</a:t>
            </a:r>
            <a:endParaRPr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4" name="Google Shape;234;p4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4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 sz="16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    int </a:t>
            </a:r>
            <a:r>
              <a:rPr lang="en-GB" sz="1600" dirty="0" err="1">
                <a:latin typeface="Consolas"/>
                <a:ea typeface="Consolas"/>
                <a:cs typeface="Consolas"/>
                <a:sym typeface="Consolas"/>
              </a:rPr>
              <a:t>year_opened</a:t>
            </a: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char name[] = “Namey name”; // assume from input.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account.name</a:t>
            </a:r>
            <a:r>
              <a:rPr lang="en-GB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= malloc(</a:t>
            </a:r>
            <a:r>
              <a:rPr lang="en-GB" sz="16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strlen</a:t>
            </a:r>
            <a:r>
              <a:rPr lang="en-GB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(name) + 1); assert(</a:t>
            </a:r>
            <a:r>
              <a:rPr lang="en-GB" sz="16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account.name</a:t>
            </a:r>
            <a:r>
              <a:rPr lang="en-GB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strcpy</a:t>
            </a:r>
            <a:r>
              <a:rPr lang="en-GB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6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account.name</a:t>
            </a:r>
            <a:r>
              <a:rPr lang="en-GB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name);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err="1"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(account) = 4 + 8 + 4 + 8 = 24   </a:t>
            </a:r>
            <a:r>
              <a:rPr lang="en-GB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GB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unchanged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Now there’s 11 bytes (</a:t>
            </a:r>
            <a:r>
              <a:rPr lang="en-GB" sz="16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-GB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(name)) unaccounted for! Careful!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4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size_t name_size;  // if we </a:t>
            </a:r>
            <a:r>
              <a:rPr lang="en-GB" sz="1600" i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need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the size.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char name[] = “Namey name”; // assume from input.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account.name_size = strlen(name) + 1;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account.name = malloc(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account.name_size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);  assert(account.name);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strcpy(account.name, name);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sizeof(account) = 4 + 8 + 4 +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+ 8 =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28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(4B to store name_size)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name_size + sizeof(account) = 28 + 11 = 41  &lt;- actual size of struct.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2" name="Google Shape;252;p4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</TotalTime>
  <Words>3218</Words>
  <Application>Microsoft Macintosh PowerPoint</Application>
  <PresentationFormat>On-screen Show (16:9)</PresentationFormat>
  <Paragraphs>524</Paragraphs>
  <Slides>38</Slides>
  <Notes>38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Consolas</vt:lpstr>
      <vt:lpstr>Arial</vt:lpstr>
      <vt:lpstr>Fira Code</vt:lpstr>
      <vt:lpstr>Simple Light</vt:lpstr>
      <vt:lpstr>Structs</vt:lpstr>
      <vt:lpstr>Structs</vt:lpstr>
      <vt:lpstr>Structs</vt:lpstr>
      <vt:lpstr>Structs</vt:lpstr>
      <vt:lpstr>Structs</vt:lpstr>
      <vt:lpstr>Structs</vt:lpstr>
      <vt:lpstr>Structs</vt:lpstr>
      <vt:lpstr>Structs</vt:lpstr>
      <vt:lpstr>Structs - Shallow copy</vt:lpstr>
      <vt:lpstr>Structs - Shallow copy</vt:lpstr>
      <vt:lpstr>Structs - Motivation</vt:lpstr>
      <vt:lpstr>Structs - Motivation</vt:lpstr>
      <vt:lpstr>Hierarchical struct</vt:lpstr>
      <vt:lpstr>Hierarchical struct</vt:lpstr>
      <vt:lpstr>Hierarchical struct</vt:lpstr>
      <vt:lpstr>Structs</vt:lpstr>
      <vt:lpstr>Arrays...</vt:lpstr>
      <vt:lpstr>Structs...</vt:lpstr>
      <vt:lpstr>Arrays of structs</vt:lpstr>
      <vt:lpstr>Arrays of structs</vt:lpstr>
      <vt:lpstr>Arrays of structs</vt:lpstr>
      <vt:lpstr>Arrays of structs</vt:lpstr>
      <vt:lpstr>Structs - pointers</vt:lpstr>
      <vt:lpstr>Structs - pointers</vt:lpstr>
      <vt:lpstr>Arrays of structs</vt:lpstr>
      <vt:lpstr>Recursive struct definition</vt:lpstr>
      <vt:lpstr>Recursive struct definition</vt:lpstr>
      <vt:lpstr>Coming up</vt:lpstr>
      <vt:lpstr>Final notes on structs</vt:lpstr>
      <vt:lpstr>sizeof structs</vt:lpstr>
      <vt:lpstr>sizeof structs</vt:lpstr>
      <vt:lpstr>sizeof structs</vt:lpstr>
      <vt:lpstr>sizeof structs</vt:lpstr>
      <vt:lpstr>sizeof structs</vt:lpstr>
      <vt:lpstr>sizeof structs</vt:lpstr>
      <vt:lpstr>sizeof structs</vt:lpstr>
      <vt:lpstr>sizeof structs</vt:lpstr>
      <vt:lpstr>sizeof structs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Tracy Bu</cp:lastModifiedBy>
  <cp:revision>4</cp:revision>
  <dcterms:modified xsi:type="dcterms:W3CDTF">2026-04-13T01:01:04Z</dcterms:modified>
</cp:coreProperties>
</file>