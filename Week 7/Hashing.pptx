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Fira Code" panose="020B0809050000020004" pitchFamily="49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3C91B2-0100-4C71-90EB-CDC0535ABD91}">
  <a:tblStyle styleId="{B33C91B2-0100-4C71-90EB-CDC0535ABD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13"/>
  </p:normalViewPr>
  <p:slideViewPr>
    <p:cSldViewPr snapToGrid="0">
      <p:cViewPr varScale="1">
        <p:scale>
          <a:sx n="127" d="100"/>
          <a:sy n="127" d="100"/>
        </p:scale>
        <p:origin x="184" y="6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8461d5072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8461d5072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c6a2fc314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c6a2fc314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dc6a2fc314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dc6a2fc314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dc6a2fc314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dc6a2fc314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8461d5072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8461d5072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dc6a2fc314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dc6a2fc314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98461d507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98461d507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8461d5072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8461d5072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dc6a2fc314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dc6a2fc314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dc6a2fc314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dc6a2fc314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98461d5072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98461d5072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dc6a2fc314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dc6a2fc314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98461d5072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98461d5072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c6a2fc314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c6a2fc314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dc6a2fc31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dc6a2fc31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  <a:defRPr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Hashing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311700" y="224375"/>
            <a:ext cx="8520600" cy="44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Try to implement the following </a:t>
            </a:r>
            <a:r>
              <a:rPr lang="en-GB" b="1" dirty="0">
                <a:solidFill>
                  <a:schemeClr val="dk1"/>
                </a:solidFill>
              </a:rPr>
              <a:t>Abstract Data Type </a:t>
            </a:r>
            <a:r>
              <a:rPr lang="en-GB" dirty="0">
                <a:solidFill>
                  <a:schemeClr val="dk1"/>
                </a:solidFill>
              </a:rPr>
              <a:t>using a Data Structure which makes each operation cost O(log n) in the average case.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Challenge: O(1) in the average case.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GB" b="1" u="sng" dirty="0">
                <a:solidFill>
                  <a:schemeClr val="dk1"/>
                </a:solidFill>
              </a:rPr>
              <a:t>Dictionary</a:t>
            </a:r>
            <a:r>
              <a:rPr lang="en-GB" dirty="0">
                <a:solidFill>
                  <a:schemeClr val="dk1"/>
                </a:solidFill>
              </a:rPr>
              <a:t>    {”</a:t>
            </a:r>
            <a:r>
              <a:rPr lang="en-GB" dirty="0" err="1">
                <a:solidFill>
                  <a:schemeClr val="dk1"/>
                </a:solidFill>
              </a:rPr>
              <a:t>Hanzhi</a:t>
            </a:r>
            <a:r>
              <a:rPr lang="en-GB" dirty="0">
                <a:solidFill>
                  <a:schemeClr val="dk1"/>
                </a:solidFill>
              </a:rPr>
              <a:t>": "lecturer", ”Tracy": "tutor", ”</a:t>
            </a:r>
            <a:r>
              <a:rPr lang="en-GB" dirty="0" err="1">
                <a:solidFill>
                  <a:schemeClr val="dk1"/>
                </a:solidFill>
              </a:rPr>
              <a:t>Shaanan</a:t>
            </a:r>
            <a:r>
              <a:rPr lang="en-GB" dirty="0">
                <a:solidFill>
                  <a:schemeClr val="dk1"/>
                </a:solidFill>
              </a:rPr>
              <a:t>": "coordinator"}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(key, value)</a:t>
            </a:r>
            <a:endParaRPr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dirty="0">
                <a:solidFill>
                  <a:schemeClr val="dk1"/>
                </a:solidFill>
              </a:rPr>
              <a:t>add(key, value) - add a value with key to the dictionary    (d[key] = value)</a:t>
            </a:r>
            <a:endParaRPr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dirty="0">
                <a:solidFill>
                  <a:schemeClr val="dk1"/>
                </a:solidFill>
              </a:rPr>
              <a:t>get(key) - get the value stored with key                             (d[key])</a:t>
            </a:r>
            <a:endParaRPr dirty="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dirty="0">
                <a:solidFill>
                  <a:schemeClr val="dk1"/>
                </a:solidFill>
              </a:rPr>
              <a:t>remove(key) - delete a key value pair                               (del d[key])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400" dirty="0"/>
          </a:p>
        </p:txBody>
      </p:sp>
      <p:sp>
        <p:nvSpPr>
          <p:cNvPr id="106" name="Google Shape;106;p26"/>
          <p:cNvSpPr txBox="1"/>
          <p:nvPr/>
        </p:nvSpPr>
        <p:spPr>
          <a:xfrm>
            <a:off x="369600" y="3172975"/>
            <a:ext cx="85761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            -- O(n) add (linear search),  O(n) remove, O(n) contains (linear search)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sorted array -- O(n) add (insertionsort),  O(n) remove, O(log n) contains (binary search)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linked list     -- </a:t>
            </a:r>
            <a:r>
              <a:rPr lang="en-GB">
                <a:solidFill>
                  <a:schemeClr val="dk1"/>
                </a:solidFill>
              </a:rPr>
              <a:t>O(n) add (linear search), O(n) remove, O(n) contains (linear search)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balanced BST   O(log n) for everything!   -sort by key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 Table  -- O(1) for everything!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Dictionaries (ADT)</a:t>
            </a:r>
            <a:endParaRPr/>
          </a:p>
        </p:txBody>
      </p:sp>
      <p:sp>
        <p:nvSpPr>
          <p:cNvPr id="112" name="Google Shape;112;p27"/>
          <p:cNvSpPr txBox="1"/>
          <p:nvPr/>
        </p:nvSpPr>
        <p:spPr>
          <a:xfrm>
            <a:off x="361075" y="821600"/>
            <a:ext cx="415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create_new()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/>
              <a:t>insert</a:t>
            </a:r>
            <a:r>
              <a:rPr lang="en-GB"/>
              <a:t>(D, key, item)       ( want O(1) 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item &lt;- </a:t>
            </a:r>
            <a:r>
              <a:rPr lang="en-GB" b="1"/>
              <a:t>search</a:t>
            </a:r>
            <a:r>
              <a:rPr lang="en-GB"/>
              <a:t>(D, key)  </a:t>
            </a:r>
            <a:r>
              <a:rPr lang="en-GB">
                <a:solidFill>
                  <a:schemeClr val="dk1"/>
                </a:solidFill>
              </a:rPr>
              <a:t>( want O(1) 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/>
              <a:t>delete</a:t>
            </a:r>
            <a:r>
              <a:rPr lang="en-GB"/>
              <a:t>(D, key)               </a:t>
            </a:r>
            <a:r>
              <a:rPr lang="en-GB">
                <a:solidFill>
                  <a:schemeClr val="dk1"/>
                </a:solidFill>
              </a:rPr>
              <a:t>( want O(1) 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free()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27"/>
          <p:cNvSpPr txBox="1"/>
          <p:nvPr/>
        </p:nvSpPr>
        <p:spPr>
          <a:xfrm>
            <a:off x="5660950" y="692350"/>
            <a:ext cx="3000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"Pride and Prejudice"</a:t>
            </a:r>
            <a:r>
              <a:rPr lang="en-GB" sz="1050">
                <a:solidFill>
                  <a:srgbClr val="666666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"Wuthering Heights"</a:t>
            </a:r>
            <a:r>
              <a:rPr lang="en-GB" sz="1050">
                <a:solidFill>
                  <a:srgbClr val="666666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"Great Expectations"</a:t>
            </a:r>
            <a:r>
              <a:rPr lang="en-GB" sz="1050">
                <a:solidFill>
                  <a:srgbClr val="666666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"John"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1397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Dictionaries (ADT)</a:t>
            </a:r>
            <a:endParaRPr/>
          </a:p>
        </p:txBody>
      </p:sp>
      <p:sp>
        <p:nvSpPr>
          <p:cNvPr id="119" name="Google Shape;119;p28"/>
          <p:cNvSpPr txBox="1"/>
          <p:nvPr/>
        </p:nvSpPr>
        <p:spPr>
          <a:xfrm>
            <a:off x="361075" y="821600"/>
            <a:ext cx="415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create_new()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/>
              <a:t>insert</a:t>
            </a:r>
            <a:r>
              <a:rPr lang="en-GB"/>
              <a:t>(D, key, item)       ( want O(1) 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item &lt;- </a:t>
            </a:r>
            <a:r>
              <a:rPr lang="en-GB" b="1"/>
              <a:t>search</a:t>
            </a:r>
            <a:r>
              <a:rPr lang="en-GB"/>
              <a:t>(D, key)  </a:t>
            </a:r>
            <a:r>
              <a:rPr lang="en-GB">
                <a:solidFill>
                  <a:schemeClr val="dk1"/>
                </a:solidFill>
              </a:rPr>
              <a:t>( want O(1) 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delete(D, key)               </a:t>
            </a:r>
            <a:r>
              <a:rPr lang="en-GB">
                <a:solidFill>
                  <a:schemeClr val="dk1"/>
                </a:solidFill>
              </a:rPr>
              <a:t>( want O(1) )</a:t>
            </a:r>
            <a:endParaRPr/>
          </a:p>
        </p:txBody>
      </p:sp>
      <p:sp>
        <p:nvSpPr>
          <p:cNvPr id="120" name="Google Shape;120;p28"/>
          <p:cNvSpPr txBox="1"/>
          <p:nvPr/>
        </p:nvSpPr>
        <p:spPr>
          <a:xfrm>
            <a:off x="5660950" y="406850"/>
            <a:ext cx="3000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"Pride and Prejudice"</a:t>
            </a:r>
            <a:r>
              <a:rPr lang="en-GB" sz="1050">
                <a:solidFill>
                  <a:srgbClr val="666666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"Wuthering Heights"</a:t>
            </a:r>
            <a:r>
              <a:rPr lang="en-GB" sz="1050">
                <a:solidFill>
                  <a:srgbClr val="666666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"Great Expectations"</a:t>
            </a:r>
            <a:r>
              <a:rPr lang="en-GB" sz="1050">
                <a:solidFill>
                  <a:srgbClr val="666666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A212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"John"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13970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dk1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1" name="Google Shape;1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825" y="2938375"/>
            <a:ext cx="761047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Hash tables / hash map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9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Maps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  (think python dictionary)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a hash function to compute an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into an array of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buckets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Ideally: each key is assigned into a unique bucket (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perfect hash function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 have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collisions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hash function generates same index for &gt;1 key.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There are ways to solve this!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0" name="Google Shape;1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599" y="2495550"/>
            <a:ext cx="3365376" cy="24569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29"/>
          <p:cNvGraphicFramePr/>
          <p:nvPr/>
        </p:nvGraphicFramePr>
        <p:xfrm>
          <a:off x="5012450" y="3137375"/>
          <a:ext cx="3583125" cy="1584840"/>
        </p:xfrm>
        <a:graphic>
          <a:graphicData uri="http://schemas.openxmlformats.org/drawingml/2006/table">
            <a:tbl>
              <a:tblPr>
                <a:noFill/>
                <a:tableStyleId>{B33C91B2-0100-4C71-90EB-CDC0535ABD91}</a:tableStyleId>
              </a:tblPr>
              <a:tblGrid>
                <a:gridCol w="119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Average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Worst case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Insert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Search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Delete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Hash tables Issues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3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0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nsolas"/>
              <a:buChar char="-"/>
            </a:pP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collisions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hash function generates same index for multiple keys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can't store that element!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resizing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run out of space in hashmap!  =&gt; need to rehash everything =&gt; O(n)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0" name="Google Shape;140;p30"/>
          <p:cNvGraphicFramePr/>
          <p:nvPr/>
        </p:nvGraphicFramePr>
        <p:xfrm>
          <a:off x="2614300" y="2843725"/>
          <a:ext cx="3583125" cy="1584840"/>
        </p:xfrm>
        <a:graphic>
          <a:graphicData uri="http://schemas.openxmlformats.org/drawingml/2006/table">
            <a:tbl>
              <a:tblPr>
                <a:noFill/>
                <a:tableStyleId>{B33C91B2-0100-4C71-90EB-CDC0535ABD91}</a:tableStyleId>
              </a:tblPr>
              <a:tblGrid>
                <a:gridCol w="119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Average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Worst case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Insert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Search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Delete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1" name="Google Shape;141;p30"/>
          <p:cNvSpPr txBox="1"/>
          <p:nvPr/>
        </p:nvSpPr>
        <p:spPr>
          <a:xfrm>
            <a:off x="697850" y="2558300"/>
            <a:ext cx="1281900" cy="1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h(x) = x%50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h(13) = 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h(3) = 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h(23) = 23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Load factor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3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1"/>
          <p:cNvSpPr txBox="1"/>
          <p:nvPr/>
        </p:nvSpPr>
        <p:spPr>
          <a:xfrm>
            <a:off x="2938325" y="1290350"/>
            <a:ext cx="6016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 is the number of entries occupied in the hash table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  is the number of buckets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40950"/>
            <a:ext cx="2218650" cy="9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1"/>
          <p:cNvSpPr txBox="1"/>
          <p:nvPr/>
        </p:nvSpPr>
        <p:spPr>
          <a:xfrm>
            <a:off x="359650" y="2379725"/>
            <a:ext cx="8355900" cy="18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Higher load factor:   greater chance of collision!   (more buckets are full)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Lower load factor:    wasted memory, and not necessarily any reduction in search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Java: aims for load factor of 0.75.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If the HashMap’s load reaches 0.75, we </a:t>
            </a:r>
            <a:r>
              <a:rPr lang="en-GB" b="1"/>
              <a:t>resize </a:t>
            </a:r>
            <a:r>
              <a:rPr lang="en-GB"/>
              <a:t>the hashmap.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Resizing:</a:t>
            </a:r>
            <a:r>
              <a:rPr lang="en-GB">
                <a:solidFill>
                  <a:schemeClr val="dk1"/>
                </a:solidFill>
              </a:rPr>
              <a:t>   double array size, need rehash all values =&gt; O(n)  … bad!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Collision resolution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3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2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way we handle collisions will erode the performance of the hash table.  </a:t>
            </a:r>
            <a:b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 lose O(1)!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Separate chaining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Cuckoo hashing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 probing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 consider: do we maintain O(1) insert/delete/search with these schemes?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Separate chaining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3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Instead of having buckets of values, have buckets of some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secondary data structure.  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(eg: linked list, array, another hashmap =&gt; all different properties)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Each bucket has a list of entries with the same index.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O(1) to find the correct bucket, then O(m) to search through the bucket: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Searching through linked list: O(n)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Balanced binary tree: O(log n)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HashMap Java 8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8" name="Google Shape;1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900" y="2303275"/>
            <a:ext cx="3933050" cy="271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Linear Probing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5" name="Google Shape;175;p3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4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Buckets are values as usual.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there is a collision, we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search linearly forward 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until an unoccupied slot is found.   (eg: idx 100 full? go to 101. or 102. or 103…)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complexity: O(n) still, just resolves the collision part.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How to delete elements?  O(n) search. -- bad!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7" name="Google Shape;1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078" y="2485275"/>
            <a:ext cx="3061197" cy="265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Cuckoo hashing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3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5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multiple hash functions.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Lookup: use hash function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not found, use hash function 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Etc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Insertion: use hash function 1.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collision, use hash function 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Etc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Deletion, same as lookup.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Worst case: O(1)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Careful with cycles!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6" name="Google Shape;1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0700" y="1201350"/>
            <a:ext cx="1401549" cy="3291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500" y="3610525"/>
            <a:ext cx="3782501" cy="12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Cuckoo hashing - more details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4" name="Google Shape;194;p3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6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 collision: displace the previous object to allow the new one to </a:t>
            </a:r>
            <a:b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 in its right spot, then re-insert it using a different hash function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multiple hash functions.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Lookup: use hash function 1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-GB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 found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use hash function 2.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Insertion: use hash function 1.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-GB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collision</a:t>
            </a: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use hash function 2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Deletion, same as lookup.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Worst case: O(1)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Efficient; but careful with cycles!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500" y="1462375"/>
            <a:ext cx="1401549" cy="329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Issues with hashing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3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7"/>
          <p:cNvSpPr txBox="1"/>
          <p:nvPr/>
        </p:nvSpPr>
        <p:spPr>
          <a:xfrm>
            <a:off x="382325" y="1290350"/>
            <a:ext cx="76305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Collisions!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way we handle collisions will erode the performance of the hash table.  Loses O(1)!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Want to avoid collisions.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the hash table is nearly full -&gt; more likely to have a collision!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array is full -&gt; guaranteed for collision!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the hash table is nearly empty -&gt; wasting space!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Similar to having an array of size 1000. </a:t>
            </a:r>
            <a:b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 want to start small and grow.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Solution: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hash table is at </a:t>
            </a:r>
            <a:r>
              <a:rPr lang="en-GB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75%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capacity - resize it.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How to resize? </a:t>
            </a:r>
            <a:b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Double the size of the array, AND need to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rehash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every element.  Time?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Hash tables / hash map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3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8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Maps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   (think python dictionary)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memory, same as an array  ("associative array")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a </a:t>
            </a:r>
            <a:r>
              <a:rPr lang="en-GB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hash function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compute an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into an array of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buckets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Ideally: each key is assigned into a unique bucket (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perfect hash function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eg:  hash ints:   </a:t>
            </a:r>
            <a:r>
              <a:rPr lang="en-GB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h(x) = x % 10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(set N_BUCKETS = k = 10)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% modulo (remainder)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Insert into hash table:    </a:t>
            </a:r>
            <a:r>
              <a:rPr lang="en-GB" strike="sngStrike"/>
              <a:t>2</a:t>
            </a:r>
            <a:r>
              <a:rPr lang="en-GB"/>
              <a:t>, 7, 85, 8, 28, 6.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	13 / 10 = remainder? 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17" name="Google Shape;217;p38"/>
          <p:cNvGraphicFramePr/>
          <p:nvPr/>
        </p:nvGraphicFramePr>
        <p:xfrm>
          <a:off x="952500" y="3661900"/>
          <a:ext cx="7239000" cy="396210"/>
        </p:xfrm>
        <a:graphic>
          <a:graphicData uri="http://schemas.openxmlformats.org/drawingml/2006/table">
            <a:tbl>
              <a:tblPr>
                <a:noFill/>
                <a:tableStyleId>{B33C91B2-0100-4C71-90EB-CDC0535ABD91}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 |28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8" name="Google Shape;218;p38"/>
          <p:cNvGraphicFramePr/>
          <p:nvPr/>
        </p:nvGraphicFramePr>
        <p:xfrm>
          <a:off x="952500" y="4287400"/>
          <a:ext cx="7239000" cy="396210"/>
        </p:xfrm>
        <a:graphic>
          <a:graphicData uri="http://schemas.openxmlformats.org/drawingml/2006/table">
            <a:tbl>
              <a:tblPr>
                <a:noFill/>
                <a:tableStyleId>{B33C91B2-0100-4C71-90EB-CDC0535ABD91}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9" name="Google Shape;219;p38"/>
          <p:cNvSpPr txBox="1"/>
          <p:nvPr/>
        </p:nvSpPr>
        <p:spPr>
          <a:xfrm>
            <a:off x="155100" y="3689025"/>
            <a:ext cx="797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</a:t>
            </a:r>
            <a:endParaRPr/>
          </a:p>
        </p:txBody>
      </p:sp>
      <p:sp>
        <p:nvSpPr>
          <p:cNvPr id="220" name="Google Shape;220;p38"/>
          <p:cNvSpPr txBox="1"/>
          <p:nvPr/>
        </p:nvSpPr>
        <p:spPr>
          <a:xfrm>
            <a:off x="155100" y="4293100"/>
            <a:ext cx="797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idx</a:t>
            </a:r>
            <a:endParaRPr/>
          </a:p>
        </p:txBody>
      </p:sp>
      <p:sp>
        <p:nvSpPr>
          <p:cNvPr id="221" name="Google Shape;221;p38"/>
          <p:cNvSpPr txBox="1"/>
          <p:nvPr/>
        </p:nvSpPr>
        <p:spPr>
          <a:xfrm>
            <a:off x="5550075" y="3183300"/>
            <a:ext cx="3083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k:  # buckets,  n: # elements in map</a:t>
            </a:r>
            <a:endParaRPr/>
          </a:p>
        </p:txBody>
      </p:sp>
      <p:sp>
        <p:nvSpPr>
          <p:cNvPr id="222" name="Google Shape;222;p38"/>
          <p:cNvSpPr txBox="1"/>
          <p:nvPr/>
        </p:nvSpPr>
        <p:spPr>
          <a:xfrm>
            <a:off x="5257250" y="2793550"/>
            <a:ext cx="15738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k=10 n=0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Hash tables / hash map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3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9"/>
          <p:cNvSpPr txBox="1"/>
          <p:nvPr/>
        </p:nvSpPr>
        <p:spPr>
          <a:xfrm>
            <a:off x="382325" y="1290350"/>
            <a:ext cx="8572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a </a:t>
            </a:r>
            <a:r>
              <a:rPr lang="en-GB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hash function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compute an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into an array of 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buckets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Ideally: each key is assigned into a unique bucket (</a:t>
            </a:r>
            <a:r>
              <a:rPr lang="en-GB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perfect hash function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Char char="-"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eg:  hash ints:   h(x) = x % N_BUCKETS      (set N_BUCKETS = k = 10)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h1(x) = x % 10;      k: # buckets;  n = num elements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h2(x) = x % 20;    chance of collision: 1/(k - n)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Insert into hash table:    2, 85, 8, 28, 6, 17.   h(28) = 28 % 10 = 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2 5 8 8 6 7   17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31" name="Google Shape;231;p39"/>
          <p:cNvGraphicFramePr/>
          <p:nvPr/>
        </p:nvGraphicFramePr>
        <p:xfrm>
          <a:off x="952500" y="3175100"/>
          <a:ext cx="7239000" cy="792420"/>
        </p:xfrm>
        <a:graphic>
          <a:graphicData uri="http://schemas.openxmlformats.org/drawingml/2006/table">
            <a:tbl>
              <a:tblPr>
                <a:noFill/>
                <a:tableStyleId>{B33C91B2-0100-4C71-90EB-CDC0535ABD91}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8  28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2" name="Google Shape;232;p39"/>
          <p:cNvGraphicFramePr/>
          <p:nvPr/>
        </p:nvGraphicFramePr>
        <p:xfrm>
          <a:off x="952500" y="4287400"/>
          <a:ext cx="7239000" cy="396210"/>
        </p:xfrm>
        <a:graphic>
          <a:graphicData uri="http://schemas.openxmlformats.org/drawingml/2006/table">
            <a:tbl>
              <a:tblPr>
                <a:noFill/>
                <a:tableStyleId>{B33C91B2-0100-4C71-90EB-CDC0535ABD91}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3" name="Google Shape;233;p39"/>
          <p:cNvSpPr txBox="1"/>
          <p:nvPr/>
        </p:nvSpPr>
        <p:spPr>
          <a:xfrm>
            <a:off x="155100" y="3689025"/>
            <a:ext cx="797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</a:t>
            </a:r>
            <a:endParaRPr/>
          </a:p>
        </p:txBody>
      </p:sp>
      <p:sp>
        <p:nvSpPr>
          <p:cNvPr id="234" name="Google Shape;234;p39"/>
          <p:cNvSpPr txBox="1"/>
          <p:nvPr/>
        </p:nvSpPr>
        <p:spPr>
          <a:xfrm>
            <a:off x="155100" y="4293100"/>
            <a:ext cx="797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1413</Words>
  <Application>Microsoft Macintosh PowerPoint</Application>
  <PresentationFormat>On-screen Show (16:9)</PresentationFormat>
  <Paragraphs>207</Paragraphs>
  <Slides>15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Courier New</vt:lpstr>
      <vt:lpstr>Arial</vt:lpstr>
      <vt:lpstr>Consolas</vt:lpstr>
      <vt:lpstr>Fira Code</vt:lpstr>
      <vt:lpstr>Simple Light</vt:lpstr>
      <vt:lpstr>Simple Light</vt:lpstr>
      <vt:lpstr>Hashing</vt:lpstr>
      <vt:lpstr>PowerPoint Presentation</vt:lpstr>
      <vt:lpstr>Dictionaries (ADT)</vt:lpstr>
      <vt:lpstr>Dictionaries (ADT)</vt:lpstr>
      <vt:lpstr>Hash tables / hash map</vt:lpstr>
      <vt:lpstr>Hash tables Issues</vt:lpstr>
      <vt:lpstr>Load factor</vt:lpstr>
      <vt:lpstr>Collision resolution</vt:lpstr>
      <vt:lpstr>Separate chaining</vt:lpstr>
      <vt:lpstr>Linear Probing</vt:lpstr>
      <vt:lpstr>Cuckoo hashing</vt:lpstr>
      <vt:lpstr>Cuckoo hashing - more details</vt:lpstr>
      <vt:lpstr>Issues with hashing</vt:lpstr>
      <vt:lpstr>Hash tables / hash map</vt:lpstr>
      <vt:lpstr>Hash tables / hash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Tracy Bu</cp:lastModifiedBy>
  <cp:revision>2</cp:revision>
  <dcterms:modified xsi:type="dcterms:W3CDTF">2026-04-20T00:51:57Z</dcterms:modified>
</cp:coreProperties>
</file>