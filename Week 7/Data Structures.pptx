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5" r:id="rId18"/>
    <p:sldId id="276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Fira Code" panose="020B0809050000020004" pitchFamily="49" charset="0"/>
      <p:regular r:id="rId62"/>
      <p:bold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1A21D0-FD56-4908-956B-C06D331CAC22}">
  <a:tblStyle styleId="{331A21D0-FD56-4908-956B-C06D331CAC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2"/>
  </p:normalViewPr>
  <p:slideViewPr>
    <p:cSldViewPr snapToGrid="0">
      <p:cViewPr varScale="1">
        <p:scale>
          <a:sx n="159" d="100"/>
          <a:sy n="159" d="100"/>
        </p:scale>
        <p:origin x="47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9fe5743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9fe57432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9c261897a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9c261897a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a37a4526c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a37a4526c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99fe57432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99fe57432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a37a4526c6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a37a4526c6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37a4526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37a4526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37a4526c6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a37a4526c6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37a4526c6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a37a4526c6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a37a4526c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a37a4526c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a37a4526c6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a37a4526c6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a37a4526c6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a37a4526c6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99fe57432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99fe57432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a37a4526c6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a37a4526c6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a37a4526c6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a37a4526c6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a37a4526c6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a37a4526c6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99fe57432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99fe57432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9c261897a2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9c261897a2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99fe57432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99fe574329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99fe57432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99fe57432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99fe57432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99fe57432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99fe574329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99fe574329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99fe57432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99fe574329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99fe57432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99fe57432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99fe574329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99fe574329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99fe57432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99fe57432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99fe574329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99fe574329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99fe574329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99fe574329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99fe574329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99fe574329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99fe574329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99fe574329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99fe574329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99fe574329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99fe574329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99fe574329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99fe574329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99fe574329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99fe574329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99fe574329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9c261897a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9c261897a2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9c261897a2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9c261897a2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99fe574329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99fe574329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99fe57432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99fe57432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99fe574329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99fe574329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99fe574329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99fe574329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99fe574329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99fe574329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99fe574329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99fe574329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99fe574329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99fe574329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9fe574329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99fe574329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99fe574329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99fe574329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99fe574329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99fe574329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99fe574329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99fe574329_0_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99fe574329_0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99fe574329_0_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9c261897a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9c261897a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9c261897a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9c261897a2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99fe574329_0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99fe574329_0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99fe574329_0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99fe574329_0_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99fe574329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99fe574329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99fe574329_0_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99fe574329_0_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99fe574329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99fe574329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99fe574329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99fe574329_0_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elf-balancing_binary_search_tre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311700" y="3493025"/>
            <a:ext cx="8901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</a:rPr>
              <a:t>Data Structures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“A way to store and arrange data, in a way that suits an algorithm.”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Has a concrete implementation: we can calculate </a:t>
            </a: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complexity 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of operations</a:t>
            </a:r>
            <a:br>
              <a:rPr lang="en-GB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Examples: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Arrays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Linked Lists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(Binary Search) Trees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Hash Maps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Heaps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Graphs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Data Structures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850" y="155275"/>
            <a:ext cx="2382900" cy="19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610300" y="2141025"/>
            <a:ext cx="26211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Binary Search Trees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4250" y="263000"/>
            <a:ext cx="4803825" cy="10696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3504175" y="1075375"/>
            <a:ext cx="26211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Linked Lists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0275" y="1814250"/>
            <a:ext cx="501015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4266175" y="2370775"/>
            <a:ext cx="26211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Arrays</a:t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0000" y="2830475"/>
            <a:ext cx="2718467" cy="198575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3701800" y="4757950"/>
            <a:ext cx="26211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 Maps</a:t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2300" y="2798271"/>
            <a:ext cx="2718475" cy="220772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1753825" y="3801725"/>
            <a:ext cx="26211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Heaps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59467" y="2798275"/>
            <a:ext cx="2432133" cy="140084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6627700" y="4297875"/>
            <a:ext cx="26211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Undirected Cyclic Graph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8757400" y="1831100"/>
            <a:ext cx="3267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“Collection of data items, family of operations that operate on data.”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Usually limited to a </a:t>
            </a: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small set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of defined </a:t>
            </a: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operations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.</a:t>
            </a:r>
            <a:br>
              <a:rPr lang="en-GB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Can be implemented by a number of different </a:t>
            </a: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concrete data structures.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But some might provide better </a:t>
            </a: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performance / time complexity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for the operations we want.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Examples:           (usually implemented by)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List				 =&gt; array, linked list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Stacks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		 =&gt; array, singly-linked list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Queues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			 =&gt; singly / doubly linked list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Priority Queues  =&gt; heap, binary search tree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Dictionary		 =&gt; hash map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Abstract Data Types (ADTs)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281425" y="287025"/>
            <a:ext cx="40935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Lists  (ADT)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create empty list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free/destroy the list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is empty?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add to start (head)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add to end of list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get first element of list (head)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get all but first element of the list ("tail")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get element at a specific index</a:t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4206025" y="420525"/>
            <a:ext cx="3520200" cy="11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Could be implemented by: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Arrays (variable length / dynamic)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Singly Linked List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Doubly Linked List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800" y="2372525"/>
            <a:ext cx="4205725" cy="244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781" y="2309825"/>
            <a:ext cx="3901669" cy="24475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6480550" y="4761650"/>
            <a:ext cx="17790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(GeeksForGeeks)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Stacks  (ADT)     </a:t>
            </a:r>
            <a:r>
              <a:rPr lang="en-GB" b="1"/>
              <a:t>LIFO: </a:t>
            </a:r>
            <a:r>
              <a:rPr lang="en-GB"/>
              <a:t>Last in First Out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225" y="2520175"/>
            <a:ext cx="333375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9675" y="1257238"/>
            <a:ext cx="3834574" cy="338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361075" y="821600"/>
            <a:ext cx="415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create new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destroy / free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is empty?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push (add to top)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pop (remove from top)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top (get top element, but don't remove it)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Stack Example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346100" y="1250175"/>
            <a:ext cx="85206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stack_t stack = new_stack();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push(stack, 5);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push(stack, 6);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push(stack, 4);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pop(stack);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pop(stack);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push(stack, 1);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printf(“%d”, pop(stack));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free_stack(stack);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Stack Example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346100" y="1250175"/>
            <a:ext cx="85206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stack_t stack = new_stack();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push(stack, 5);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push(stack, 6);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push(stack, 4);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pop(stack);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pop(stack);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push(stack, 1);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printf(“%d”, pop(stack));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200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free_stack(stack);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3992100" y="1250175"/>
            <a:ext cx="38529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bottom -&gt; {} &lt;- top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{5}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{5, 6}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{5, 6, 4}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{5, 6}   4 popped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{5}      6 popped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{5, 1}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{5}      1 popped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 rotWithShape="1">
          <a:blip r:embed="rId3">
            <a:alphaModFix/>
          </a:blip>
          <a:srcRect l="3744" t="12543" r="56767" b="14873"/>
          <a:stretch/>
        </p:blipFill>
        <p:spPr>
          <a:xfrm>
            <a:off x="6870750" y="2445126"/>
            <a:ext cx="1724500" cy="1381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Queues  (ADT)      </a:t>
            </a:r>
            <a:r>
              <a:rPr lang="en-GB" b="1"/>
              <a:t>FIFO: </a:t>
            </a:r>
            <a:r>
              <a:rPr lang="en-GB" u="sng"/>
              <a:t>First</a:t>
            </a:r>
            <a:r>
              <a:rPr lang="en-GB"/>
              <a:t> in First Out</a:t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361075" y="821600"/>
            <a:ext cx="415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create new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destroy / free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is empty?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b="1"/>
              <a:t>enqueue</a:t>
            </a:r>
            <a:r>
              <a:rPr lang="en-GB"/>
              <a:t> (add to end of queue)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b="1"/>
              <a:t>dequeue</a:t>
            </a:r>
            <a:r>
              <a:rPr lang="en-GB"/>
              <a:t> (remove from front of queue)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front (get front, without removing it)</a:t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8975" y="968450"/>
            <a:ext cx="4992251" cy="141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Queue Example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346100" y="1250175"/>
            <a:ext cx="85206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queue_t queue = new_queue();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enqueue(queue, 5);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enqueue(queue, 6);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enqueue(queue, 4);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dequeue(queue);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dequeue(queue);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enqueue(queue, 1);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printf(“%d”, dequeue(queue));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free_queue(queue);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Queue Example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346100" y="1250175"/>
            <a:ext cx="85206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queue_t queue = new_queue();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enqueue(queue, 5);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enqueue(queue, 6);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enqueue(queue, 4);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dequeue(queue);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dequeue(queue);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enqueue(queue, 1);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printf(“%d”, dequeue(queue));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free_queue(queue);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4144500" y="1250175"/>
            <a:ext cx="38529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front -&gt; {} &lt;- back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{5}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{5, 6}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{5, 6, 4}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{6, 4}   5 popped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{4}      6 popped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{4, 1}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// {1}      4 popped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8" name="Google Shape;148;p23"/>
          <p:cNvPicPr preferRelativeResize="0"/>
          <p:nvPr/>
        </p:nvPicPr>
        <p:blipFill rotWithShape="1">
          <a:blip r:embed="rId3">
            <a:alphaModFix/>
          </a:blip>
          <a:srcRect l="60510" t="18033"/>
          <a:stretch/>
        </p:blipFill>
        <p:spPr>
          <a:xfrm>
            <a:off x="6813375" y="2289700"/>
            <a:ext cx="1866526" cy="16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Data structures  (DSs)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i="1">
                <a:latin typeface="Consolas"/>
                <a:ea typeface="Consolas"/>
                <a:cs typeface="Consolas"/>
                <a:sym typeface="Consolas"/>
              </a:rPr>
              <a:t>: Implementation ("C")</a:t>
            </a:r>
            <a:endParaRPr sz="1600" i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Calculate time complexity </a:t>
            </a:r>
            <a:br>
              <a:rPr lang="en-GB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of operations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Array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Linked List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Trees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Hashmap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Heap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Data Structures (Summary)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body" idx="1"/>
          </p:nvPr>
        </p:nvSpPr>
        <p:spPr>
          <a:xfrm>
            <a:off x="4533950" y="1152475"/>
            <a:ext cx="8901900" cy="39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Abstract data types  (ADTs)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i="1">
                <a:latin typeface="Consolas"/>
                <a:ea typeface="Consolas"/>
                <a:cs typeface="Consolas"/>
                <a:sym typeface="Consolas"/>
              </a:rPr>
              <a:t>: Idea  ("python")</a:t>
            </a:r>
            <a:endParaRPr sz="1600" i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Time complexity of operations depends</a:t>
            </a:r>
            <a:br>
              <a:rPr lang="en-GB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on data structure used to implement it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Stack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Queue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Dictionary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Priority Queue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311700" y="3493025"/>
            <a:ext cx="8901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</a:rPr>
              <a:t>Binary Search Trees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901900" cy="11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Non-Linear </a:t>
            </a: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data structure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Binary tree: each </a:t>
            </a: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has up to </a:t>
            </a: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two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child nodes.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Nodes are </a:t>
            </a: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linked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together using pointers (again)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Structure keeps elements in sorted order, can always binary search.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2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Binary Search Tree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0650" y="2415175"/>
            <a:ext cx="2793600" cy="232847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 txBox="1"/>
          <p:nvPr/>
        </p:nvSpPr>
        <p:spPr>
          <a:xfrm>
            <a:off x="108375" y="2437500"/>
            <a:ext cx="3170400" cy="26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struct node node_t;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node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void *data; // polymorphic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node_t *left;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node_t *right;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node_t *root;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(*cmp)(void*,void*);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tree_t;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7047750" y="4563800"/>
            <a:ext cx="21675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cmp: arg1 is new item</a:t>
            </a:r>
            <a:br>
              <a:rPr lang="en-GB"/>
            </a:br>
            <a:r>
              <a:rPr lang="en-GB"/>
              <a:t>         arg2 is item in tree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Binary Search Trees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08" name="Google Shape;208;p30"/>
          <p:cNvGraphicFramePr/>
          <p:nvPr/>
        </p:nvGraphicFramePr>
        <p:xfrm>
          <a:off x="723900" y="2000250"/>
          <a:ext cx="7726275" cy="158484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15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Operation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Average / best case  (balanced)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Worst case  (stick)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Insert (ordered)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O(log n)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O(n)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Delete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O(log n)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O(n)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Search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O(log n)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O(n)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9" name="Google Shape;209;p30"/>
          <p:cNvSpPr txBox="1"/>
          <p:nvPr/>
        </p:nvSpPr>
        <p:spPr>
          <a:xfrm>
            <a:off x="610200" y="3752325"/>
            <a:ext cx="77871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Design of Algorithms: Self-balancing binary trees  red-black, 2-3, B-trees, AVL trees ...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https://en.wikipedia.org/wiki/Self-balancing_binary_search_tree</a:t>
            </a:r>
            <a:r>
              <a:rPr lang="en-GB" dirty="0"/>
              <a:t>       O(log n) </a:t>
            </a:r>
            <a:r>
              <a:rPr lang="en-GB" dirty="0" err="1"/>
              <a:t>avg</a:t>
            </a:r>
            <a:r>
              <a:rPr lang="en-GB" dirty="0"/>
              <a:t> case!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 err="1"/>
              <a:t>Hashmaps</a:t>
            </a:r>
            <a:r>
              <a:rPr lang="en-GB" b="1" dirty="0"/>
              <a:t>:   O(1)   </a:t>
            </a:r>
            <a:r>
              <a:rPr lang="en-GB" dirty="0"/>
              <a:t>average for insert, search, delete!  </a:t>
            </a:r>
            <a:endParaRPr dirty="0"/>
          </a:p>
        </p:txBody>
      </p:sp>
      <p:sp>
        <p:nvSpPr>
          <p:cNvPr id="210" name="Google Shape;210;p30"/>
          <p:cNvSpPr txBox="1"/>
          <p:nvPr/>
        </p:nvSpPr>
        <p:spPr>
          <a:xfrm>
            <a:off x="610200" y="1203888"/>
            <a:ext cx="77871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Useful for fast/insert/delete on sorted data.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NOT</a:t>
            </a:r>
            <a:r>
              <a:rPr lang="en-GB"/>
              <a:t> the same as binary search on sorted array!   -&gt; O(log n) search!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title"/>
          </p:nvPr>
        </p:nvSpPr>
        <p:spPr>
          <a:xfrm>
            <a:off x="311700" y="3493025"/>
            <a:ext cx="8901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</a:rPr>
              <a:t>Arrays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Linear data structure  -- items stored one after another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Elements stored in contiguous memory locations.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 storing data, we have operations we want / need to perform.</a:t>
            </a:r>
            <a:br>
              <a:rPr lang="en-GB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For an array, what’s the complexity of these operations?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Insert at front: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Insert at end: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Insert at random position: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Delete at front: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Delete at end: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Delete at random position: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Search for a value:      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" name="Google Shape;222;p3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Arrays, as a data structure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25" name="Google Shape;225;p32"/>
          <p:cNvGraphicFramePr/>
          <p:nvPr/>
        </p:nvGraphicFramePr>
        <p:xfrm>
          <a:off x="952500" y="1924050"/>
          <a:ext cx="5085150" cy="39621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84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901900" cy="39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Linear data structure  -- items stored one after another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Elements stored in contiguous memory locations.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 storing data, we have operations we want / need to perform.</a:t>
            </a:r>
            <a:br>
              <a:rPr lang="en-GB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For an array, what’s the complexity of these operations?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Insert at front:   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-- need to shift each element 1 over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Insert at end:     O(1), if there’s room; otherwise 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to resize!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Insert at random position:   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-- need to shift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Delete at front:   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-- need to shift each element 1 back!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Delete at end:     O(1)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Delete at random position:  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-- need to shift each element 1 back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Search for a value:  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unsorted (linear), O(log n) sorted (binary)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3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Arrays, as a data structure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34" name="Google Shape;234;p33"/>
          <p:cNvGraphicFramePr/>
          <p:nvPr/>
        </p:nvGraphicFramePr>
        <p:xfrm>
          <a:off x="952500" y="1924050"/>
          <a:ext cx="5085150" cy="39621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84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311700" y="3493025"/>
            <a:ext cx="8901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</a:rPr>
              <a:t>Linked List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901900" cy="11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Linear </a:t>
            </a: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data structure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Elements </a:t>
            </a:r>
            <a:r>
              <a:rPr lang="en-GB" sz="1600" i="1"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stored in contiguous memory locations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Elements are </a:t>
            </a:r>
            <a:r>
              <a:rPr lang="en-GB" sz="1600" b="1">
                <a:latin typeface="Consolas"/>
                <a:ea typeface="Consolas"/>
                <a:cs typeface="Consolas"/>
                <a:sym typeface="Consolas"/>
              </a:rPr>
              <a:t>linked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together using pointers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4" name="Google Shape;254;p3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Linked List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6" name="Google Shape;256;p3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7" name="Google Shape;2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5900" y="2353750"/>
            <a:ext cx="5630774" cy="14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6"/>
          <p:cNvSpPr txBox="1">
            <a:spLocks noGrp="1"/>
          </p:cNvSpPr>
          <p:nvPr>
            <p:ph type="body" idx="1"/>
          </p:nvPr>
        </p:nvSpPr>
        <p:spPr>
          <a:xfrm>
            <a:off x="475025" y="2219275"/>
            <a:ext cx="48288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int data_t;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node node_t;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node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data_t data;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node_t *next;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node_t *head = malloc(sizeof(node_t));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head-&gt;data = value;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head-&gt;next = NULL;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901900" cy="11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Insert at head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Remove at head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Insert at tail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-"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Remove at tail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4" name="Google Shape;264;p3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Linked List Operations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6" name="Google Shape;266;p3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7"/>
          <p:cNvSpPr txBox="1"/>
          <p:nvPr/>
        </p:nvSpPr>
        <p:spPr>
          <a:xfrm>
            <a:off x="2711950" y="1281950"/>
            <a:ext cx="26268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slides for review.</a:t>
            </a:r>
            <a:endParaRPr/>
          </a:p>
        </p:txBody>
      </p:sp>
      <p:sp>
        <p:nvSpPr>
          <p:cNvPr id="268" name="Google Shape;268;p37"/>
          <p:cNvSpPr txBox="1"/>
          <p:nvPr/>
        </p:nvSpPr>
        <p:spPr>
          <a:xfrm>
            <a:off x="1084725" y="3505200"/>
            <a:ext cx="4374900" cy="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head = front = 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foot = end = tail</a:t>
            </a:r>
            <a:endParaRPr/>
          </a:p>
        </p:txBody>
      </p:sp>
      <p:sp>
        <p:nvSpPr>
          <p:cNvPr id="269" name="Google Shape;269;p37"/>
          <p:cNvSpPr txBox="1"/>
          <p:nvPr/>
        </p:nvSpPr>
        <p:spPr>
          <a:xfrm>
            <a:off x="4819475" y="3552025"/>
            <a:ext cx="4321200" cy="8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Note: if you are examined on coding this up, the question will guide you.   </a:t>
            </a:r>
            <a:br>
              <a:rPr lang="en-GB"/>
            </a:br>
            <a:r>
              <a:rPr lang="en-GB"/>
              <a:t>Just understand the concepts and complexities!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You’ll learn more about data structures and ADTs in COMP20007 Design of Algorithms.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Insert at head  </a:t>
            </a:r>
            <a:r>
              <a:rPr lang="en-GB" sz="1200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list_t *insert_at_head(list_t *list, data_t value)</a:t>
            </a:r>
            <a:endParaRPr sz="1200"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6" name="Google Shape;276;p3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77" name="Google Shape;277;p38"/>
          <p:cNvGraphicFramePr/>
          <p:nvPr/>
        </p:nvGraphicFramePr>
        <p:xfrm>
          <a:off x="10287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8" name="Google Shape;278;p38"/>
          <p:cNvGraphicFramePr/>
          <p:nvPr/>
        </p:nvGraphicFramePr>
        <p:xfrm>
          <a:off x="24088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9" name="Google Shape;279;p38"/>
          <p:cNvGraphicFramePr/>
          <p:nvPr/>
        </p:nvGraphicFramePr>
        <p:xfrm>
          <a:off x="37889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0" name="Google Shape;280;p38"/>
          <p:cNvGraphicFramePr/>
          <p:nvPr/>
        </p:nvGraphicFramePr>
        <p:xfrm>
          <a:off x="51690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1" name="Google Shape;281;p38"/>
          <p:cNvGraphicFramePr/>
          <p:nvPr/>
        </p:nvGraphicFramePr>
        <p:xfrm>
          <a:off x="65491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82" name="Google Shape;282;p38"/>
          <p:cNvCxnSpPr/>
          <p:nvPr/>
        </p:nvCxnSpPr>
        <p:spPr>
          <a:xfrm rot="10800000" flipH="1">
            <a:off x="1785075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3" name="Google Shape;283;p38"/>
          <p:cNvCxnSpPr/>
          <p:nvPr/>
        </p:nvCxnSpPr>
        <p:spPr>
          <a:xfrm rot="10800000" flipH="1">
            <a:off x="31709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4" name="Google Shape;284;p38"/>
          <p:cNvCxnSpPr/>
          <p:nvPr/>
        </p:nvCxnSpPr>
        <p:spPr>
          <a:xfrm rot="10800000" flipH="1">
            <a:off x="4551050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5" name="Google Shape;285;p38"/>
          <p:cNvCxnSpPr/>
          <p:nvPr/>
        </p:nvCxnSpPr>
        <p:spPr>
          <a:xfrm rot="10800000" flipH="1">
            <a:off x="59311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6" name="Google Shape;286;p38"/>
          <p:cNvCxnSpPr/>
          <p:nvPr/>
        </p:nvCxnSpPr>
        <p:spPr>
          <a:xfrm rot="10800000" flipH="1">
            <a:off x="7311238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7" name="Google Shape;287;p38"/>
          <p:cNvSpPr txBox="1"/>
          <p:nvPr/>
        </p:nvSpPr>
        <p:spPr>
          <a:xfrm>
            <a:off x="8005550" y="3420500"/>
            <a:ext cx="70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  <p:cxnSp>
        <p:nvCxnSpPr>
          <p:cNvPr id="288" name="Google Shape;288;p38"/>
          <p:cNvCxnSpPr/>
          <p:nvPr/>
        </p:nvCxnSpPr>
        <p:spPr>
          <a:xfrm rot="10800000" flipH="1">
            <a:off x="669325" y="3664250"/>
            <a:ext cx="340200" cy="1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9" name="Google Shape;289;p38"/>
          <p:cNvSpPr txBox="1"/>
          <p:nvPr/>
        </p:nvSpPr>
        <p:spPr>
          <a:xfrm>
            <a:off x="105925" y="356072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90" name="Google Shape;290;p38"/>
          <p:cNvGraphicFramePr/>
          <p:nvPr/>
        </p:nvGraphicFramePr>
        <p:xfrm>
          <a:off x="1028700" y="1439075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1" name="Google Shape;291;p38"/>
          <p:cNvSpPr txBox="1"/>
          <p:nvPr/>
        </p:nvSpPr>
        <p:spPr>
          <a:xfrm>
            <a:off x="2322425" y="1331225"/>
            <a:ext cx="56382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node_t *newhead = malloc(sizeof(node_t));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assert(newhead);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newhead-&gt;data = value;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2" name="Google Shape;292;p38"/>
          <p:cNvCxnSpPr/>
          <p:nvPr/>
        </p:nvCxnSpPr>
        <p:spPr>
          <a:xfrm rot="10800000" flipH="1">
            <a:off x="573775" y="1931125"/>
            <a:ext cx="418800" cy="2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3" name="Google Shape;293;p38"/>
          <p:cNvSpPr txBox="1"/>
          <p:nvPr/>
        </p:nvSpPr>
        <p:spPr>
          <a:xfrm>
            <a:off x="62750" y="1945675"/>
            <a:ext cx="10059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newhead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Insert at head  </a:t>
            </a:r>
            <a:r>
              <a:rPr lang="en-GB" sz="12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list_t *insert_at_head(list_t *list, data_t value)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0" name="Google Shape;300;p3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01" name="Google Shape;301;p39"/>
          <p:cNvGraphicFramePr/>
          <p:nvPr/>
        </p:nvGraphicFramePr>
        <p:xfrm>
          <a:off x="10287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2" name="Google Shape;302;p39"/>
          <p:cNvGraphicFramePr/>
          <p:nvPr/>
        </p:nvGraphicFramePr>
        <p:xfrm>
          <a:off x="24088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3" name="Google Shape;303;p39"/>
          <p:cNvGraphicFramePr/>
          <p:nvPr/>
        </p:nvGraphicFramePr>
        <p:xfrm>
          <a:off x="37889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4" name="Google Shape;304;p39"/>
          <p:cNvGraphicFramePr/>
          <p:nvPr/>
        </p:nvGraphicFramePr>
        <p:xfrm>
          <a:off x="51690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5" name="Google Shape;305;p39"/>
          <p:cNvGraphicFramePr/>
          <p:nvPr/>
        </p:nvGraphicFramePr>
        <p:xfrm>
          <a:off x="65491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06" name="Google Shape;306;p39"/>
          <p:cNvCxnSpPr/>
          <p:nvPr/>
        </p:nvCxnSpPr>
        <p:spPr>
          <a:xfrm rot="10800000" flipH="1">
            <a:off x="1785075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7" name="Google Shape;307;p39"/>
          <p:cNvCxnSpPr/>
          <p:nvPr/>
        </p:nvCxnSpPr>
        <p:spPr>
          <a:xfrm rot="10800000" flipH="1">
            <a:off x="31709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8" name="Google Shape;308;p39"/>
          <p:cNvCxnSpPr/>
          <p:nvPr/>
        </p:nvCxnSpPr>
        <p:spPr>
          <a:xfrm rot="10800000" flipH="1">
            <a:off x="4551050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9" name="Google Shape;309;p39"/>
          <p:cNvCxnSpPr/>
          <p:nvPr/>
        </p:nvCxnSpPr>
        <p:spPr>
          <a:xfrm rot="10800000" flipH="1">
            <a:off x="59311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0" name="Google Shape;310;p39"/>
          <p:cNvCxnSpPr/>
          <p:nvPr/>
        </p:nvCxnSpPr>
        <p:spPr>
          <a:xfrm rot="10800000" flipH="1">
            <a:off x="7311238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1" name="Google Shape;311;p39"/>
          <p:cNvSpPr txBox="1"/>
          <p:nvPr/>
        </p:nvSpPr>
        <p:spPr>
          <a:xfrm>
            <a:off x="8005550" y="3420500"/>
            <a:ext cx="70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  <p:cxnSp>
        <p:nvCxnSpPr>
          <p:cNvPr id="312" name="Google Shape;312;p39"/>
          <p:cNvCxnSpPr/>
          <p:nvPr/>
        </p:nvCxnSpPr>
        <p:spPr>
          <a:xfrm rot="10800000" flipH="1">
            <a:off x="573775" y="1931125"/>
            <a:ext cx="418800" cy="2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3" name="Google Shape;313;p39"/>
          <p:cNvSpPr txBox="1"/>
          <p:nvPr/>
        </p:nvSpPr>
        <p:spPr>
          <a:xfrm>
            <a:off x="314275" y="194567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14" name="Google Shape;314;p39"/>
          <p:cNvGraphicFramePr/>
          <p:nvPr/>
        </p:nvGraphicFramePr>
        <p:xfrm>
          <a:off x="1028700" y="1439075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5" name="Google Shape;315;p39"/>
          <p:cNvCxnSpPr/>
          <p:nvPr/>
        </p:nvCxnSpPr>
        <p:spPr>
          <a:xfrm flipH="1">
            <a:off x="1402475" y="2377075"/>
            <a:ext cx="18300" cy="8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6" name="Google Shape;316;p39"/>
          <p:cNvSpPr txBox="1"/>
          <p:nvPr/>
        </p:nvSpPr>
        <p:spPr>
          <a:xfrm>
            <a:off x="2322425" y="1331225"/>
            <a:ext cx="5638200" cy="16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node_t *newhead = malloc(sizeof(node_t));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assert(newhead);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newhead-&gt;data = value;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newhead-&gt;next = head;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head = newhead;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forget about newhead - can use the variable again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Remove at head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3" name="Google Shape;323;p4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24" name="Google Shape;324;p40"/>
          <p:cNvGraphicFramePr/>
          <p:nvPr/>
        </p:nvGraphicFramePr>
        <p:xfrm>
          <a:off x="10287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5" name="Google Shape;325;p40"/>
          <p:cNvGraphicFramePr/>
          <p:nvPr/>
        </p:nvGraphicFramePr>
        <p:xfrm>
          <a:off x="24088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6" name="Google Shape;326;p40"/>
          <p:cNvGraphicFramePr/>
          <p:nvPr/>
        </p:nvGraphicFramePr>
        <p:xfrm>
          <a:off x="37889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7" name="Google Shape;327;p40"/>
          <p:cNvGraphicFramePr/>
          <p:nvPr/>
        </p:nvGraphicFramePr>
        <p:xfrm>
          <a:off x="51690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8" name="Google Shape;328;p40"/>
          <p:cNvGraphicFramePr/>
          <p:nvPr/>
        </p:nvGraphicFramePr>
        <p:xfrm>
          <a:off x="65491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29" name="Google Shape;329;p40"/>
          <p:cNvCxnSpPr/>
          <p:nvPr/>
        </p:nvCxnSpPr>
        <p:spPr>
          <a:xfrm rot="10800000" flipH="1">
            <a:off x="1785075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0" name="Google Shape;330;p40"/>
          <p:cNvCxnSpPr/>
          <p:nvPr/>
        </p:nvCxnSpPr>
        <p:spPr>
          <a:xfrm rot="10800000" flipH="1">
            <a:off x="31709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" name="Google Shape;331;p40"/>
          <p:cNvCxnSpPr/>
          <p:nvPr/>
        </p:nvCxnSpPr>
        <p:spPr>
          <a:xfrm rot="10800000" flipH="1">
            <a:off x="4551050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2" name="Google Shape;332;p40"/>
          <p:cNvCxnSpPr/>
          <p:nvPr/>
        </p:nvCxnSpPr>
        <p:spPr>
          <a:xfrm rot="10800000" flipH="1">
            <a:off x="59311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3" name="Google Shape;333;p40"/>
          <p:cNvCxnSpPr/>
          <p:nvPr/>
        </p:nvCxnSpPr>
        <p:spPr>
          <a:xfrm rot="10800000" flipH="1">
            <a:off x="7311238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4" name="Google Shape;334;p40"/>
          <p:cNvSpPr txBox="1"/>
          <p:nvPr/>
        </p:nvSpPr>
        <p:spPr>
          <a:xfrm>
            <a:off x="8005550" y="3420500"/>
            <a:ext cx="70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  <p:cxnSp>
        <p:nvCxnSpPr>
          <p:cNvPr id="335" name="Google Shape;335;p40"/>
          <p:cNvCxnSpPr/>
          <p:nvPr/>
        </p:nvCxnSpPr>
        <p:spPr>
          <a:xfrm rot="10800000" flipH="1">
            <a:off x="573775" y="1931125"/>
            <a:ext cx="418800" cy="2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6" name="Google Shape;336;p40"/>
          <p:cNvSpPr txBox="1"/>
          <p:nvPr/>
        </p:nvSpPr>
        <p:spPr>
          <a:xfrm>
            <a:off x="314275" y="194567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37" name="Google Shape;337;p40"/>
          <p:cNvGraphicFramePr/>
          <p:nvPr/>
        </p:nvGraphicFramePr>
        <p:xfrm>
          <a:off x="1028700" y="1439075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38" name="Google Shape;338;p40"/>
          <p:cNvCxnSpPr/>
          <p:nvPr/>
        </p:nvCxnSpPr>
        <p:spPr>
          <a:xfrm flipH="1">
            <a:off x="1402475" y="2377075"/>
            <a:ext cx="18300" cy="8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9" name="Google Shape;339;p40"/>
          <p:cNvSpPr txBox="1"/>
          <p:nvPr/>
        </p:nvSpPr>
        <p:spPr>
          <a:xfrm>
            <a:off x="2322425" y="1331225"/>
            <a:ext cx="5638200" cy="16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free(head);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Remove at head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47" name="Google Shape;347;p41"/>
          <p:cNvGraphicFramePr/>
          <p:nvPr/>
        </p:nvGraphicFramePr>
        <p:xfrm>
          <a:off x="10287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8" name="Google Shape;348;p41"/>
          <p:cNvGraphicFramePr/>
          <p:nvPr/>
        </p:nvGraphicFramePr>
        <p:xfrm>
          <a:off x="24088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9" name="Google Shape;349;p41"/>
          <p:cNvGraphicFramePr/>
          <p:nvPr/>
        </p:nvGraphicFramePr>
        <p:xfrm>
          <a:off x="37889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0" name="Google Shape;350;p41"/>
          <p:cNvGraphicFramePr/>
          <p:nvPr/>
        </p:nvGraphicFramePr>
        <p:xfrm>
          <a:off x="51690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1" name="Google Shape;351;p41"/>
          <p:cNvGraphicFramePr/>
          <p:nvPr/>
        </p:nvGraphicFramePr>
        <p:xfrm>
          <a:off x="65491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52" name="Google Shape;352;p41"/>
          <p:cNvCxnSpPr/>
          <p:nvPr/>
        </p:nvCxnSpPr>
        <p:spPr>
          <a:xfrm rot="10800000" flipH="1">
            <a:off x="1785075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3" name="Google Shape;353;p41"/>
          <p:cNvCxnSpPr/>
          <p:nvPr/>
        </p:nvCxnSpPr>
        <p:spPr>
          <a:xfrm rot="10800000" flipH="1">
            <a:off x="31709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4" name="Google Shape;354;p41"/>
          <p:cNvCxnSpPr/>
          <p:nvPr/>
        </p:nvCxnSpPr>
        <p:spPr>
          <a:xfrm rot="10800000" flipH="1">
            <a:off x="4551050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" name="Google Shape;355;p41"/>
          <p:cNvCxnSpPr/>
          <p:nvPr/>
        </p:nvCxnSpPr>
        <p:spPr>
          <a:xfrm rot="10800000" flipH="1">
            <a:off x="59311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6" name="Google Shape;356;p41"/>
          <p:cNvCxnSpPr/>
          <p:nvPr/>
        </p:nvCxnSpPr>
        <p:spPr>
          <a:xfrm rot="10800000" flipH="1">
            <a:off x="7311238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7" name="Google Shape;357;p41"/>
          <p:cNvSpPr txBox="1"/>
          <p:nvPr/>
        </p:nvSpPr>
        <p:spPr>
          <a:xfrm>
            <a:off x="8005550" y="3420500"/>
            <a:ext cx="70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  <p:sp>
        <p:nvSpPr>
          <p:cNvPr id="358" name="Google Shape;358;p41"/>
          <p:cNvSpPr txBox="1"/>
          <p:nvPr/>
        </p:nvSpPr>
        <p:spPr>
          <a:xfrm>
            <a:off x="2322425" y="1331225"/>
            <a:ext cx="5638200" cy="16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free(head);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41"/>
          <p:cNvSpPr txBox="1"/>
          <p:nvPr/>
        </p:nvSpPr>
        <p:spPr>
          <a:xfrm>
            <a:off x="340650" y="2384600"/>
            <a:ext cx="1828800" cy="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There’s no pointer to the new head!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Remove at head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6" name="Google Shape;366;p4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67" name="Google Shape;367;p42"/>
          <p:cNvGraphicFramePr/>
          <p:nvPr/>
        </p:nvGraphicFramePr>
        <p:xfrm>
          <a:off x="10287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8" name="Google Shape;368;p42"/>
          <p:cNvGraphicFramePr/>
          <p:nvPr/>
        </p:nvGraphicFramePr>
        <p:xfrm>
          <a:off x="24088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9" name="Google Shape;369;p42"/>
          <p:cNvGraphicFramePr/>
          <p:nvPr/>
        </p:nvGraphicFramePr>
        <p:xfrm>
          <a:off x="37889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0" name="Google Shape;370;p42"/>
          <p:cNvGraphicFramePr/>
          <p:nvPr/>
        </p:nvGraphicFramePr>
        <p:xfrm>
          <a:off x="51690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1" name="Google Shape;371;p42"/>
          <p:cNvGraphicFramePr/>
          <p:nvPr/>
        </p:nvGraphicFramePr>
        <p:xfrm>
          <a:off x="65491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72" name="Google Shape;372;p42"/>
          <p:cNvCxnSpPr/>
          <p:nvPr/>
        </p:nvCxnSpPr>
        <p:spPr>
          <a:xfrm rot="10800000" flipH="1">
            <a:off x="1785075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" name="Google Shape;373;p42"/>
          <p:cNvCxnSpPr/>
          <p:nvPr/>
        </p:nvCxnSpPr>
        <p:spPr>
          <a:xfrm rot="10800000" flipH="1">
            <a:off x="31709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4" name="Google Shape;374;p42"/>
          <p:cNvCxnSpPr/>
          <p:nvPr/>
        </p:nvCxnSpPr>
        <p:spPr>
          <a:xfrm rot="10800000" flipH="1">
            <a:off x="4551050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5" name="Google Shape;375;p42"/>
          <p:cNvCxnSpPr/>
          <p:nvPr/>
        </p:nvCxnSpPr>
        <p:spPr>
          <a:xfrm rot="10800000" flipH="1">
            <a:off x="59311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" name="Google Shape;376;p42"/>
          <p:cNvCxnSpPr/>
          <p:nvPr/>
        </p:nvCxnSpPr>
        <p:spPr>
          <a:xfrm rot="10800000" flipH="1">
            <a:off x="7311238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7" name="Google Shape;377;p42"/>
          <p:cNvSpPr txBox="1"/>
          <p:nvPr/>
        </p:nvSpPr>
        <p:spPr>
          <a:xfrm>
            <a:off x="8005550" y="3420500"/>
            <a:ext cx="70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  <p:cxnSp>
        <p:nvCxnSpPr>
          <p:cNvPr id="378" name="Google Shape;378;p42"/>
          <p:cNvCxnSpPr/>
          <p:nvPr/>
        </p:nvCxnSpPr>
        <p:spPr>
          <a:xfrm rot="10800000" flipH="1">
            <a:off x="551350" y="3629650"/>
            <a:ext cx="418800" cy="2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9" name="Google Shape;379;p42"/>
          <p:cNvSpPr txBox="1"/>
          <p:nvPr/>
        </p:nvSpPr>
        <p:spPr>
          <a:xfrm>
            <a:off x="291850" y="3644200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0" name="Google Shape;380;p42"/>
          <p:cNvSpPr txBox="1"/>
          <p:nvPr/>
        </p:nvSpPr>
        <p:spPr>
          <a:xfrm>
            <a:off x="2322425" y="1331225"/>
            <a:ext cx="5638200" cy="16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node_t *oldhead = head;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head = 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oldhead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&gt;next;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free(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oldhead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oldhead = NULL;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Insert at tail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7" name="Google Shape;387;p4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88" name="Google Shape;388;p43"/>
          <p:cNvGraphicFramePr/>
          <p:nvPr/>
        </p:nvGraphicFramePr>
        <p:xfrm>
          <a:off x="10287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9" name="Google Shape;389;p43"/>
          <p:cNvGraphicFramePr/>
          <p:nvPr/>
        </p:nvGraphicFramePr>
        <p:xfrm>
          <a:off x="24088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0" name="Google Shape;390;p43"/>
          <p:cNvGraphicFramePr/>
          <p:nvPr/>
        </p:nvGraphicFramePr>
        <p:xfrm>
          <a:off x="37889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1" name="Google Shape;391;p43"/>
          <p:cNvGraphicFramePr/>
          <p:nvPr/>
        </p:nvGraphicFramePr>
        <p:xfrm>
          <a:off x="51690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2" name="Google Shape;392;p43"/>
          <p:cNvGraphicFramePr/>
          <p:nvPr/>
        </p:nvGraphicFramePr>
        <p:xfrm>
          <a:off x="65491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93" name="Google Shape;393;p43"/>
          <p:cNvCxnSpPr/>
          <p:nvPr/>
        </p:nvCxnSpPr>
        <p:spPr>
          <a:xfrm rot="10800000" flipH="1">
            <a:off x="1785075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4" name="Google Shape;394;p43"/>
          <p:cNvCxnSpPr/>
          <p:nvPr/>
        </p:nvCxnSpPr>
        <p:spPr>
          <a:xfrm rot="10800000" flipH="1">
            <a:off x="31709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5" name="Google Shape;395;p43"/>
          <p:cNvCxnSpPr/>
          <p:nvPr/>
        </p:nvCxnSpPr>
        <p:spPr>
          <a:xfrm rot="10800000" flipH="1">
            <a:off x="4551050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6" name="Google Shape;396;p43"/>
          <p:cNvCxnSpPr/>
          <p:nvPr/>
        </p:nvCxnSpPr>
        <p:spPr>
          <a:xfrm rot="10800000" flipH="1">
            <a:off x="59311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" name="Google Shape;397;p43"/>
          <p:cNvCxnSpPr/>
          <p:nvPr/>
        </p:nvCxnSpPr>
        <p:spPr>
          <a:xfrm rot="10800000" flipH="1">
            <a:off x="7311238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8" name="Google Shape;398;p43"/>
          <p:cNvSpPr txBox="1"/>
          <p:nvPr/>
        </p:nvSpPr>
        <p:spPr>
          <a:xfrm>
            <a:off x="8005550" y="3420500"/>
            <a:ext cx="70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  <p:cxnSp>
        <p:nvCxnSpPr>
          <p:cNvPr id="399" name="Google Shape;399;p43"/>
          <p:cNvCxnSpPr/>
          <p:nvPr/>
        </p:nvCxnSpPr>
        <p:spPr>
          <a:xfrm rot="10800000">
            <a:off x="1338825" y="4249225"/>
            <a:ext cx="0" cy="4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0" name="Google Shape;400;p43"/>
          <p:cNvSpPr txBox="1"/>
          <p:nvPr/>
        </p:nvSpPr>
        <p:spPr>
          <a:xfrm>
            <a:off x="1020050" y="469222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401" name="Google Shape;401;p43"/>
          <p:cNvGraphicFramePr/>
          <p:nvPr/>
        </p:nvGraphicFramePr>
        <p:xfrm>
          <a:off x="7913600" y="1439075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2" name="Google Shape;402;p43"/>
          <p:cNvSpPr txBox="1"/>
          <p:nvPr/>
        </p:nvSpPr>
        <p:spPr>
          <a:xfrm>
            <a:off x="807400" y="1331225"/>
            <a:ext cx="56382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node_t *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newtail-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= malloc(sizeof(node_t));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newtail-&gt;data = value;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03" name="Google Shape;403;p43"/>
          <p:cNvCxnSpPr/>
          <p:nvPr/>
        </p:nvCxnSpPr>
        <p:spPr>
          <a:xfrm rot="10800000" flipH="1">
            <a:off x="7458675" y="1931125"/>
            <a:ext cx="418800" cy="2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4" name="Google Shape;404;p43"/>
          <p:cNvSpPr txBox="1"/>
          <p:nvPr/>
        </p:nvSpPr>
        <p:spPr>
          <a:xfrm>
            <a:off x="6947650" y="1945675"/>
            <a:ext cx="10059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newtail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Linked list traversal  (To tail)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1" name="Google Shape;411;p4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12" name="Google Shape;412;p44"/>
          <p:cNvGraphicFramePr/>
          <p:nvPr/>
        </p:nvGraphicFramePr>
        <p:xfrm>
          <a:off x="10287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3" name="Google Shape;413;p44"/>
          <p:cNvGraphicFramePr/>
          <p:nvPr/>
        </p:nvGraphicFramePr>
        <p:xfrm>
          <a:off x="24088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4" name="Google Shape;414;p44"/>
          <p:cNvGraphicFramePr/>
          <p:nvPr/>
        </p:nvGraphicFramePr>
        <p:xfrm>
          <a:off x="37889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5" name="Google Shape;415;p44"/>
          <p:cNvGraphicFramePr/>
          <p:nvPr/>
        </p:nvGraphicFramePr>
        <p:xfrm>
          <a:off x="51690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6" name="Google Shape;416;p44"/>
          <p:cNvGraphicFramePr/>
          <p:nvPr/>
        </p:nvGraphicFramePr>
        <p:xfrm>
          <a:off x="65491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17" name="Google Shape;417;p44"/>
          <p:cNvCxnSpPr/>
          <p:nvPr/>
        </p:nvCxnSpPr>
        <p:spPr>
          <a:xfrm rot="10800000" flipH="1">
            <a:off x="1785075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8" name="Google Shape;418;p44"/>
          <p:cNvCxnSpPr/>
          <p:nvPr/>
        </p:nvCxnSpPr>
        <p:spPr>
          <a:xfrm rot="10800000" flipH="1">
            <a:off x="31709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9" name="Google Shape;419;p44"/>
          <p:cNvCxnSpPr/>
          <p:nvPr/>
        </p:nvCxnSpPr>
        <p:spPr>
          <a:xfrm rot="10800000" flipH="1">
            <a:off x="4551050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0" name="Google Shape;420;p44"/>
          <p:cNvCxnSpPr/>
          <p:nvPr/>
        </p:nvCxnSpPr>
        <p:spPr>
          <a:xfrm rot="10800000" flipH="1">
            <a:off x="59311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1" name="Google Shape;421;p44"/>
          <p:cNvCxnSpPr/>
          <p:nvPr/>
        </p:nvCxnSpPr>
        <p:spPr>
          <a:xfrm rot="10800000" flipH="1">
            <a:off x="7311238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2" name="Google Shape;422;p44"/>
          <p:cNvSpPr txBox="1"/>
          <p:nvPr/>
        </p:nvSpPr>
        <p:spPr>
          <a:xfrm>
            <a:off x="8005550" y="3420500"/>
            <a:ext cx="70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  <p:cxnSp>
        <p:nvCxnSpPr>
          <p:cNvPr id="423" name="Google Shape;423;p44"/>
          <p:cNvCxnSpPr/>
          <p:nvPr/>
        </p:nvCxnSpPr>
        <p:spPr>
          <a:xfrm rot="10800000">
            <a:off x="1338825" y="4249225"/>
            <a:ext cx="0" cy="4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4" name="Google Shape;424;p44"/>
          <p:cNvSpPr txBox="1"/>
          <p:nvPr/>
        </p:nvSpPr>
        <p:spPr>
          <a:xfrm>
            <a:off x="1020050" y="469222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5" name="Google Shape;425;p44"/>
          <p:cNvSpPr txBox="1"/>
          <p:nvPr/>
        </p:nvSpPr>
        <p:spPr>
          <a:xfrm>
            <a:off x="807400" y="1331225"/>
            <a:ext cx="56382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node_t *p = head;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assert(p);           // null-&gt;next is illegal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while (p-&gt;next)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p = p-&gt;next;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p points to the tail.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6" name="Google Shape;426;p44"/>
          <p:cNvSpPr txBox="1"/>
          <p:nvPr/>
        </p:nvSpPr>
        <p:spPr>
          <a:xfrm>
            <a:off x="7464250" y="1288000"/>
            <a:ext cx="1424700" cy="6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 with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head-tail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doubly as well.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Insert at tail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3" name="Google Shape;433;p4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34" name="Google Shape;434;p45"/>
          <p:cNvGraphicFramePr/>
          <p:nvPr/>
        </p:nvGraphicFramePr>
        <p:xfrm>
          <a:off x="10287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5" name="Google Shape;435;p45"/>
          <p:cNvGraphicFramePr/>
          <p:nvPr/>
        </p:nvGraphicFramePr>
        <p:xfrm>
          <a:off x="24088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6" name="Google Shape;436;p45"/>
          <p:cNvGraphicFramePr/>
          <p:nvPr/>
        </p:nvGraphicFramePr>
        <p:xfrm>
          <a:off x="37889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7" name="Google Shape;437;p45"/>
          <p:cNvGraphicFramePr/>
          <p:nvPr/>
        </p:nvGraphicFramePr>
        <p:xfrm>
          <a:off x="51690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8" name="Google Shape;438;p45"/>
          <p:cNvGraphicFramePr/>
          <p:nvPr/>
        </p:nvGraphicFramePr>
        <p:xfrm>
          <a:off x="65491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39" name="Google Shape;439;p45"/>
          <p:cNvCxnSpPr/>
          <p:nvPr/>
        </p:nvCxnSpPr>
        <p:spPr>
          <a:xfrm rot="10800000" flipH="1">
            <a:off x="1785075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0" name="Google Shape;440;p45"/>
          <p:cNvCxnSpPr/>
          <p:nvPr/>
        </p:nvCxnSpPr>
        <p:spPr>
          <a:xfrm rot="10800000" flipH="1">
            <a:off x="31709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1" name="Google Shape;441;p45"/>
          <p:cNvCxnSpPr/>
          <p:nvPr/>
        </p:nvCxnSpPr>
        <p:spPr>
          <a:xfrm rot="10800000" flipH="1">
            <a:off x="4551050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2" name="Google Shape;442;p45"/>
          <p:cNvCxnSpPr/>
          <p:nvPr/>
        </p:nvCxnSpPr>
        <p:spPr>
          <a:xfrm rot="10800000" flipH="1">
            <a:off x="59311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3" name="Google Shape;443;p45"/>
          <p:cNvCxnSpPr/>
          <p:nvPr/>
        </p:nvCxnSpPr>
        <p:spPr>
          <a:xfrm rot="10800000" flipH="1">
            <a:off x="7311238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4" name="Google Shape;444;p45"/>
          <p:cNvSpPr txBox="1"/>
          <p:nvPr/>
        </p:nvSpPr>
        <p:spPr>
          <a:xfrm>
            <a:off x="8005550" y="3420500"/>
            <a:ext cx="70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  <p:cxnSp>
        <p:nvCxnSpPr>
          <p:cNvPr id="445" name="Google Shape;445;p45"/>
          <p:cNvCxnSpPr/>
          <p:nvPr/>
        </p:nvCxnSpPr>
        <p:spPr>
          <a:xfrm rot="10800000">
            <a:off x="1338825" y="4249225"/>
            <a:ext cx="0" cy="4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6" name="Google Shape;446;p45"/>
          <p:cNvSpPr txBox="1"/>
          <p:nvPr/>
        </p:nvSpPr>
        <p:spPr>
          <a:xfrm>
            <a:off x="1020050" y="469222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447" name="Google Shape;447;p45"/>
          <p:cNvGraphicFramePr/>
          <p:nvPr/>
        </p:nvGraphicFramePr>
        <p:xfrm>
          <a:off x="7913600" y="1439075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8" name="Google Shape;448;p45"/>
          <p:cNvSpPr txBox="1"/>
          <p:nvPr/>
        </p:nvSpPr>
        <p:spPr>
          <a:xfrm>
            <a:off x="807400" y="1331225"/>
            <a:ext cx="56382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node_t *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newtail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= malloc(sizeof(node_t));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newtail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&gt;data = value;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newtail-&gt;next = NULL;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get tail from iteration, or data structure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tail-&gt;next = newtail;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tail = newtail;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49" name="Google Shape;449;p45"/>
          <p:cNvCxnSpPr/>
          <p:nvPr/>
        </p:nvCxnSpPr>
        <p:spPr>
          <a:xfrm rot="10800000" flipH="1">
            <a:off x="7458675" y="1931125"/>
            <a:ext cx="418800" cy="2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0" name="Google Shape;450;p45"/>
          <p:cNvSpPr txBox="1"/>
          <p:nvPr/>
        </p:nvSpPr>
        <p:spPr>
          <a:xfrm>
            <a:off x="6947650" y="1945675"/>
            <a:ext cx="10059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newtail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1" name="Google Shape;451;p45"/>
          <p:cNvCxnSpPr/>
          <p:nvPr/>
        </p:nvCxnSpPr>
        <p:spPr>
          <a:xfrm rot="10800000">
            <a:off x="6867838" y="4249225"/>
            <a:ext cx="0" cy="4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2" name="Google Shape;452;p45"/>
          <p:cNvSpPr txBox="1"/>
          <p:nvPr/>
        </p:nvSpPr>
        <p:spPr>
          <a:xfrm>
            <a:off x="6549063" y="469222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tail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Insert at tail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9" name="Google Shape;459;p4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60" name="Google Shape;460;p46"/>
          <p:cNvGraphicFramePr/>
          <p:nvPr/>
        </p:nvGraphicFramePr>
        <p:xfrm>
          <a:off x="10287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1" name="Google Shape;461;p46"/>
          <p:cNvGraphicFramePr/>
          <p:nvPr/>
        </p:nvGraphicFramePr>
        <p:xfrm>
          <a:off x="24088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2" name="Google Shape;462;p46"/>
          <p:cNvGraphicFramePr/>
          <p:nvPr/>
        </p:nvGraphicFramePr>
        <p:xfrm>
          <a:off x="37889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3" name="Google Shape;463;p46"/>
          <p:cNvGraphicFramePr/>
          <p:nvPr/>
        </p:nvGraphicFramePr>
        <p:xfrm>
          <a:off x="51690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4" name="Google Shape;464;p46"/>
          <p:cNvGraphicFramePr/>
          <p:nvPr/>
        </p:nvGraphicFramePr>
        <p:xfrm>
          <a:off x="65491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65" name="Google Shape;465;p46"/>
          <p:cNvCxnSpPr/>
          <p:nvPr/>
        </p:nvCxnSpPr>
        <p:spPr>
          <a:xfrm rot="10800000" flipH="1">
            <a:off x="1785075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6" name="Google Shape;466;p46"/>
          <p:cNvCxnSpPr/>
          <p:nvPr/>
        </p:nvCxnSpPr>
        <p:spPr>
          <a:xfrm rot="10800000" flipH="1">
            <a:off x="31709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7" name="Google Shape;467;p46"/>
          <p:cNvCxnSpPr/>
          <p:nvPr/>
        </p:nvCxnSpPr>
        <p:spPr>
          <a:xfrm rot="10800000" flipH="1">
            <a:off x="4551050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8" name="Google Shape;468;p46"/>
          <p:cNvCxnSpPr/>
          <p:nvPr/>
        </p:nvCxnSpPr>
        <p:spPr>
          <a:xfrm rot="10800000" flipH="1">
            <a:off x="59311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9" name="Google Shape;469;p46"/>
          <p:cNvCxnSpPr/>
          <p:nvPr/>
        </p:nvCxnSpPr>
        <p:spPr>
          <a:xfrm rot="10800000" flipH="1">
            <a:off x="7311238" y="1918525"/>
            <a:ext cx="579600" cy="192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0" name="Google Shape;470;p46"/>
          <p:cNvSpPr txBox="1"/>
          <p:nvPr/>
        </p:nvSpPr>
        <p:spPr>
          <a:xfrm>
            <a:off x="8436100" y="2496025"/>
            <a:ext cx="70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  <p:cxnSp>
        <p:nvCxnSpPr>
          <p:cNvPr id="471" name="Google Shape;471;p46"/>
          <p:cNvCxnSpPr/>
          <p:nvPr/>
        </p:nvCxnSpPr>
        <p:spPr>
          <a:xfrm rot="10800000">
            <a:off x="1338825" y="4249225"/>
            <a:ext cx="0" cy="4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2" name="Google Shape;472;p46"/>
          <p:cNvSpPr txBox="1"/>
          <p:nvPr/>
        </p:nvSpPr>
        <p:spPr>
          <a:xfrm>
            <a:off x="1020050" y="469222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473" name="Google Shape;473;p46"/>
          <p:cNvGraphicFramePr/>
          <p:nvPr/>
        </p:nvGraphicFramePr>
        <p:xfrm>
          <a:off x="7913600" y="1439075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4" name="Google Shape;474;p46"/>
          <p:cNvSpPr txBox="1"/>
          <p:nvPr/>
        </p:nvSpPr>
        <p:spPr>
          <a:xfrm>
            <a:off x="807400" y="1331225"/>
            <a:ext cx="56382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node_t *</a:t>
            </a: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newtail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= malloc(sizeof(node_t));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newtail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&gt;data = value;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newtail-&gt;next = NULL;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get tail from iteration, or data structure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tail-&gt;next = newtail;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tail = newtail;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5" name="Google Shape;475;p46"/>
          <p:cNvCxnSpPr/>
          <p:nvPr/>
        </p:nvCxnSpPr>
        <p:spPr>
          <a:xfrm rot="10800000" flipH="1">
            <a:off x="7458675" y="1931125"/>
            <a:ext cx="418800" cy="2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6" name="Google Shape;476;p46"/>
          <p:cNvCxnSpPr/>
          <p:nvPr/>
        </p:nvCxnSpPr>
        <p:spPr>
          <a:xfrm rot="10800000">
            <a:off x="8217338" y="2385388"/>
            <a:ext cx="0" cy="4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7" name="Google Shape;477;p46"/>
          <p:cNvSpPr txBox="1"/>
          <p:nvPr/>
        </p:nvSpPr>
        <p:spPr>
          <a:xfrm>
            <a:off x="7898563" y="2752188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tail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8" name="Google Shape;478;p46"/>
          <p:cNvCxnSpPr>
            <a:endCxn id="470" idx="0"/>
          </p:cNvCxnSpPr>
          <p:nvPr/>
        </p:nvCxnSpPr>
        <p:spPr>
          <a:xfrm>
            <a:off x="8539000" y="2350825"/>
            <a:ext cx="247800" cy="14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9" name="Google Shape;479;p46"/>
          <p:cNvSpPr txBox="1"/>
          <p:nvPr/>
        </p:nvSpPr>
        <p:spPr>
          <a:xfrm>
            <a:off x="6947650" y="1945675"/>
            <a:ext cx="10059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newtail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Remove at tail</a:t>
            </a:r>
            <a:endParaRPr sz="1200"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6" name="Google Shape;486;p4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87" name="Google Shape;487;p47"/>
          <p:cNvGraphicFramePr/>
          <p:nvPr/>
        </p:nvGraphicFramePr>
        <p:xfrm>
          <a:off x="10287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8" name="Google Shape;488;p47"/>
          <p:cNvGraphicFramePr/>
          <p:nvPr/>
        </p:nvGraphicFramePr>
        <p:xfrm>
          <a:off x="24088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9" name="Google Shape;489;p47"/>
          <p:cNvGraphicFramePr/>
          <p:nvPr/>
        </p:nvGraphicFramePr>
        <p:xfrm>
          <a:off x="37889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0" name="Google Shape;490;p47"/>
          <p:cNvGraphicFramePr/>
          <p:nvPr/>
        </p:nvGraphicFramePr>
        <p:xfrm>
          <a:off x="51690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1" name="Google Shape;491;p47"/>
          <p:cNvGraphicFramePr/>
          <p:nvPr/>
        </p:nvGraphicFramePr>
        <p:xfrm>
          <a:off x="65491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92" name="Google Shape;492;p47"/>
          <p:cNvCxnSpPr/>
          <p:nvPr/>
        </p:nvCxnSpPr>
        <p:spPr>
          <a:xfrm rot="10800000" flipH="1">
            <a:off x="1785075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3" name="Google Shape;493;p47"/>
          <p:cNvCxnSpPr/>
          <p:nvPr/>
        </p:nvCxnSpPr>
        <p:spPr>
          <a:xfrm rot="10800000" flipH="1">
            <a:off x="31709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4" name="Google Shape;494;p47"/>
          <p:cNvCxnSpPr/>
          <p:nvPr/>
        </p:nvCxnSpPr>
        <p:spPr>
          <a:xfrm rot="10800000" flipH="1">
            <a:off x="4551050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5" name="Google Shape;495;p47"/>
          <p:cNvCxnSpPr/>
          <p:nvPr/>
        </p:nvCxnSpPr>
        <p:spPr>
          <a:xfrm rot="10800000" flipH="1">
            <a:off x="59311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6" name="Google Shape;496;p47"/>
          <p:cNvCxnSpPr/>
          <p:nvPr/>
        </p:nvCxnSpPr>
        <p:spPr>
          <a:xfrm rot="10800000" flipH="1">
            <a:off x="7311238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7" name="Google Shape;497;p47"/>
          <p:cNvSpPr txBox="1"/>
          <p:nvPr/>
        </p:nvSpPr>
        <p:spPr>
          <a:xfrm>
            <a:off x="8005550" y="3420500"/>
            <a:ext cx="70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  <p:cxnSp>
        <p:nvCxnSpPr>
          <p:cNvPr id="498" name="Google Shape;498;p47"/>
          <p:cNvCxnSpPr/>
          <p:nvPr/>
        </p:nvCxnSpPr>
        <p:spPr>
          <a:xfrm rot="10800000">
            <a:off x="1338825" y="4249225"/>
            <a:ext cx="0" cy="4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9" name="Google Shape;499;p47"/>
          <p:cNvSpPr txBox="1"/>
          <p:nvPr/>
        </p:nvSpPr>
        <p:spPr>
          <a:xfrm>
            <a:off x="1020050" y="469222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0" name="Google Shape;500;p47"/>
          <p:cNvSpPr txBox="1"/>
          <p:nvPr/>
        </p:nvSpPr>
        <p:spPr>
          <a:xfrm>
            <a:off x="950825" y="1331225"/>
            <a:ext cx="56382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free(tail)?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01" name="Google Shape;501;p47"/>
          <p:cNvCxnSpPr/>
          <p:nvPr/>
        </p:nvCxnSpPr>
        <p:spPr>
          <a:xfrm rot="10800000">
            <a:off x="6867838" y="4249225"/>
            <a:ext cx="0" cy="4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2" name="Google Shape;502;p47"/>
          <p:cNvSpPr txBox="1"/>
          <p:nvPr/>
        </p:nvSpPr>
        <p:spPr>
          <a:xfrm>
            <a:off x="6549063" y="469222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tail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Remove at tail</a:t>
            </a:r>
            <a:endParaRPr sz="1200"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10" name="Google Shape;510;p48"/>
          <p:cNvGraphicFramePr/>
          <p:nvPr/>
        </p:nvGraphicFramePr>
        <p:xfrm>
          <a:off x="10287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1" name="Google Shape;511;p48"/>
          <p:cNvGraphicFramePr/>
          <p:nvPr/>
        </p:nvGraphicFramePr>
        <p:xfrm>
          <a:off x="24088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2" name="Google Shape;512;p48"/>
          <p:cNvGraphicFramePr/>
          <p:nvPr/>
        </p:nvGraphicFramePr>
        <p:xfrm>
          <a:off x="37889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3" name="Google Shape;513;p48"/>
          <p:cNvGraphicFramePr/>
          <p:nvPr/>
        </p:nvGraphicFramePr>
        <p:xfrm>
          <a:off x="51690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14" name="Google Shape;514;p48"/>
          <p:cNvCxnSpPr/>
          <p:nvPr/>
        </p:nvCxnSpPr>
        <p:spPr>
          <a:xfrm rot="10800000" flipH="1">
            <a:off x="1785075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5" name="Google Shape;515;p48"/>
          <p:cNvCxnSpPr/>
          <p:nvPr/>
        </p:nvCxnSpPr>
        <p:spPr>
          <a:xfrm rot="10800000" flipH="1">
            <a:off x="31709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6" name="Google Shape;516;p48"/>
          <p:cNvCxnSpPr/>
          <p:nvPr/>
        </p:nvCxnSpPr>
        <p:spPr>
          <a:xfrm rot="10800000" flipH="1">
            <a:off x="4551050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7" name="Google Shape;517;p48"/>
          <p:cNvCxnSpPr/>
          <p:nvPr/>
        </p:nvCxnSpPr>
        <p:spPr>
          <a:xfrm rot="10800000" flipH="1">
            <a:off x="59311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8" name="Google Shape;518;p48"/>
          <p:cNvCxnSpPr/>
          <p:nvPr/>
        </p:nvCxnSpPr>
        <p:spPr>
          <a:xfrm rot="10800000">
            <a:off x="1338825" y="4249225"/>
            <a:ext cx="0" cy="4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9" name="Google Shape;519;p48"/>
          <p:cNvSpPr txBox="1"/>
          <p:nvPr/>
        </p:nvSpPr>
        <p:spPr>
          <a:xfrm>
            <a:off x="1020050" y="469222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0" name="Google Shape;520;p48"/>
          <p:cNvSpPr txBox="1"/>
          <p:nvPr/>
        </p:nvSpPr>
        <p:spPr>
          <a:xfrm>
            <a:off x="950825" y="1331225"/>
            <a:ext cx="56382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free(tail);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1" name="Google Shape;521;p48"/>
          <p:cNvSpPr txBox="1"/>
          <p:nvPr/>
        </p:nvSpPr>
        <p:spPr>
          <a:xfrm>
            <a:off x="6674475" y="4139875"/>
            <a:ext cx="18447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(garbage)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(it has a garbage collector)</a:t>
            </a:r>
            <a:endParaRPr sz="900"/>
          </a:p>
        </p:txBody>
      </p:sp>
      <p:pic>
        <p:nvPicPr>
          <p:cNvPr id="522" name="Google Shape;52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301" y="2901799"/>
            <a:ext cx="639645" cy="1170001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8"/>
          <p:cNvSpPr txBox="1"/>
          <p:nvPr/>
        </p:nvSpPr>
        <p:spPr>
          <a:xfrm>
            <a:off x="2039675" y="2273025"/>
            <a:ext cx="36990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Need to set   second_last-&gt;next = NULL;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=&gt; will be O(n) using a singly linked list.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Remove at tail</a:t>
            </a:r>
            <a:endParaRPr sz="1200"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0" name="Google Shape;530;p4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31" name="Google Shape;531;p49"/>
          <p:cNvGraphicFramePr/>
          <p:nvPr/>
        </p:nvGraphicFramePr>
        <p:xfrm>
          <a:off x="1409700" y="2672550"/>
          <a:ext cx="754425" cy="1375275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prev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2" name="Google Shape;532;p49"/>
          <p:cNvGraphicFramePr/>
          <p:nvPr/>
        </p:nvGraphicFramePr>
        <p:xfrm>
          <a:off x="2789800" y="2672550"/>
          <a:ext cx="754425" cy="1375275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prev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3" name="Google Shape;533;p49"/>
          <p:cNvGraphicFramePr/>
          <p:nvPr/>
        </p:nvGraphicFramePr>
        <p:xfrm>
          <a:off x="4169900" y="2672550"/>
          <a:ext cx="754425" cy="1375275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prev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4" name="Google Shape;534;p49"/>
          <p:cNvGraphicFramePr/>
          <p:nvPr/>
        </p:nvGraphicFramePr>
        <p:xfrm>
          <a:off x="5550000" y="2672550"/>
          <a:ext cx="754425" cy="1375275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prev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5" name="Google Shape;535;p49"/>
          <p:cNvGraphicFramePr/>
          <p:nvPr/>
        </p:nvGraphicFramePr>
        <p:xfrm>
          <a:off x="6930100" y="2672550"/>
          <a:ext cx="754425" cy="1375275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prev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36" name="Google Shape;536;p49"/>
          <p:cNvCxnSpPr/>
          <p:nvPr/>
        </p:nvCxnSpPr>
        <p:spPr>
          <a:xfrm rot="10800000" flipH="1">
            <a:off x="2166075" y="34857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7" name="Google Shape;537;p49"/>
          <p:cNvCxnSpPr/>
          <p:nvPr/>
        </p:nvCxnSpPr>
        <p:spPr>
          <a:xfrm rot="10800000" flipH="1">
            <a:off x="3551963" y="34857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8" name="Google Shape;538;p49"/>
          <p:cNvCxnSpPr/>
          <p:nvPr/>
        </p:nvCxnSpPr>
        <p:spPr>
          <a:xfrm rot="10800000" flipH="1">
            <a:off x="4932050" y="34857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9" name="Google Shape;539;p49"/>
          <p:cNvCxnSpPr/>
          <p:nvPr/>
        </p:nvCxnSpPr>
        <p:spPr>
          <a:xfrm rot="10800000" flipH="1">
            <a:off x="6312163" y="34857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0" name="Google Shape;540;p49"/>
          <p:cNvCxnSpPr/>
          <p:nvPr/>
        </p:nvCxnSpPr>
        <p:spPr>
          <a:xfrm rot="10800000" flipH="1">
            <a:off x="7692238" y="34857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1" name="Google Shape;541;p49"/>
          <p:cNvSpPr txBox="1"/>
          <p:nvPr/>
        </p:nvSpPr>
        <p:spPr>
          <a:xfrm>
            <a:off x="8386550" y="3268100"/>
            <a:ext cx="70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  <p:cxnSp>
        <p:nvCxnSpPr>
          <p:cNvPr id="542" name="Google Shape;542;p49"/>
          <p:cNvCxnSpPr/>
          <p:nvPr/>
        </p:nvCxnSpPr>
        <p:spPr>
          <a:xfrm rot="10800000">
            <a:off x="1719825" y="4173025"/>
            <a:ext cx="0" cy="4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3" name="Google Shape;543;p49"/>
          <p:cNvSpPr txBox="1"/>
          <p:nvPr/>
        </p:nvSpPr>
        <p:spPr>
          <a:xfrm>
            <a:off x="1401050" y="461602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4" name="Google Shape;544;p49"/>
          <p:cNvCxnSpPr/>
          <p:nvPr/>
        </p:nvCxnSpPr>
        <p:spPr>
          <a:xfrm rot="10800000">
            <a:off x="7248838" y="4173025"/>
            <a:ext cx="0" cy="4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5" name="Google Shape;545;p49"/>
          <p:cNvSpPr txBox="1"/>
          <p:nvPr/>
        </p:nvSpPr>
        <p:spPr>
          <a:xfrm>
            <a:off x="6930063" y="461602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tail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6" name="Google Shape;546;p49"/>
          <p:cNvCxnSpPr/>
          <p:nvPr/>
        </p:nvCxnSpPr>
        <p:spPr>
          <a:xfrm flipH="1">
            <a:off x="2129675" y="3015975"/>
            <a:ext cx="648900" cy="21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7" name="Google Shape;547;p49"/>
          <p:cNvCxnSpPr/>
          <p:nvPr/>
        </p:nvCxnSpPr>
        <p:spPr>
          <a:xfrm flipH="1">
            <a:off x="3532613" y="3015975"/>
            <a:ext cx="648900" cy="21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8" name="Google Shape;548;p49"/>
          <p:cNvCxnSpPr/>
          <p:nvPr/>
        </p:nvCxnSpPr>
        <p:spPr>
          <a:xfrm flipH="1">
            <a:off x="4893338" y="3015975"/>
            <a:ext cx="648900" cy="21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9" name="Google Shape;549;p49"/>
          <p:cNvCxnSpPr/>
          <p:nvPr/>
        </p:nvCxnSpPr>
        <p:spPr>
          <a:xfrm flipH="1">
            <a:off x="6315638" y="3015975"/>
            <a:ext cx="648900" cy="21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0" name="Google Shape;550;p49"/>
          <p:cNvCxnSpPr/>
          <p:nvPr/>
        </p:nvCxnSpPr>
        <p:spPr>
          <a:xfrm flipH="1">
            <a:off x="791775" y="3015975"/>
            <a:ext cx="648900" cy="21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1" name="Google Shape;551;p49"/>
          <p:cNvSpPr txBox="1"/>
          <p:nvPr/>
        </p:nvSpPr>
        <p:spPr>
          <a:xfrm>
            <a:off x="311225" y="3268100"/>
            <a:ext cx="70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Linked List types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9" name="Google Shape;559;p5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0" name="Google Shape;56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10300"/>
            <a:ext cx="5065449" cy="13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325" y="2355975"/>
            <a:ext cx="5082212" cy="13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526" y="3673575"/>
            <a:ext cx="5200624" cy="1413879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50"/>
          <p:cNvSpPr txBox="1"/>
          <p:nvPr/>
        </p:nvSpPr>
        <p:spPr>
          <a:xfrm>
            <a:off x="5959150" y="1395225"/>
            <a:ext cx="2702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Singly Linked List (Head only)</a:t>
            </a:r>
            <a:endParaRPr/>
          </a:p>
        </p:txBody>
      </p:sp>
      <p:sp>
        <p:nvSpPr>
          <p:cNvPr id="564" name="Google Shape;564;p50"/>
          <p:cNvSpPr txBox="1"/>
          <p:nvPr/>
        </p:nvSpPr>
        <p:spPr>
          <a:xfrm>
            <a:off x="6029375" y="2677775"/>
            <a:ext cx="2702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Singly Linked List (Head &amp; Tail)</a:t>
            </a:r>
            <a:endParaRPr/>
          </a:p>
        </p:txBody>
      </p:sp>
      <p:sp>
        <p:nvSpPr>
          <p:cNvPr id="565" name="Google Shape;565;p50"/>
          <p:cNvSpPr txBox="1"/>
          <p:nvPr/>
        </p:nvSpPr>
        <p:spPr>
          <a:xfrm>
            <a:off x="6033650" y="4013425"/>
            <a:ext cx="29265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Doubly Linked List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Linked List types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2" name="Google Shape;572;p5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73" name="Google Shape;573;p51"/>
          <p:cNvGraphicFramePr/>
          <p:nvPr/>
        </p:nvGraphicFramePr>
        <p:xfrm>
          <a:off x="268275" y="1222950"/>
          <a:ext cx="8520575" cy="353544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158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Operation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Array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Singly head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Singly head/tail</a:t>
                      </a:r>
                      <a:endParaRPr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Doubly</a:t>
                      </a:r>
                      <a:endParaRPr b="1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Insert at head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O(n)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Delete at head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O(n)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Insert at tail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 or</a:t>
                      </a:r>
                      <a:r>
                        <a:rPr lang="en-GB">
                          <a:solidFill>
                            <a:srgbClr val="FF0000"/>
                          </a:solidFill>
                        </a:rPr>
                        <a:t> O(n) [resize]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O(n)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FF"/>
                          </a:solidFill>
                        </a:rPr>
                        <a:t>O(1)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FF"/>
                          </a:solidFill>
                        </a:rPr>
                        <a:t>O(1)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Delete at tail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O(n)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O(n)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FF"/>
                          </a:solidFill>
                        </a:rPr>
                        <a:t>O(1)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Search for data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O(n) </a:t>
                      </a:r>
                      <a:r>
                        <a:rPr lang="en-GB"/>
                        <a:t>unsorted</a:t>
                      </a:r>
                      <a:br>
                        <a:rPr lang="en-GB"/>
                      </a:br>
                      <a:r>
                        <a:rPr lang="en-GB"/>
                        <a:t>O(log n) sorted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O(n)</a:t>
                      </a:r>
                      <a:r>
                        <a:rPr lang="en-GB"/>
                        <a:t> avg/worst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O(n) </a:t>
                      </a:r>
                      <a:r>
                        <a:rPr lang="en-GB"/>
                        <a:t>avg/worst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O(n) </a:t>
                      </a:r>
                      <a:r>
                        <a:rPr lang="en-GB"/>
                        <a:t>avg/worst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space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 * sizeof(data) + 4 (store length)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 x sizeof(data) + 8(n+1)</a:t>
                      </a:r>
                      <a:endParaRPr sz="12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 x sizeof(data) + 8(n+</a:t>
                      </a:r>
                      <a:r>
                        <a:rPr lang="en-GB" sz="1200">
                          <a:solidFill>
                            <a:srgbClr val="B45F06"/>
                          </a:solidFill>
                        </a:rPr>
                        <a:t>2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 x sizeof(data) + 8(</a:t>
                      </a:r>
                      <a:r>
                        <a:rPr lang="en-GB" sz="120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n+</a:t>
                      </a:r>
                      <a:r>
                        <a:rPr lang="en-GB" sz="1200">
                          <a:solidFill>
                            <a:srgbClr val="B45F06"/>
                          </a:solidFill>
                        </a:rPr>
                        <a:t>2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200 ints (size=4)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804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2048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2416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4016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90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9" name="Google Shape;579;p5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Linked List     (Singly, head only)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1" name="Google Shape;581;p5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2" name="Google Shape;58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630774" cy="1464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3" name="Google Shape;583;p52"/>
          <p:cNvGraphicFramePr/>
          <p:nvPr/>
        </p:nvGraphicFramePr>
        <p:xfrm>
          <a:off x="6083400" y="1165250"/>
          <a:ext cx="2881550" cy="259062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14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Operation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Complexity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Insert at head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Delete at head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Insert at tail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O(n)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Delete at tail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O(n)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Search for data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 best</a:t>
                      </a:r>
                      <a:br>
                        <a:rPr lang="en-GB"/>
                      </a:br>
                      <a:r>
                        <a:rPr lang="en-GB">
                          <a:solidFill>
                            <a:srgbClr val="FF0000"/>
                          </a:solidFill>
                        </a:rPr>
                        <a:t>O(n)</a:t>
                      </a:r>
                      <a:r>
                        <a:rPr lang="en-GB"/>
                        <a:t> avg/worst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4" name="Google Shape;584;p52"/>
          <p:cNvSpPr txBox="1">
            <a:spLocks noGrp="1"/>
          </p:cNvSpPr>
          <p:nvPr>
            <p:ph type="body" idx="1"/>
          </p:nvPr>
        </p:nvSpPr>
        <p:spPr>
          <a:xfrm>
            <a:off x="311700" y="2600275"/>
            <a:ext cx="45870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int data_t;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node node_t;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node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data_t data;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node_t *next;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node_t list_t; // “head”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5" name="Google Shape;585;p52"/>
          <p:cNvSpPr txBox="1"/>
          <p:nvPr/>
        </p:nvSpPr>
        <p:spPr>
          <a:xfrm>
            <a:off x="6006150" y="4727750"/>
            <a:ext cx="31308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improve?</a:t>
            </a:r>
            <a:endParaRPr/>
          </a:p>
        </p:txBody>
      </p:sp>
      <p:sp>
        <p:nvSpPr>
          <p:cNvPr id="586" name="Google Shape;586;p52"/>
          <p:cNvSpPr txBox="1"/>
          <p:nvPr/>
        </p:nvSpPr>
        <p:spPr>
          <a:xfrm>
            <a:off x="6093600" y="3736800"/>
            <a:ext cx="2955900" cy="9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Space:  n x sizeof(data)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+ 8 x n   (next pointers)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+ 8         (head pointer)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= n x sizeof(data) + 8(n+1)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90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2" name="Google Shape;592;p5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Linked List     (Singly, head &amp; tail)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4" name="Google Shape;594;p5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5" name="Google Shape;59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630774" cy="1464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96" name="Google Shape;596;p53"/>
          <p:cNvGraphicFramePr/>
          <p:nvPr/>
        </p:nvGraphicFramePr>
        <p:xfrm>
          <a:off x="6083400" y="1182975"/>
          <a:ext cx="2881550" cy="259062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14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Operation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Complexity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Insert at head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Delete at head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Insert at tail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FF"/>
                          </a:solidFill>
                        </a:rPr>
                        <a:t>O(1)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Delete at tail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O(n)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Search for data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 best</a:t>
                      </a:r>
                      <a:br>
                        <a:rPr lang="en-GB"/>
                      </a:br>
                      <a:r>
                        <a:rPr lang="en-GB">
                          <a:solidFill>
                            <a:srgbClr val="FF0000"/>
                          </a:solidFill>
                        </a:rPr>
                        <a:t>O(n) </a:t>
                      </a:r>
                      <a:r>
                        <a:rPr lang="en-GB"/>
                        <a:t>avg/worst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97" name="Google Shape;597;p53"/>
          <p:cNvSpPr txBox="1">
            <a:spLocks noGrp="1"/>
          </p:cNvSpPr>
          <p:nvPr>
            <p:ph type="body" idx="1"/>
          </p:nvPr>
        </p:nvSpPr>
        <p:spPr>
          <a:xfrm>
            <a:off x="311700" y="2981275"/>
            <a:ext cx="45870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typedef int data_t;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typedef struct node node_t;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struct node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    data_t data;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    node_t *next;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98" name="Google Shape;59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82975"/>
            <a:ext cx="5649407" cy="14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53"/>
          <p:cNvSpPr txBox="1"/>
          <p:nvPr/>
        </p:nvSpPr>
        <p:spPr>
          <a:xfrm>
            <a:off x="3072000" y="3339500"/>
            <a:ext cx="3000000" cy="1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node_t *head;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node_t *tail;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 list_t;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0" name="Google Shape;600;p53"/>
          <p:cNvSpPr txBox="1"/>
          <p:nvPr/>
        </p:nvSpPr>
        <p:spPr>
          <a:xfrm>
            <a:off x="6006150" y="4727750"/>
            <a:ext cx="31308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improve?</a:t>
            </a:r>
            <a:endParaRPr/>
          </a:p>
        </p:txBody>
      </p:sp>
      <p:sp>
        <p:nvSpPr>
          <p:cNvPr id="601" name="Google Shape;601;p53"/>
          <p:cNvSpPr txBox="1"/>
          <p:nvPr/>
        </p:nvSpPr>
        <p:spPr>
          <a:xfrm>
            <a:off x="6093600" y="3736800"/>
            <a:ext cx="2955900" cy="9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Space:  n x sizeof(data)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+ 8 x n   (next pointers)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+ 8 x </a:t>
            </a:r>
            <a:r>
              <a:rPr lang="en-GB">
                <a:solidFill>
                  <a:srgbClr val="FF0000"/>
                </a:solidFill>
              </a:rPr>
              <a:t>2</a:t>
            </a:r>
            <a:r>
              <a:rPr lang="en-GB"/>
              <a:t>   (head, </a:t>
            </a:r>
            <a:r>
              <a:rPr lang="en-GB">
                <a:solidFill>
                  <a:srgbClr val="FF0000"/>
                </a:solidFill>
              </a:rPr>
              <a:t>tail</a:t>
            </a:r>
            <a:r>
              <a:rPr lang="en-GB"/>
              <a:t>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= n x sizeof(data) + 8(n+</a:t>
            </a:r>
            <a:r>
              <a:rPr lang="en-GB">
                <a:solidFill>
                  <a:srgbClr val="FF0000"/>
                </a:solidFill>
              </a:rPr>
              <a:t>2</a:t>
            </a:r>
            <a:r>
              <a:rPr lang="en-GB"/>
              <a:t>)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Doubly Linked List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8" name="Google Shape;608;p5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09" name="Google Shape;609;p54"/>
          <p:cNvGraphicFramePr/>
          <p:nvPr/>
        </p:nvGraphicFramePr>
        <p:xfrm>
          <a:off x="6083400" y="1176375"/>
          <a:ext cx="2881550" cy="259062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14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Operation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Complexity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Insert at head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Delete at head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Insert at tail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FF"/>
                          </a:solidFill>
                        </a:rPr>
                        <a:t>O(1)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Delete at tail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FF"/>
                          </a:solidFill>
                        </a:rPr>
                        <a:t>O(1)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Search for data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O(1) best</a:t>
                      </a:r>
                      <a:br>
                        <a:rPr lang="en-GB"/>
                      </a:br>
                      <a:r>
                        <a:rPr lang="en-GB">
                          <a:solidFill>
                            <a:srgbClr val="FF0000"/>
                          </a:solidFill>
                        </a:rPr>
                        <a:t>O(n) </a:t>
                      </a:r>
                      <a:r>
                        <a:rPr lang="en-GB"/>
                        <a:t>avg/worst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10" name="Google Shape;610;p54"/>
          <p:cNvSpPr txBox="1">
            <a:spLocks noGrp="1"/>
          </p:cNvSpPr>
          <p:nvPr>
            <p:ph type="body" idx="1"/>
          </p:nvPr>
        </p:nvSpPr>
        <p:spPr>
          <a:xfrm>
            <a:off x="311700" y="2905075"/>
            <a:ext cx="45870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typedef int data_t;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typedef struct node node_t;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struct node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    data_t data;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node_t *prev;</a:t>
            </a:r>
            <a:endParaRPr sz="13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    node_t *next;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11" name="Google Shape;61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00" y="1176375"/>
            <a:ext cx="5735248" cy="1559226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4"/>
          <p:cNvSpPr txBox="1"/>
          <p:nvPr/>
        </p:nvSpPr>
        <p:spPr>
          <a:xfrm>
            <a:off x="3072000" y="3339500"/>
            <a:ext cx="3000000" cy="1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node_t *head;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node_t *tail;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 list_t;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3" name="Google Shape;613;p54"/>
          <p:cNvSpPr txBox="1"/>
          <p:nvPr/>
        </p:nvSpPr>
        <p:spPr>
          <a:xfrm>
            <a:off x="6093600" y="3736800"/>
            <a:ext cx="3050400" cy="9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Space:  n x sizeof(data)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+ 8 x n </a:t>
            </a:r>
            <a:r>
              <a:rPr lang="en-GB">
                <a:solidFill>
                  <a:srgbClr val="FF0000"/>
                </a:solidFill>
              </a:rPr>
              <a:t>x 2</a:t>
            </a:r>
            <a:r>
              <a:rPr lang="en-GB"/>
              <a:t>  (next, </a:t>
            </a:r>
            <a:r>
              <a:rPr lang="en-GB">
                <a:solidFill>
                  <a:srgbClr val="FF0000"/>
                </a:solidFill>
              </a:rPr>
              <a:t>prev</a:t>
            </a:r>
            <a:r>
              <a:rPr lang="en-GB"/>
              <a:t>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+ 8 x 2   (head, tail)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= n x sizeof(data) + 8(</a:t>
            </a:r>
            <a:r>
              <a:rPr lang="en-GB">
                <a:solidFill>
                  <a:srgbClr val="FF0000"/>
                </a:solidFill>
              </a:rPr>
              <a:t>2</a:t>
            </a:r>
            <a:r>
              <a:rPr lang="en-GB"/>
              <a:t>n+2)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200 ints = 200x4 + 8x402 = </a:t>
            </a:r>
            <a:r>
              <a:rPr lang="en-GB" b="1">
                <a:solidFill>
                  <a:srgbClr val="FF0000"/>
                </a:solidFill>
              </a:rPr>
              <a:t>4016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Array of 200 ints:  200x4 = </a:t>
            </a:r>
            <a:r>
              <a:rPr lang="en-GB" b="1" u="sng">
                <a:solidFill>
                  <a:srgbClr val="6AA84F"/>
                </a:solidFill>
              </a:rPr>
              <a:t>800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5"/>
          <p:cNvSpPr txBox="1"/>
          <p:nvPr/>
        </p:nvSpPr>
        <p:spPr>
          <a:xfrm>
            <a:off x="209200" y="1816650"/>
            <a:ext cx="5209800" cy="27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Space:  n x sizeof(data)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+ 8 x n </a:t>
            </a:r>
            <a:r>
              <a:rPr lang="en-GB">
                <a:solidFill>
                  <a:srgbClr val="FF0000"/>
                </a:solidFill>
              </a:rPr>
              <a:t>x 2</a:t>
            </a:r>
            <a:r>
              <a:rPr lang="en-GB"/>
              <a:t>  (next, </a:t>
            </a:r>
            <a:r>
              <a:rPr lang="en-GB">
                <a:solidFill>
                  <a:srgbClr val="FF0000"/>
                </a:solidFill>
              </a:rPr>
              <a:t>prev</a:t>
            </a:r>
            <a:r>
              <a:rPr lang="en-GB"/>
              <a:t>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+ 8 x 2   (head, tail)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= n x sizeof(data) + 8(</a:t>
            </a:r>
            <a:r>
              <a:rPr lang="en-GB">
                <a:solidFill>
                  <a:srgbClr val="FF0000"/>
                </a:solidFill>
              </a:rPr>
              <a:t>2</a:t>
            </a:r>
            <a:r>
              <a:rPr lang="en-GB"/>
              <a:t>n+2)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200 ints = 200x4 + 8x402 = </a:t>
            </a:r>
            <a:r>
              <a:rPr lang="en-GB" b="1">
                <a:solidFill>
                  <a:srgbClr val="FF0000"/>
                </a:solidFill>
              </a:rPr>
              <a:t>4016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Array of 200 ints:  200x4 = </a:t>
            </a:r>
            <a:r>
              <a:rPr lang="en-GB" b="1" u="sng">
                <a:solidFill>
                  <a:srgbClr val="6AA84F"/>
                </a:solidFill>
              </a:rPr>
              <a:t>800</a:t>
            </a:r>
            <a:r>
              <a:rPr lang="en-GB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200 structs, sizeof(struct) = 5120 B (5 KB)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Linked list:  200x5120 + 8x402 = </a:t>
            </a:r>
            <a:r>
              <a:rPr lang="en-GB" b="1">
                <a:solidFill>
                  <a:srgbClr val="3C78D8"/>
                </a:solidFill>
              </a:rPr>
              <a:t>1027216 B  (~0.980 MB)</a:t>
            </a:r>
            <a:endParaRPr>
              <a:solidFill>
                <a:srgbClr val="3C78D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Array:         200x5120               = </a:t>
            </a:r>
            <a:r>
              <a:rPr lang="en-GB" b="1">
                <a:solidFill>
                  <a:srgbClr val="3C78D8"/>
                </a:solidFill>
              </a:rPr>
              <a:t>1024000 B  (~0.977 MB)</a:t>
            </a:r>
            <a:endParaRPr b="1">
              <a:solidFill>
                <a:srgbClr val="3C78D8"/>
              </a:solidFill>
            </a:endParaRPr>
          </a:p>
        </p:txBody>
      </p:sp>
      <p:sp>
        <p:nvSpPr>
          <p:cNvPr id="619" name="Google Shape;619;p55"/>
          <p:cNvSpPr txBox="1"/>
          <p:nvPr/>
        </p:nvSpPr>
        <p:spPr>
          <a:xfrm>
            <a:off x="209200" y="1102025"/>
            <a:ext cx="4034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the space complexity is so bad, why use it?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Searching Linked Lists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6" name="Google Shape;626;p5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7" name="Google Shape;62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04975"/>
            <a:ext cx="8667649" cy="2356449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56"/>
          <p:cNvSpPr txBox="1"/>
          <p:nvPr/>
        </p:nvSpPr>
        <p:spPr>
          <a:xfrm>
            <a:off x="585000" y="3916250"/>
            <a:ext cx="37704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access the n/2th element?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5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Searching Linked Lists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5" name="Google Shape;635;p5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6" name="Google Shape;63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04975"/>
            <a:ext cx="8667649" cy="235644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57"/>
          <p:cNvSpPr txBox="1"/>
          <p:nvPr/>
        </p:nvSpPr>
        <p:spPr>
          <a:xfrm>
            <a:off x="585000" y="3916250"/>
            <a:ext cx="37704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access the n/2th element?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</a:t>
            </a:r>
            <a:r>
              <a:rPr lang="en-GB" b="1"/>
              <a:t>random access</a:t>
            </a:r>
            <a:r>
              <a:rPr lang="en-GB"/>
              <a:t> in linked lists.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Array: A[n/2].</a:t>
            </a:r>
            <a:endParaRPr/>
          </a:p>
        </p:txBody>
      </p:sp>
      <p:sp>
        <p:nvSpPr>
          <p:cNvPr id="638" name="Google Shape;638;p57"/>
          <p:cNvSpPr txBox="1"/>
          <p:nvPr/>
        </p:nvSpPr>
        <p:spPr>
          <a:xfrm>
            <a:off x="3881950" y="3760525"/>
            <a:ext cx="40530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O(n) (ac, wc) for: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Searching for an item in list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Accessing / adding / replacing / removing item at random index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Linked list traversal  (To kth element)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5" name="Google Shape;645;p5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46" name="Google Shape;646;p58"/>
          <p:cNvGraphicFramePr/>
          <p:nvPr/>
        </p:nvGraphicFramePr>
        <p:xfrm>
          <a:off x="10287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7" name="Google Shape;647;p58"/>
          <p:cNvGraphicFramePr/>
          <p:nvPr/>
        </p:nvGraphicFramePr>
        <p:xfrm>
          <a:off x="24088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8" name="Google Shape;648;p58"/>
          <p:cNvGraphicFramePr/>
          <p:nvPr/>
        </p:nvGraphicFramePr>
        <p:xfrm>
          <a:off x="37889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9" name="Google Shape;649;p58"/>
          <p:cNvGraphicFramePr/>
          <p:nvPr/>
        </p:nvGraphicFramePr>
        <p:xfrm>
          <a:off x="51690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50" name="Google Shape;650;p58"/>
          <p:cNvGraphicFramePr/>
          <p:nvPr/>
        </p:nvGraphicFramePr>
        <p:xfrm>
          <a:off x="65491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51" name="Google Shape;651;p58"/>
          <p:cNvCxnSpPr/>
          <p:nvPr/>
        </p:nvCxnSpPr>
        <p:spPr>
          <a:xfrm rot="10800000" flipH="1">
            <a:off x="1785075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2" name="Google Shape;652;p58"/>
          <p:cNvCxnSpPr/>
          <p:nvPr/>
        </p:nvCxnSpPr>
        <p:spPr>
          <a:xfrm rot="10800000" flipH="1">
            <a:off x="31709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3" name="Google Shape;653;p58"/>
          <p:cNvCxnSpPr/>
          <p:nvPr/>
        </p:nvCxnSpPr>
        <p:spPr>
          <a:xfrm rot="10800000" flipH="1">
            <a:off x="4551050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4" name="Google Shape;654;p58"/>
          <p:cNvCxnSpPr/>
          <p:nvPr/>
        </p:nvCxnSpPr>
        <p:spPr>
          <a:xfrm rot="10800000" flipH="1">
            <a:off x="59311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5" name="Google Shape;655;p58"/>
          <p:cNvCxnSpPr/>
          <p:nvPr/>
        </p:nvCxnSpPr>
        <p:spPr>
          <a:xfrm rot="10800000" flipH="1">
            <a:off x="7311238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6" name="Google Shape;656;p58"/>
          <p:cNvSpPr txBox="1"/>
          <p:nvPr/>
        </p:nvSpPr>
        <p:spPr>
          <a:xfrm>
            <a:off x="8005550" y="3420500"/>
            <a:ext cx="70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  <p:cxnSp>
        <p:nvCxnSpPr>
          <p:cNvPr id="657" name="Google Shape;657;p58"/>
          <p:cNvCxnSpPr/>
          <p:nvPr/>
        </p:nvCxnSpPr>
        <p:spPr>
          <a:xfrm rot="10800000">
            <a:off x="1338825" y="4249225"/>
            <a:ext cx="0" cy="4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8" name="Google Shape;658;p58"/>
          <p:cNvSpPr txBox="1"/>
          <p:nvPr/>
        </p:nvSpPr>
        <p:spPr>
          <a:xfrm>
            <a:off x="1020050" y="469222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9" name="Google Shape;659;p58"/>
          <p:cNvSpPr txBox="1"/>
          <p:nvPr/>
        </p:nvSpPr>
        <p:spPr>
          <a:xfrm>
            <a:off x="807400" y="1331225"/>
            <a:ext cx="56382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node_t *p = head;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assert(p);           // null-&gt;next is illegal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int i =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while (p &amp;&amp; i++ != k)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p = p-&gt;next;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p points to kth element   (i - 1th element)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return 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0" name="Google Shape;660;p58"/>
          <p:cNvSpPr txBox="1"/>
          <p:nvPr/>
        </p:nvSpPr>
        <p:spPr>
          <a:xfrm>
            <a:off x="7464250" y="1288000"/>
            <a:ext cx="1424700" cy="6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 with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head-tail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doubly as well.</a:t>
            </a:r>
            <a:endParaRPr/>
          </a:p>
        </p:txBody>
      </p:sp>
      <p:sp>
        <p:nvSpPr>
          <p:cNvPr id="661" name="Google Shape;661;p58"/>
          <p:cNvSpPr txBox="1"/>
          <p:nvPr/>
        </p:nvSpPr>
        <p:spPr>
          <a:xfrm>
            <a:off x="5151050" y="2126100"/>
            <a:ext cx="1659300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O(n)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Linked list search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8" name="Google Shape;668;p5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69" name="Google Shape;669;p59"/>
          <p:cNvGraphicFramePr/>
          <p:nvPr/>
        </p:nvGraphicFramePr>
        <p:xfrm>
          <a:off x="10287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6D9EE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70" name="Google Shape;670;p59"/>
          <p:cNvGraphicFramePr/>
          <p:nvPr/>
        </p:nvGraphicFramePr>
        <p:xfrm>
          <a:off x="24088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71" name="Google Shape;671;p59"/>
          <p:cNvGraphicFramePr/>
          <p:nvPr/>
        </p:nvGraphicFramePr>
        <p:xfrm>
          <a:off x="37889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72" name="Google Shape;672;p59"/>
          <p:cNvGraphicFramePr/>
          <p:nvPr/>
        </p:nvGraphicFramePr>
        <p:xfrm>
          <a:off x="51690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73" name="Google Shape;673;p59"/>
          <p:cNvGraphicFramePr/>
          <p:nvPr/>
        </p:nvGraphicFramePr>
        <p:xfrm>
          <a:off x="6549100" y="3205950"/>
          <a:ext cx="754425" cy="91685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75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99999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6D9EE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</a:t>
                      </a:r>
                      <a:endParaRPr>
                        <a:solidFill>
                          <a:srgbClr val="99999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74" name="Google Shape;674;p59"/>
          <p:cNvCxnSpPr/>
          <p:nvPr/>
        </p:nvCxnSpPr>
        <p:spPr>
          <a:xfrm rot="10800000" flipH="1">
            <a:off x="1785075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5" name="Google Shape;675;p59"/>
          <p:cNvCxnSpPr/>
          <p:nvPr/>
        </p:nvCxnSpPr>
        <p:spPr>
          <a:xfrm rot="10800000" flipH="1">
            <a:off x="31709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6" name="Google Shape;676;p59"/>
          <p:cNvCxnSpPr/>
          <p:nvPr/>
        </p:nvCxnSpPr>
        <p:spPr>
          <a:xfrm rot="10800000" flipH="1">
            <a:off x="4551050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7" name="Google Shape;677;p59"/>
          <p:cNvCxnSpPr/>
          <p:nvPr/>
        </p:nvCxnSpPr>
        <p:spPr>
          <a:xfrm rot="10800000" flipH="1">
            <a:off x="5931163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8" name="Google Shape;678;p59"/>
          <p:cNvCxnSpPr/>
          <p:nvPr/>
        </p:nvCxnSpPr>
        <p:spPr>
          <a:xfrm rot="10800000" flipH="1">
            <a:off x="7311238" y="3638125"/>
            <a:ext cx="61020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9" name="Google Shape;679;p59"/>
          <p:cNvSpPr txBox="1"/>
          <p:nvPr/>
        </p:nvSpPr>
        <p:spPr>
          <a:xfrm>
            <a:off x="8005550" y="3420500"/>
            <a:ext cx="7014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NULL</a:t>
            </a:r>
            <a:endParaRPr/>
          </a:p>
        </p:txBody>
      </p:sp>
      <p:cxnSp>
        <p:nvCxnSpPr>
          <p:cNvPr id="680" name="Google Shape;680;p59"/>
          <p:cNvCxnSpPr/>
          <p:nvPr/>
        </p:nvCxnSpPr>
        <p:spPr>
          <a:xfrm rot="10800000">
            <a:off x="1338825" y="4249225"/>
            <a:ext cx="0" cy="4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1" name="Google Shape;681;p59"/>
          <p:cNvSpPr txBox="1"/>
          <p:nvPr/>
        </p:nvSpPr>
        <p:spPr>
          <a:xfrm>
            <a:off x="1020050" y="4692225"/>
            <a:ext cx="7545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D9EEB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endParaRPr>
              <a:solidFill>
                <a:srgbClr val="6D9EE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2" name="Google Shape;682;p59"/>
          <p:cNvSpPr txBox="1"/>
          <p:nvPr/>
        </p:nvSpPr>
        <p:spPr>
          <a:xfrm>
            <a:off x="807400" y="1331225"/>
            <a:ext cx="56382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node_t *p = head;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assert(p);           // null-&gt;next is illegal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int i =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while (p &amp;&amp; p-&gt;data != target)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p = p-&gt;next;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p points to target, or NULL.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return 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3" name="Google Shape;683;p59"/>
          <p:cNvSpPr txBox="1"/>
          <p:nvPr/>
        </p:nvSpPr>
        <p:spPr>
          <a:xfrm>
            <a:off x="7464250" y="1288000"/>
            <a:ext cx="1424700" cy="6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 with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head-tail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doubly as well.</a:t>
            </a:r>
            <a:endParaRPr/>
          </a:p>
        </p:txBody>
      </p:sp>
      <p:sp>
        <p:nvSpPr>
          <p:cNvPr id="684" name="Google Shape;684;p59"/>
          <p:cNvSpPr txBox="1"/>
          <p:nvPr/>
        </p:nvSpPr>
        <p:spPr>
          <a:xfrm>
            <a:off x="5151050" y="2126100"/>
            <a:ext cx="1659300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O(n)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Linked Lists vs Arrays Summary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91" name="Google Shape;691;p6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60"/>
          <p:cNvSpPr txBox="1"/>
          <p:nvPr/>
        </p:nvSpPr>
        <p:spPr>
          <a:xfrm>
            <a:off x="346100" y="1250175"/>
            <a:ext cx="85206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 arrays for: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-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Randomly accessing items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-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Binary search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-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Quicksort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-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Fast iteration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 Linked Lists for: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-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Adding lists together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-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Adding / removing items from start / end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-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Mergesort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7" name="Google Shape;697;p61"/>
          <p:cNvGraphicFramePr/>
          <p:nvPr/>
        </p:nvGraphicFramePr>
        <p:xfrm>
          <a:off x="140425" y="36800"/>
          <a:ext cx="8882900" cy="499118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229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Array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Linked List (singly)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Doubly</a:t>
                      </a:r>
                      <a:endParaRPr sz="13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at head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add at head</a:t>
                      </a:r>
                      <a:endParaRPr sz="130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at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append</a:t>
                      </a:r>
                      <a:br>
                        <a:rPr lang="en-GB" sz="1300"/>
                      </a:br>
                      <a:r>
                        <a:rPr lang="en-GB" sz="1300"/>
                        <a:t>O(n) sometimes (realloc)</a:t>
                      </a:r>
                      <a:endParaRPr sz="130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need to traverse list to end (singly, head only)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add at tail  (singly, head &amp; tail; or doubly)</a:t>
                      </a:r>
                      <a:endParaRPr sz="130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random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no random access, traverse the list</a:t>
                      </a:r>
                      <a:endParaRPr sz="130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at head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delete head</a:t>
                      </a:r>
                      <a:endParaRPr sz="130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at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need to update 2nd last element’s next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update tail.prev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random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no random access, traverse the list</a:t>
                      </a:r>
                      <a:endParaRPr sz="130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Replace / Access random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A[i] = x</a:t>
                      </a:r>
                      <a:endParaRPr sz="130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no random access, traverse the list</a:t>
                      </a:r>
                      <a:endParaRPr sz="130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Search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linear (unsorted)</a:t>
                      </a:r>
                      <a:br>
                        <a:rPr lang="en-GB" sz="1300"/>
                      </a:br>
                      <a:r>
                        <a:rPr lang="en-GB" sz="1300"/>
                        <a:t>O(log n) binary (sorted)</a:t>
                      </a:r>
                      <a:endParaRPr sz="130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 can only search linearly</a:t>
                      </a:r>
                      <a:endParaRPr sz="130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Memory   </a:t>
                      </a:r>
                      <a:r>
                        <a:rPr lang="en-GB" sz="1300"/>
                        <a:t>s = sizeof(data)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Less   n x s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More   n x s + 8 (n + (1 or 2))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Morer  n x s + 8 (2n + 2)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Use for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Random access</a:t>
                      </a:r>
                      <a:br>
                        <a:rPr lang="en-GB" sz="1300"/>
                      </a:br>
                      <a:r>
                        <a:rPr lang="en-GB" sz="1300"/>
                        <a:t>Fast sorted search</a:t>
                      </a:r>
                      <a:endParaRPr sz="130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Fast insert/delete at head and tail</a:t>
                      </a:r>
                      <a:br>
                        <a:rPr lang="en-GB" sz="1300"/>
                      </a:br>
                      <a:r>
                        <a:rPr lang="en-GB" sz="1300"/>
                        <a:t>No random access</a:t>
                      </a:r>
                      <a:endParaRPr sz="130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2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62"/>
          <p:cNvSpPr txBox="1">
            <a:spLocks noGrp="1"/>
          </p:cNvSpPr>
          <p:nvPr>
            <p:ph type="title"/>
          </p:nvPr>
        </p:nvSpPr>
        <p:spPr>
          <a:xfrm>
            <a:off x="311700" y="3493025"/>
            <a:ext cx="8901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</a:rPr>
              <a:t>Stacks &amp; Queues:</a:t>
            </a:r>
            <a:br>
              <a:rPr lang="en-GB" sz="4800">
                <a:solidFill>
                  <a:srgbClr val="FFFFFF"/>
                </a:solidFill>
              </a:rPr>
            </a:br>
            <a:r>
              <a:rPr lang="en-GB" sz="4800">
                <a:solidFill>
                  <a:srgbClr val="FFFFFF"/>
                </a:solidFill>
              </a:rPr>
              <a:t>Implementation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6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Stack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10" name="Google Shape;710;p6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63"/>
          <p:cNvSpPr txBox="1"/>
          <p:nvPr/>
        </p:nvSpPr>
        <p:spPr>
          <a:xfrm>
            <a:off x="346100" y="1402575"/>
            <a:ext cx="85206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Last in, First out  (LIFO)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1"/>
              <a:t>push</a:t>
            </a:r>
            <a:r>
              <a:rPr lang="en-GB" sz="2200"/>
              <a:t>(data)  -- add to top of stack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1"/>
              <a:t>pop</a:t>
            </a:r>
            <a:r>
              <a:rPr lang="en-GB" sz="2200" i="1"/>
              <a:t>()  </a:t>
            </a:r>
            <a:r>
              <a:rPr lang="en-GB" sz="2200"/>
              <a:t>-- remove from top of stack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>
              <a:solidFill>
                <a:schemeClr val="dk1"/>
              </a:solidFill>
            </a:endParaRPr>
          </a:p>
        </p:txBody>
      </p:sp>
      <p:pic>
        <p:nvPicPr>
          <p:cNvPr id="712" name="Google Shape;712;p63"/>
          <p:cNvPicPr preferRelativeResize="0"/>
          <p:nvPr/>
        </p:nvPicPr>
        <p:blipFill rotWithShape="1">
          <a:blip r:embed="rId3">
            <a:alphaModFix/>
          </a:blip>
          <a:srcRect l="3744" t="12543" r="56767" b="14873"/>
          <a:stretch/>
        </p:blipFill>
        <p:spPr>
          <a:xfrm>
            <a:off x="5986400" y="1304975"/>
            <a:ext cx="1967225" cy="15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63"/>
          <p:cNvSpPr txBox="1"/>
          <p:nvPr/>
        </p:nvSpPr>
        <p:spPr>
          <a:xfrm>
            <a:off x="5763975" y="1518500"/>
            <a:ext cx="9042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push(d)</a:t>
            </a:r>
            <a:endParaRPr/>
          </a:p>
        </p:txBody>
      </p:sp>
      <p:sp>
        <p:nvSpPr>
          <p:cNvPr id="714" name="Google Shape;714;p63"/>
          <p:cNvSpPr txBox="1"/>
          <p:nvPr/>
        </p:nvSpPr>
        <p:spPr>
          <a:xfrm>
            <a:off x="7418100" y="1518500"/>
            <a:ext cx="9042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 = pop()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4"/>
          <p:cNvSpPr txBox="1"/>
          <p:nvPr/>
        </p:nvSpPr>
        <p:spPr>
          <a:xfrm>
            <a:off x="346100" y="1402575"/>
            <a:ext cx="85206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First in, First out  (FIFO)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1">
                <a:solidFill>
                  <a:schemeClr val="dk1"/>
                </a:solidFill>
              </a:rPr>
              <a:t>enqueue</a:t>
            </a:r>
            <a:r>
              <a:rPr lang="en-GB" sz="2200">
                <a:solidFill>
                  <a:schemeClr val="dk1"/>
                </a:solidFill>
              </a:rPr>
              <a:t>(data)  -- add to back of queue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1">
                <a:solidFill>
                  <a:schemeClr val="dk1"/>
                </a:solidFill>
              </a:rPr>
              <a:t>dequeue</a:t>
            </a:r>
            <a:r>
              <a:rPr lang="en-GB" sz="2200" i="1">
                <a:solidFill>
                  <a:schemeClr val="dk1"/>
                </a:solidFill>
              </a:rPr>
              <a:t>()  </a:t>
            </a:r>
            <a:r>
              <a:rPr lang="en-GB" sz="2200">
                <a:solidFill>
                  <a:schemeClr val="dk1"/>
                </a:solidFill>
              </a:rPr>
              <a:t>-- remove from front of queue</a:t>
            </a:r>
            <a:endParaRPr sz="2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>
              <a:solidFill>
                <a:schemeClr val="dk1"/>
              </a:solidFill>
            </a:endParaRPr>
          </a:p>
        </p:txBody>
      </p:sp>
      <p:pic>
        <p:nvPicPr>
          <p:cNvPr id="720" name="Google Shape;720;p64"/>
          <p:cNvPicPr preferRelativeResize="0"/>
          <p:nvPr/>
        </p:nvPicPr>
        <p:blipFill rotWithShape="1">
          <a:blip r:embed="rId3">
            <a:alphaModFix/>
          </a:blip>
          <a:srcRect l="60510" t="18033"/>
          <a:stretch/>
        </p:blipFill>
        <p:spPr>
          <a:xfrm>
            <a:off x="5786242" y="1337225"/>
            <a:ext cx="1967225" cy="1780075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6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Queue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23" name="Google Shape;723;p6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64"/>
          <p:cNvSpPr txBox="1"/>
          <p:nvPr/>
        </p:nvSpPr>
        <p:spPr>
          <a:xfrm>
            <a:off x="5414625" y="1549300"/>
            <a:ext cx="12534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enqueue(d)</a:t>
            </a:r>
            <a:endParaRPr/>
          </a:p>
        </p:txBody>
      </p:sp>
      <p:sp>
        <p:nvSpPr>
          <p:cNvPr id="725" name="Google Shape;725;p64"/>
          <p:cNvSpPr txBox="1"/>
          <p:nvPr/>
        </p:nvSpPr>
        <p:spPr>
          <a:xfrm>
            <a:off x="7490000" y="2554450"/>
            <a:ext cx="13767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 = dequeue()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Stacks &amp; Queues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32" name="Google Shape;732;p6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65"/>
          <p:cNvSpPr txBox="1"/>
          <p:nvPr/>
        </p:nvSpPr>
        <p:spPr>
          <a:xfrm>
            <a:off x="346100" y="1402575"/>
            <a:ext cx="85206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Stack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	</a:t>
            </a:r>
            <a:r>
              <a:rPr lang="en-GB" sz="1600"/>
              <a:t>Last in, First out  (LIFO)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        </a:t>
            </a:r>
            <a:r>
              <a:rPr lang="en-GB" sz="1600" b="1" i="1"/>
              <a:t>push</a:t>
            </a:r>
            <a:r>
              <a:rPr lang="en-GB" sz="1600"/>
              <a:t>(data)  -- add to top of stack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        </a:t>
            </a:r>
            <a:r>
              <a:rPr lang="en-GB" sz="1600" b="1" i="1"/>
              <a:t>pop</a:t>
            </a:r>
            <a:r>
              <a:rPr lang="en-GB" sz="1600" i="1"/>
              <a:t>()  </a:t>
            </a:r>
            <a:r>
              <a:rPr lang="en-GB" sz="1600"/>
              <a:t>-- remove from top of stack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</a:rPr>
              <a:t>Queue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</a:rPr>
              <a:t>	</a:t>
            </a:r>
            <a:r>
              <a:rPr lang="en-GB" sz="1600">
                <a:solidFill>
                  <a:schemeClr val="dk1"/>
                </a:solidFill>
              </a:rPr>
              <a:t>First in, First out  (FIFO)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        </a:t>
            </a:r>
            <a:r>
              <a:rPr lang="en-GB" sz="1600" b="1" i="1">
                <a:solidFill>
                  <a:schemeClr val="dk1"/>
                </a:solidFill>
              </a:rPr>
              <a:t>enqueue</a:t>
            </a:r>
            <a:r>
              <a:rPr lang="en-GB" sz="1600">
                <a:solidFill>
                  <a:schemeClr val="dk1"/>
                </a:solidFill>
              </a:rPr>
              <a:t>(data)  -- add to back of queue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    </a:t>
            </a:r>
            <a:r>
              <a:rPr lang="en-GB" sz="1600" b="1" i="1">
                <a:solidFill>
                  <a:schemeClr val="dk1"/>
                </a:solidFill>
              </a:rPr>
              <a:t>dequeue</a:t>
            </a:r>
            <a:r>
              <a:rPr lang="en-GB" sz="1600" i="1">
                <a:solidFill>
                  <a:schemeClr val="dk1"/>
                </a:solidFill>
              </a:rPr>
              <a:t>()  </a:t>
            </a:r>
            <a:r>
              <a:rPr lang="en-GB" sz="1600">
                <a:solidFill>
                  <a:schemeClr val="dk1"/>
                </a:solidFill>
              </a:rPr>
              <a:t>-- remove from front of queue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How to implement these ADTs with a data structure?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It would be nice to have these as O(1) operations.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734" name="Google Shape;734;p65"/>
          <p:cNvPicPr preferRelativeResize="0"/>
          <p:nvPr/>
        </p:nvPicPr>
        <p:blipFill rotWithShape="1">
          <a:blip r:embed="rId3">
            <a:alphaModFix/>
          </a:blip>
          <a:srcRect l="3744" t="12543" r="56767" b="14873"/>
          <a:stretch/>
        </p:blipFill>
        <p:spPr>
          <a:xfrm>
            <a:off x="5986400" y="1304975"/>
            <a:ext cx="1967225" cy="15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65"/>
          <p:cNvPicPr preferRelativeResize="0"/>
          <p:nvPr/>
        </p:nvPicPr>
        <p:blipFill rotWithShape="1">
          <a:blip r:embed="rId3">
            <a:alphaModFix/>
          </a:blip>
          <a:srcRect l="60510" t="18033"/>
          <a:stretch/>
        </p:blipFill>
        <p:spPr>
          <a:xfrm>
            <a:off x="5786242" y="3042750"/>
            <a:ext cx="1967225" cy="1780075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65"/>
          <p:cNvSpPr txBox="1"/>
          <p:nvPr/>
        </p:nvSpPr>
        <p:spPr>
          <a:xfrm>
            <a:off x="5763975" y="1518500"/>
            <a:ext cx="9042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push(d)</a:t>
            </a:r>
            <a:endParaRPr/>
          </a:p>
        </p:txBody>
      </p:sp>
      <p:sp>
        <p:nvSpPr>
          <p:cNvPr id="737" name="Google Shape;737;p65"/>
          <p:cNvSpPr txBox="1"/>
          <p:nvPr/>
        </p:nvSpPr>
        <p:spPr>
          <a:xfrm>
            <a:off x="7418100" y="1518500"/>
            <a:ext cx="9042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 = pop()</a:t>
            </a:r>
            <a:endParaRPr/>
          </a:p>
        </p:txBody>
      </p:sp>
      <p:sp>
        <p:nvSpPr>
          <p:cNvPr id="738" name="Google Shape;738;p65"/>
          <p:cNvSpPr txBox="1"/>
          <p:nvPr/>
        </p:nvSpPr>
        <p:spPr>
          <a:xfrm>
            <a:off x="5414625" y="3320975"/>
            <a:ext cx="12534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enqueue(d)</a:t>
            </a:r>
            <a:endParaRPr/>
          </a:p>
        </p:txBody>
      </p:sp>
      <p:sp>
        <p:nvSpPr>
          <p:cNvPr id="739" name="Google Shape;739;p65"/>
          <p:cNvSpPr txBox="1"/>
          <p:nvPr/>
        </p:nvSpPr>
        <p:spPr>
          <a:xfrm>
            <a:off x="7490000" y="4326125"/>
            <a:ext cx="13767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 = dequeue()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Stack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6" name="Google Shape;746;p6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66"/>
          <p:cNvSpPr txBox="1"/>
          <p:nvPr/>
        </p:nvSpPr>
        <p:spPr>
          <a:xfrm>
            <a:off x="346100" y="1250175"/>
            <a:ext cx="85206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Stack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	</a:t>
            </a:r>
            <a:r>
              <a:rPr lang="en-GB" sz="1600"/>
              <a:t>Last in, First out  (LIFO)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        </a:t>
            </a:r>
            <a:r>
              <a:rPr lang="en-GB" sz="1600" b="1" i="1"/>
              <a:t>push</a:t>
            </a:r>
            <a:r>
              <a:rPr lang="en-GB" sz="1600"/>
              <a:t>(data)  -- add to top of stack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        </a:t>
            </a:r>
            <a:r>
              <a:rPr lang="en-GB" sz="1600" b="1" i="1"/>
              <a:t>pop</a:t>
            </a:r>
            <a:r>
              <a:rPr lang="en-GB" sz="1600" i="1"/>
              <a:t>()  </a:t>
            </a:r>
            <a:r>
              <a:rPr lang="en-GB" sz="1600"/>
              <a:t>-- remove from top of stack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pic>
        <p:nvPicPr>
          <p:cNvPr id="748" name="Google Shape;748;p66"/>
          <p:cNvPicPr preferRelativeResize="0"/>
          <p:nvPr/>
        </p:nvPicPr>
        <p:blipFill rotWithShape="1">
          <a:blip r:embed="rId3">
            <a:alphaModFix/>
          </a:blip>
          <a:srcRect l="3744" t="12543" r="56767" b="14873"/>
          <a:stretch/>
        </p:blipFill>
        <p:spPr>
          <a:xfrm>
            <a:off x="7302650" y="1181875"/>
            <a:ext cx="1529643" cy="12257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9" name="Google Shape;749;p66"/>
          <p:cNvGraphicFramePr/>
          <p:nvPr/>
        </p:nvGraphicFramePr>
        <p:xfrm>
          <a:off x="130700" y="2571750"/>
          <a:ext cx="8869250" cy="249918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14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Array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Linked List; head only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head &amp;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doubly</a:t>
                      </a:r>
                      <a:endParaRPr sz="13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at head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traverse head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at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append</a:t>
                      </a:r>
                      <a:br>
                        <a:rPr lang="en-GB" sz="1300"/>
                      </a:br>
                      <a:r>
                        <a:rPr lang="en-GB" sz="1300"/>
                        <a:t>O(n) sometimes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O(n) -- no tail pointer, need to traverse list.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O(1) -- traverse tail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at head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traverse head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at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need to update 2nd last element’s next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O(1) -- tail.prev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Memory (ints)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Best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Worse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Worser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Worst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50" name="Google Shape;750;p66"/>
          <p:cNvSpPr txBox="1"/>
          <p:nvPr/>
        </p:nvSpPr>
        <p:spPr>
          <a:xfrm>
            <a:off x="4504125" y="1420200"/>
            <a:ext cx="23592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Which data structure gives optimal time complexity?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Stack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7" name="Google Shape;757;p6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67"/>
          <p:cNvSpPr txBox="1"/>
          <p:nvPr/>
        </p:nvSpPr>
        <p:spPr>
          <a:xfrm>
            <a:off x="346100" y="1250175"/>
            <a:ext cx="85206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Stack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	</a:t>
            </a:r>
            <a:r>
              <a:rPr lang="en-GB" sz="1600"/>
              <a:t>Last in, First out  (LIFO)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        </a:t>
            </a:r>
            <a:r>
              <a:rPr lang="en-GB" sz="1600" b="1" i="1"/>
              <a:t>push</a:t>
            </a:r>
            <a:r>
              <a:rPr lang="en-GB" sz="1600"/>
              <a:t>(data)  -- add to top of stack     (insert at head)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        </a:t>
            </a:r>
            <a:r>
              <a:rPr lang="en-GB" sz="1600" b="1" i="1"/>
              <a:t>pop</a:t>
            </a:r>
            <a:r>
              <a:rPr lang="en-GB" sz="1600" i="1"/>
              <a:t>()  </a:t>
            </a:r>
            <a:r>
              <a:rPr lang="en-GB" sz="1600"/>
              <a:t>-- remove from top of stack    (delete at head)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pic>
        <p:nvPicPr>
          <p:cNvPr id="759" name="Google Shape;759;p67"/>
          <p:cNvPicPr preferRelativeResize="0"/>
          <p:nvPr/>
        </p:nvPicPr>
        <p:blipFill rotWithShape="1">
          <a:blip r:embed="rId3">
            <a:alphaModFix/>
          </a:blip>
          <a:srcRect l="3744" t="12543" r="56767" b="14873"/>
          <a:stretch/>
        </p:blipFill>
        <p:spPr>
          <a:xfrm>
            <a:off x="5767825" y="1181875"/>
            <a:ext cx="1529643" cy="12257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60" name="Google Shape;760;p67"/>
          <p:cNvGraphicFramePr/>
          <p:nvPr/>
        </p:nvGraphicFramePr>
        <p:xfrm>
          <a:off x="130700" y="2571750"/>
          <a:ext cx="8869250" cy="249918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14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Array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Linked List; head only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head &amp;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doubly</a:t>
                      </a:r>
                      <a:endParaRPr sz="13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at head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traverse head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at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append</a:t>
                      </a:r>
                      <a:br>
                        <a:rPr lang="en-GB" sz="1300"/>
                      </a:br>
                      <a:r>
                        <a:rPr lang="en-GB" sz="1300"/>
                        <a:t>O(n) sometimes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O(n) -- no tail pointer, need to traverse list.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O(1) -- traverse tail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at head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traverse head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at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need to update 2nd last element’s next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O(1) -- tail.prev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Memory (ints)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Best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Worse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Worser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Worst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Stack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7" name="Google Shape;767;p6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68"/>
          <p:cNvSpPr txBox="1"/>
          <p:nvPr/>
        </p:nvSpPr>
        <p:spPr>
          <a:xfrm>
            <a:off x="346100" y="1250175"/>
            <a:ext cx="85206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Stack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/>
              <a:t>	</a:t>
            </a:r>
            <a:r>
              <a:rPr lang="en-GB" sz="1600"/>
              <a:t>Last in, First out  (LIFO)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        </a:t>
            </a:r>
            <a:r>
              <a:rPr lang="en-GB" sz="1600" b="1" i="1"/>
              <a:t>push</a:t>
            </a:r>
            <a:r>
              <a:rPr lang="en-GB" sz="1600"/>
              <a:t>(data)  -- add to top of stack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        </a:t>
            </a:r>
            <a:r>
              <a:rPr lang="en-GB" sz="1600" b="1" i="1"/>
              <a:t>pop</a:t>
            </a:r>
            <a:r>
              <a:rPr lang="en-GB" sz="1600" i="1"/>
              <a:t>()  </a:t>
            </a:r>
            <a:r>
              <a:rPr lang="en-GB" sz="1600"/>
              <a:t>-- remove from top of stack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pic>
        <p:nvPicPr>
          <p:cNvPr id="769" name="Google Shape;769;p68"/>
          <p:cNvPicPr preferRelativeResize="0"/>
          <p:nvPr/>
        </p:nvPicPr>
        <p:blipFill rotWithShape="1">
          <a:blip r:embed="rId3">
            <a:alphaModFix/>
          </a:blip>
          <a:srcRect l="3744" t="12543" r="56767" b="14873"/>
          <a:stretch/>
        </p:blipFill>
        <p:spPr>
          <a:xfrm>
            <a:off x="5767825" y="1181875"/>
            <a:ext cx="1529643" cy="12257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70" name="Google Shape;770;p68"/>
          <p:cNvGraphicFramePr/>
          <p:nvPr/>
        </p:nvGraphicFramePr>
        <p:xfrm>
          <a:off x="130700" y="2571750"/>
          <a:ext cx="8869250" cy="249918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14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Array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Linked List; head only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head &amp;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doubly</a:t>
                      </a:r>
                      <a:endParaRPr sz="13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at head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traverse head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at tail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append</a:t>
                      </a:r>
                      <a:br>
                        <a:rPr lang="en-GB" sz="1300"/>
                      </a:br>
                      <a:r>
                        <a:rPr lang="en-GB" sz="1300"/>
                        <a:t>O(n) sometimes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O(n) -- no tail pointer, need to traverse list.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O(1) -- traverse tail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at head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traverse head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at tail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need to update 2nd last element’s next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O(1) -- tail.prev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Memory (ints)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Best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Worse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Worser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Worst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71" name="Google Shape;771;p68"/>
          <p:cNvSpPr txBox="1"/>
          <p:nvPr/>
        </p:nvSpPr>
        <p:spPr>
          <a:xfrm>
            <a:off x="4289675" y="1702200"/>
            <a:ext cx="17031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/>
              <a:t>Arrays are fine for stacks of constant / maximum size</a:t>
            </a:r>
            <a:endParaRPr i="1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Queue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8" name="Google Shape;778;p6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69"/>
          <p:cNvSpPr txBox="1"/>
          <p:nvPr/>
        </p:nvSpPr>
        <p:spPr>
          <a:xfrm>
            <a:off x="346100" y="1250175"/>
            <a:ext cx="85206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</a:rPr>
              <a:t>Queue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</a:rPr>
              <a:t>	</a:t>
            </a:r>
            <a:r>
              <a:rPr lang="en-GB" sz="1600">
                <a:solidFill>
                  <a:schemeClr val="dk1"/>
                </a:solidFill>
              </a:rPr>
              <a:t>First in, First out  (FIFO)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    </a:t>
            </a:r>
            <a:r>
              <a:rPr lang="en-GB" sz="1600" b="1" i="1">
                <a:solidFill>
                  <a:schemeClr val="dk1"/>
                </a:solidFill>
              </a:rPr>
              <a:t>enqueue</a:t>
            </a:r>
            <a:r>
              <a:rPr lang="en-GB" sz="1600">
                <a:solidFill>
                  <a:schemeClr val="dk1"/>
                </a:solidFill>
              </a:rPr>
              <a:t>(data)  -- add to back of queue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    </a:t>
            </a:r>
            <a:r>
              <a:rPr lang="en-GB" sz="1600" b="1" i="1">
                <a:solidFill>
                  <a:schemeClr val="dk1"/>
                </a:solidFill>
              </a:rPr>
              <a:t>dequeue</a:t>
            </a:r>
            <a:r>
              <a:rPr lang="en-GB" sz="1600" i="1">
                <a:solidFill>
                  <a:schemeClr val="dk1"/>
                </a:solidFill>
              </a:rPr>
              <a:t>()  </a:t>
            </a:r>
            <a:r>
              <a:rPr lang="en-GB" sz="1600">
                <a:solidFill>
                  <a:schemeClr val="dk1"/>
                </a:solidFill>
              </a:rPr>
              <a:t>-- remove from front of queue</a:t>
            </a:r>
            <a:endParaRPr sz="1600" b="1"/>
          </a:p>
        </p:txBody>
      </p:sp>
      <p:graphicFrame>
        <p:nvGraphicFramePr>
          <p:cNvPr id="780" name="Google Shape;780;p69"/>
          <p:cNvGraphicFramePr/>
          <p:nvPr/>
        </p:nvGraphicFramePr>
        <p:xfrm>
          <a:off x="130700" y="2571750"/>
          <a:ext cx="8869250" cy="249918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14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Array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Linked List; head only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head &amp;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doubly</a:t>
                      </a:r>
                      <a:endParaRPr sz="13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at head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traverse head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at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append</a:t>
                      </a:r>
                      <a:br>
                        <a:rPr lang="en-GB" sz="1300"/>
                      </a:br>
                      <a:r>
                        <a:rPr lang="en-GB" sz="1300"/>
                        <a:t>O(n) sometimes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O(n) -- no tail pointer, need to traverse list.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O(1) -- traverse tail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at head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traverse head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at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need to update 2nd last element’s next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O(1) -- tail.prev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Memory (ints)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Best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Worse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Worser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Worst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1" name="Google Shape;781;p69"/>
          <p:cNvSpPr txBox="1"/>
          <p:nvPr/>
        </p:nvSpPr>
        <p:spPr>
          <a:xfrm>
            <a:off x="4706175" y="1944175"/>
            <a:ext cx="1347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to use?</a:t>
            </a:r>
            <a:endParaRPr/>
          </a:p>
        </p:txBody>
      </p:sp>
      <p:pic>
        <p:nvPicPr>
          <p:cNvPr id="782" name="Google Shape;782;p69"/>
          <p:cNvPicPr preferRelativeResize="0"/>
          <p:nvPr/>
        </p:nvPicPr>
        <p:blipFill rotWithShape="1">
          <a:blip r:embed="rId3">
            <a:alphaModFix/>
          </a:blip>
          <a:srcRect l="60510" t="18033"/>
          <a:stretch/>
        </p:blipFill>
        <p:spPr>
          <a:xfrm>
            <a:off x="6111698" y="1174550"/>
            <a:ext cx="1523975" cy="137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Queue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9" name="Google Shape;789;p7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70"/>
          <p:cNvSpPr txBox="1"/>
          <p:nvPr/>
        </p:nvSpPr>
        <p:spPr>
          <a:xfrm>
            <a:off x="346100" y="1250175"/>
            <a:ext cx="85206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</a:rPr>
              <a:t>Queue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</a:rPr>
              <a:t>	</a:t>
            </a:r>
            <a:r>
              <a:rPr lang="en-GB" sz="1600">
                <a:solidFill>
                  <a:schemeClr val="dk1"/>
                </a:solidFill>
              </a:rPr>
              <a:t>First in, First out  (FIFO)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    </a:t>
            </a:r>
            <a:r>
              <a:rPr lang="en-GB" sz="1600" b="1" i="1">
                <a:solidFill>
                  <a:schemeClr val="dk1"/>
                </a:solidFill>
              </a:rPr>
              <a:t>enqueue</a:t>
            </a:r>
            <a:r>
              <a:rPr lang="en-GB" sz="1600">
                <a:solidFill>
                  <a:schemeClr val="dk1"/>
                </a:solidFill>
              </a:rPr>
              <a:t>(data)  -- add to back of queue   (front of list)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    </a:t>
            </a:r>
            <a:r>
              <a:rPr lang="en-GB" sz="1600" b="1" i="1">
                <a:solidFill>
                  <a:schemeClr val="dk1"/>
                </a:solidFill>
              </a:rPr>
              <a:t>dequeue</a:t>
            </a:r>
            <a:r>
              <a:rPr lang="en-GB" sz="1600" i="1">
                <a:solidFill>
                  <a:schemeClr val="dk1"/>
                </a:solidFill>
              </a:rPr>
              <a:t>()  </a:t>
            </a:r>
            <a:r>
              <a:rPr lang="en-GB" sz="1600">
                <a:solidFill>
                  <a:schemeClr val="dk1"/>
                </a:solidFill>
              </a:rPr>
              <a:t>-- remove from front of queue   (back of list)</a:t>
            </a:r>
            <a:endParaRPr sz="1600" b="1"/>
          </a:p>
        </p:txBody>
      </p:sp>
      <p:graphicFrame>
        <p:nvGraphicFramePr>
          <p:cNvPr id="791" name="Google Shape;791;p70"/>
          <p:cNvGraphicFramePr/>
          <p:nvPr/>
        </p:nvGraphicFramePr>
        <p:xfrm>
          <a:off x="130700" y="2571750"/>
          <a:ext cx="8869250" cy="249918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14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Array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Linked List; head only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head &amp;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doubly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at head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traverse head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at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append</a:t>
                      </a:r>
                      <a:br>
                        <a:rPr lang="en-GB" sz="1300"/>
                      </a:br>
                      <a:r>
                        <a:rPr lang="en-GB" sz="1300"/>
                        <a:t>O(n) sometimes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O(n) -- no tail pointer, need to traverse list.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O(1) -- traverse tail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at head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traverse head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at tail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need to update 2nd last element’s next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O(1) -- tail.prev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Memory (ints)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Best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Worse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Worser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Worst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92" name="Google Shape;792;p70"/>
          <p:cNvPicPr preferRelativeResize="0"/>
          <p:nvPr/>
        </p:nvPicPr>
        <p:blipFill rotWithShape="1">
          <a:blip r:embed="rId3">
            <a:alphaModFix/>
          </a:blip>
          <a:srcRect l="60510" t="18033"/>
          <a:stretch/>
        </p:blipFill>
        <p:spPr>
          <a:xfrm>
            <a:off x="6111698" y="1174550"/>
            <a:ext cx="1523975" cy="137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rPr>
              <a:t>Queue Implementation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9" name="Google Shape;799;p7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71"/>
          <p:cNvSpPr txBox="1"/>
          <p:nvPr/>
        </p:nvSpPr>
        <p:spPr>
          <a:xfrm>
            <a:off x="346100" y="1250175"/>
            <a:ext cx="8520600" cy="3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</a:rPr>
              <a:t>Queue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</a:rPr>
              <a:t>	</a:t>
            </a:r>
            <a:r>
              <a:rPr lang="en-GB" sz="1600">
                <a:solidFill>
                  <a:schemeClr val="dk1"/>
                </a:solidFill>
              </a:rPr>
              <a:t>First in, First out  (FIFO)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    </a:t>
            </a:r>
            <a:r>
              <a:rPr lang="en-GB" sz="1600" b="1" i="1">
                <a:solidFill>
                  <a:schemeClr val="dk1"/>
                </a:solidFill>
              </a:rPr>
              <a:t>enqueue</a:t>
            </a:r>
            <a:r>
              <a:rPr lang="en-GB" sz="1600">
                <a:solidFill>
                  <a:schemeClr val="dk1"/>
                </a:solidFill>
              </a:rPr>
              <a:t>(data)  -- add to back of queue  (back of list)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        </a:t>
            </a:r>
            <a:r>
              <a:rPr lang="en-GB" sz="1600" b="1" i="1">
                <a:solidFill>
                  <a:schemeClr val="dk1"/>
                </a:solidFill>
              </a:rPr>
              <a:t>dequeue</a:t>
            </a:r>
            <a:r>
              <a:rPr lang="en-GB" sz="1600" i="1">
                <a:solidFill>
                  <a:schemeClr val="dk1"/>
                </a:solidFill>
              </a:rPr>
              <a:t>()  </a:t>
            </a:r>
            <a:r>
              <a:rPr lang="en-GB" sz="1600">
                <a:solidFill>
                  <a:schemeClr val="dk1"/>
                </a:solidFill>
              </a:rPr>
              <a:t>-- remove from front of queue  (front of list)</a:t>
            </a:r>
            <a:endParaRPr sz="1600" b="1"/>
          </a:p>
        </p:txBody>
      </p:sp>
      <p:graphicFrame>
        <p:nvGraphicFramePr>
          <p:cNvPr id="801" name="Google Shape;801;p71"/>
          <p:cNvGraphicFramePr/>
          <p:nvPr/>
        </p:nvGraphicFramePr>
        <p:xfrm>
          <a:off x="130700" y="2571750"/>
          <a:ext cx="8869250" cy="2499180"/>
        </p:xfrm>
        <a:graphic>
          <a:graphicData uri="http://schemas.openxmlformats.org/drawingml/2006/table">
            <a:tbl>
              <a:tblPr>
                <a:noFill/>
                <a:tableStyleId>{331A21D0-FD56-4908-956B-C06D331CAC22}</a:tableStyleId>
              </a:tblPr>
              <a:tblGrid>
                <a:gridCol w="14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Array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Linked List; head only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head &amp; tail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doubly</a:t>
                      </a:r>
                      <a:endParaRPr sz="13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at head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traverse head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Insert at tail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append</a:t>
                      </a:r>
                      <a:br>
                        <a:rPr lang="en-GB" sz="1300"/>
                      </a:br>
                      <a:r>
                        <a:rPr lang="en-GB" sz="1300"/>
                        <a:t>O(n) sometimes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O(n) -- no tail pointer, need to traverse list.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O(1) -- traverse tail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at head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shifting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 -- traverse head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Delete at tail</a:t>
                      </a:r>
                      <a:endParaRPr sz="13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O(1)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O(n) -- need to update 2nd last element’s next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O(1) -- tail.prev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/>
                        <a:t>Memory (ints)</a:t>
                      </a:r>
                      <a:endParaRPr sz="1300" b="1"/>
                    </a:p>
                  </a:txBody>
                  <a:tcPr marL="91425" marR="91425" marT="91425" marB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Best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Worse</a:t>
                      </a:r>
                      <a:endParaRPr sz="1300"/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Worser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</a:rPr>
                        <a:t>Worst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02" name="Google Shape;802;p71"/>
          <p:cNvPicPr preferRelativeResize="0"/>
          <p:nvPr/>
        </p:nvPicPr>
        <p:blipFill rotWithShape="1">
          <a:blip r:embed="rId3">
            <a:alphaModFix/>
          </a:blip>
          <a:srcRect l="60510" t="18033"/>
          <a:stretch/>
        </p:blipFill>
        <p:spPr>
          <a:xfrm>
            <a:off x="6111698" y="1174550"/>
            <a:ext cx="1523975" cy="137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4343</Words>
  <Application>Microsoft Macintosh PowerPoint</Application>
  <PresentationFormat>On-screen Show (16:9)</PresentationFormat>
  <Paragraphs>970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Consolas</vt:lpstr>
      <vt:lpstr>Arial</vt:lpstr>
      <vt:lpstr>Fira Code</vt:lpstr>
      <vt:lpstr>Simple Light</vt:lpstr>
      <vt:lpstr>Data Structures</vt:lpstr>
      <vt:lpstr>Data Structures</vt:lpstr>
      <vt:lpstr>PowerPoint Presentation</vt:lpstr>
      <vt:lpstr>Abstract Data Types (ADTs)</vt:lpstr>
      <vt:lpstr>PowerPoint Presentation</vt:lpstr>
      <vt:lpstr>Stacks  (ADT)     LIFO: Last in First Out</vt:lpstr>
      <vt:lpstr>Stack Example</vt:lpstr>
      <vt:lpstr>Stack Example</vt:lpstr>
      <vt:lpstr>Queues  (ADT)      FIFO: First in First Out</vt:lpstr>
      <vt:lpstr>Queue Example</vt:lpstr>
      <vt:lpstr>Queue Example</vt:lpstr>
      <vt:lpstr>Data Structures (Summary)</vt:lpstr>
      <vt:lpstr>Binary Search Trees</vt:lpstr>
      <vt:lpstr>Binary Search Tree</vt:lpstr>
      <vt:lpstr>Binary Search Trees</vt:lpstr>
      <vt:lpstr>Arrays</vt:lpstr>
      <vt:lpstr>Arrays, as a data structure</vt:lpstr>
      <vt:lpstr>Arrays, as a data structure</vt:lpstr>
      <vt:lpstr>Linked List</vt:lpstr>
      <vt:lpstr>Linked List</vt:lpstr>
      <vt:lpstr>Linked List Operations</vt:lpstr>
      <vt:lpstr>Insert at head  list_t *insert_at_head(list_t *list, data_t value)</vt:lpstr>
      <vt:lpstr>Insert at head  list_t *insert_at_head(list_t *list, data_t value)</vt:lpstr>
      <vt:lpstr>Remove at head</vt:lpstr>
      <vt:lpstr>Remove at head</vt:lpstr>
      <vt:lpstr>Remove at head</vt:lpstr>
      <vt:lpstr>Insert at tail</vt:lpstr>
      <vt:lpstr>Linked list traversal  (To tail)</vt:lpstr>
      <vt:lpstr>Insert at tail</vt:lpstr>
      <vt:lpstr>Insert at tail</vt:lpstr>
      <vt:lpstr>Remove at tail</vt:lpstr>
      <vt:lpstr>Remove at tail</vt:lpstr>
      <vt:lpstr>Remove at tail</vt:lpstr>
      <vt:lpstr>Linked List types</vt:lpstr>
      <vt:lpstr>Linked List types</vt:lpstr>
      <vt:lpstr>Linked List     (Singly, head only)</vt:lpstr>
      <vt:lpstr>Linked List     (Singly, head &amp; tail)</vt:lpstr>
      <vt:lpstr>Doubly Linked List</vt:lpstr>
      <vt:lpstr>PowerPoint Presentation</vt:lpstr>
      <vt:lpstr>Searching Linked Lists</vt:lpstr>
      <vt:lpstr>Searching Linked Lists</vt:lpstr>
      <vt:lpstr>Linked list traversal  (To kth element)</vt:lpstr>
      <vt:lpstr>Linked list search</vt:lpstr>
      <vt:lpstr>Linked Lists vs Arrays Summary</vt:lpstr>
      <vt:lpstr>PowerPoint Presentation</vt:lpstr>
      <vt:lpstr>Stacks &amp; Queues: Implementation</vt:lpstr>
      <vt:lpstr>Stack</vt:lpstr>
      <vt:lpstr>Queue</vt:lpstr>
      <vt:lpstr>Stacks &amp; Queues</vt:lpstr>
      <vt:lpstr>Stack Implementation</vt:lpstr>
      <vt:lpstr>Stack Implementation</vt:lpstr>
      <vt:lpstr>Stack Implementation</vt:lpstr>
      <vt:lpstr>Queue Implementation</vt:lpstr>
      <vt:lpstr>Queue Implementation</vt:lpstr>
      <vt:lpstr>Queue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Tracy Bu</cp:lastModifiedBy>
  <cp:revision>1</cp:revision>
  <dcterms:modified xsi:type="dcterms:W3CDTF">2026-04-19T22:48:40Z</dcterms:modified>
</cp:coreProperties>
</file>