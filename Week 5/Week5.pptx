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339" r:id="rId5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Fira Code" panose="020B0809050000020004" pitchFamily="49" charset="0"/>
      <p:regular r:id="rId62"/>
      <p:bold r:id="rId63"/>
    </p:embeddedFont>
    <p:embeddedFont>
      <p:font typeface="Fira Mono" panose="020B0509050000020004" pitchFamily="49" charset="0"/>
      <p:regular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DE21E6-12A8-4CF8-B9F9-B912BA036C3D}">
  <a:tblStyle styleId="{CCDE21E6-12A8-4CF8-B9F9-B912BA036C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 snapToGrid="0">
      <p:cViewPr varScale="1">
        <p:scale>
          <a:sx n="158" d="100"/>
          <a:sy n="158" d="100"/>
        </p:scale>
        <p:origin x="51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6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918de9082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918de9082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918de9082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9918de9082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9807cee41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9807cee41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807cee41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9807cee41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807cee41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807cee418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918de9082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918de9082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918de9082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9918de9082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9918de9082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9918de9082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9918de9082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9918de9082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9918de9082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9918de9082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9807cee41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9807cee41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50f8c7b550_0_1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50f8c7b550_0_1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50f8c7b550_0_1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50f8c7b550_0_1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50f8c7b550_0_1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50f8c7b550_0_1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50f8c7b550_0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50f8c7b550_0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50f8c7b550_0_1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50f8c7b550_0_1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50f8c7b550_0_1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50f8c7b550_0_1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50f8c7b550_0_1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50f8c7b550_0_1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50f8c7b550_0_1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150f8c7b550_0_1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50f8c7b550_0_1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150f8c7b550_0_1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150f8c7b550_0_1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150f8c7b550_0_1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50f8c7b550_0_1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50f8c7b550_0_1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150f8c7b550_0_1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150f8c7b550_0_1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50f8c7b550_0_1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50f8c7b550_0_1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50f8c7b550_0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50f8c7b550_0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150f8c7b550_0_1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150f8c7b550_0_1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150f8c7b550_0_1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150f8c7b550_0_1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50f8c7b550_0_1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50f8c7b550_0_1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50f8c7b550_0_1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150f8c7b550_0_1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50f8c7b550_0_1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50f8c7b550_0_1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150f8c7b550_0_1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150f8c7b550_0_1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50f8c7b550_0_1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50f8c7b550_0_1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150f8c7b550_0_1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150f8c7b550_0_1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150f8c7b550_0_1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150f8c7b550_0_1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50f8c7b550_0_1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50f8c7b550_0_1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150f8c7b550_0_1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150f8c7b550_0_1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150f8c7b550_0_1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150f8c7b550_0_1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50f8c7b550_0_1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150f8c7b550_0_16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150f8c7b550_0_1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150f8c7b550_0_1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150f8c7b550_0_1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150f8c7b550_0_1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150f8c7b550_0_1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150f8c7b550_0_1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50f8c7b550_0_1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150f8c7b550_0_1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150f8c7b550_0_1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150f8c7b550_0_1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150f8c7b550_0_1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150f8c7b550_0_1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50f8c7b550_0_16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50f8c7b550_0_16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150f8c7b550_0_1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150f8c7b550_0_1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150f8c7b550_0_1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150f8c7b550_0_1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150f8c7b550_0_1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150f8c7b550_0_1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150f8c7b550_0_1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150f8c7b550_0_1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150f8c7b550_0_1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150f8c7b550_0_1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150f8c7b550_0_1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150f8c7b550_0_1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150f8c7b550_0_17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150f8c7b550_0_17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50f8c7b550_0_1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150f8c7b550_0_17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150f8c7b550_0_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150f8c7b550_0_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150f8c7b550_0_17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150f8c7b550_0_17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</a:rPr>
              <a:t>What if we take the ceil instead of the floor?</a:t>
            </a:r>
            <a:endParaRPr sz="1050">
              <a:solidFill>
                <a:srgbClr val="333333"/>
              </a:solidFill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333333"/>
              </a:solidFill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</a:rPr>
              <a:t>Hint: try 1 1 2 4 5</a:t>
            </a:r>
            <a:endParaRPr sz="1050">
              <a:solidFill>
                <a:srgbClr val="333333"/>
              </a:solidFill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333333"/>
              </a:solidFill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33333"/>
                </a:solidFill>
                <a:highlight>
                  <a:srgbClr val="F5F5F5"/>
                </a:highlight>
              </a:rPr>
              <a:t>but then 1 1 1 2 4 5 6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0" name="Google Shape;120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1" name="Google Shape;12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4" name="Google Shape;1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33" name="Google Shape;13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Multidimensional Arrays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25" y="1527825"/>
            <a:ext cx="6246850" cy="35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Multidimensional arrays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109" name="Google Shape;10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5348" y="1233235"/>
            <a:ext cx="3011775" cy="1639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26"/>
          <p:cNvGraphicFramePr/>
          <p:nvPr/>
        </p:nvGraphicFramePr>
        <p:xfrm>
          <a:off x="6669525" y="2995475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1" name="Google Shape;111;p26"/>
          <p:cNvSpPr txBox="1"/>
          <p:nvPr/>
        </p:nvSpPr>
        <p:spPr>
          <a:xfrm>
            <a:off x="2803075" y="1408350"/>
            <a:ext cx="19389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num[rows][cols]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22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#define ROWS 2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#define COLS 3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int mat[ROWS][COLS] = {{1, 2, 3},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                       {4, 5, 6}};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" name="Google Shape;117;p2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Multidimensional arrays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2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7"/>
          <p:cNvSpPr txBox="1"/>
          <p:nvPr/>
        </p:nvSpPr>
        <p:spPr>
          <a:xfrm>
            <a:off x="5362700" y="-161650"/>
            <a:ext cx="404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1" name="Google Shape;121;p27"/>
          <p:cNvGraphicFramePr/>
          <p:nvPr/>
        </p:nvGraphicFramePr>
        <p:xfrm>
          <a:off x="952500" y="3910275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2" name="Google Shape;122;p27"/>
          <p:cNvSpPr txBox="1"/>
          <p:nvPr/>
        </p:nvSpPr>
        <p:spPr>
          <a:xfrm>
            <a:off x="990600" y="3386000"/>
            <a:ext cx="6116400" cy="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still in one contiguous block of memory! looks like a 1d array...  </a:t>
            </a:r>
            <a:endParaRPr/>
          </a:p>
        </p:txBody>
      </p:sp>
      <p:sp>
        <p:nvSpPr>
          <p:cNvPr id="123" name="Google Shape;123;p27"/>
          <p:cNvSpPr txBox="1"/>
          <p:nvPr/>
        </p:nvSpPr>
        <p:spPr>
          <a:xfrm>
            <a:off x="9525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mat[0][0]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24" name="Google Shape;124;p27"/>
          <p:cNvSpPr txBox="1"/>
          <p:nvPr/>
        </p:nvSpPr>
        <p:spPr>
          <a:xfrm>
            <a:off x="16764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mat[0][1]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24003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mat[0][2]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31242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mat[1][0]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27" name="Google Shape;127;p27"/>
          <p:cNvSpPr txBox="1"/>
          <p:nvPr/>
        </p:nvSpPr>
        <p:spPr>
          <a:xfrm>
            <a:off x="38481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mat[1][1]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28" name="Google Shape;128;p27"/>
          <p:cNvSpPr txBox="1"/>
          <p:nvPr/>
        </p:nvSpPr>
        <p:spPr>
          <a:xfrm>
            <a:off x="45720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mat[1][2]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22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#define ROWS 2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#define COLS 3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int mat[ROWS][COLS] = {{1, 2, 3},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                       {4, 5, 6}};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int arr[ROWS*COLS] = {1, 2, 3, 4, 5, 6};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2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Multidimensional arrays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8"/>
          <p:cNvSpPr txBox="1"/>
          <p:nvPr/>
        </p:nvSpPr>
        <p:spPr>
          <a:xfrm>
            <a:off x="5362700" y="-161650"/>
            <a:ext cx="404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38" name="Google Shape;138;p28"/>
          <p:cNvGraphicFramePr/>
          <p:nvPr/>
        </p:nvGraphicFramePr>
        <p:xfrm>
          <a:off x="952500" y="3910275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9" name="Google Shape;139;p28"/>
          <p:cNvSpPr txBox="1"/>
          <p:nvPr/>
        </p:nvSpPr>
        <p:spPr>
          <a:xfrm>
            <a:off x="9525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arr[0]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16764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arr[1]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24003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arr[2]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31242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arr[3]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38481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arr[4]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45720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arr[5]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9525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mat[0][0]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16764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mat[0][1]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24003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mat[0][2]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31242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mat[1][0]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38481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mat[1][1]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45720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mat[1][2]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900FF"/>
              </a:solidFill>
            </a:endParaRPr>
          </a:p>
        </p:txBody>
      </p:sp>
      <p:sp>
        <p:nvSpPr>
          <p:cNvPr id="151" name="Google Shape;151;p28"/>
          <p:cNvSpPr txBox="1"/>
          <p:nvPr/>
        </p:nvSpPr>
        <p:spPr>
          <a:xfrm>
            <a:off x="990600" y="3309800"/>
            <a:ext cx="6116400" cy="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Same use of memory, just different indexing.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Can we index a 2d array like a 1d array?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22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#define ROWS 2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#define COLS 3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int mat[ROWS][COLS] = {{1, 2, 3},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                       {4, 5, 6}};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int arr[ROWS*COLS] = {1, 2, 3, 4, 5, 6};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Consolas"/>
                <a:ea typeface="Consolas"/>
                <a:cs typeface="Consolas"/>
                <a:sym typeface="Consolas"/>
              </a:rPr>
              <a:t>int *p = matrix[0];   // p -&gt; mat[0][0]    (arr[0])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2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Multidimensional arrays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2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9"/>
          <p:cNvSpPr txBox="1"/>
          <p:nvPr/>
        </p:nvSpPr>
        <p:spPr>
          <a:xfrm>
            <a:off x="5362700" y="-161650"/>
            <a:ext cx="40485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1" name="Google Shape;161;p29"/>
          <p:cNvGraphicFramePr/>
          <p:nvPr/>
        </p:nvGraphicFramePr>
        <p:xfrm>
          <a:off x="952500" y="3910275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???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2" name="Google Shape;162;p29"/>
          <p:cNvSpPr txBox="1"/>
          <p:nvPr/>
        </p:nvSpPr>
        <p:spPr>
          <a:xfrm>
            <a:off x="9525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arr[0]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16764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arr[1]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24003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arr[2]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31242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arr[3]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38481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arr[4]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4572000" y="42264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</a:rPr>
              <a:t>arr[5]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9525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mat[0][0]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</a:rPr>
              <a:t>*(p+0)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69" name="Google Shape;169;p29"/>
          <p:cNvSpPr txBox="1"/>
          <p:nvPr/>
        </p:nvSpPr>
        <p:spPr>
          <a:xfrm>
            <a:off x="16764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mat[0][1]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</a:rPr>
              <a:t>*(p+1)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24003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mat[0][2]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</a:rPr>
              <a:t>*(p+2)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31242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mat[1][0]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</a:rPr>
              <a:t>*(p+3)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38481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mat[1][1]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</a:rPr>
              <a:t>*(p+4)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4572000" y="4533775"/>
            <a:ext cx="777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mat[1][2]</a:t>
            </a:r>
            <a:endParaRPr sz="120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</a:rPr>
              <a:t>*(p+5)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5685575" y="4484475"/>
            <a:ext cx="2725200" cy="11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remember: </a:t>
            </a:r>
            <a:br>
              <a:rPr lang="en-GB"/>
            </a:br>
            <a:r>
              <a:rPr lang="en-GB"/>
              <a:t>p[0] is syntactic sugar for *(p+0)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22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Can we do: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int mat[][] = {1, 2, 3, 4, 5, 6, 7, 8};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3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Multidimensional arrays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22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Can we do: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int mat[][] = {1, 2, 3, 4, 5, 6, 7, 8};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No.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We don’t know how the array is set up.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Where would mat[1][0] be? 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It could be 3   &lt;=  int mat[4][2] :  {{1, 2}, {3, 4}, {5, 6}, {7, 8}}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     or 5   &lt;=  int mat[2][4] :  {{1, 2, 3, 4}, {5, 6, 7, 8}}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3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Multidimensional arrays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5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000000"/>
                </a:solidFill>
                <a:latin typeface="Fira Mono"/>
                <a:ea typeface="Fira Mono"/>
                <a:cs typeface="Fira Mono"/>
                <a:sym typeface="Fira Mono"/>
              </a:rPr>
              <a:t>int A[N][M] = {{1,2},</a:t>
            </a: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000000"/>
                </a:solidFill>
                <a:latin typeface="Fira Mono"/>
                <a:ea typeface="Fira Mono"/>
                <a:cs typeface="Fira Mono"/>
                <a:sym typeface="Fira Mono"/>
              </a:rPr>
              <a:t>               {3,4},</a:t>
            </a: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000000"/>
                </a:solidFill>
                <a:latin typeface="Fira Mono"/>
                <a:ea typeface="Fira Mono"/>
                <a:cs typeface="Fira Mono"/>
                <a:sym typeface="Fira Mono"/>
              </a:rPr>
              <a:t>               {5,6},</a:t>
            </a: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000000"/>
                </a:solidFill>
                <a:latin typeface="Fira Mono"/>
                <a:ea typeface="Fira Mono"/>
                <a:cs typeface="Fira Mono"/>
                <a:sym typeface="Fira Mono"/>
              </a:rPr>
              <a:t>               {7,8}};   // N=4 rows, M=2 cols</a:t>
            </a: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000000"/>
                </a:solidFill>
                <a:latin typeface="Fira Mono"/>
                <a:ea typeface="Fira Mono"/>
                <a:cs typeface="Fira Mono"/>
                <a:sym typeface="Fira Mono"/>
              </a:rPr>
              <a:t>// Prints a 2D array</a:t>
            </a: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000000"/>
                </a:solidFill>
                <a:latin typeface="Fira Mono"/>
                <a:ea typeface="Fira Mono"/>
                <a:cs typeface="Fira Mono"/>
                <a:sym typeface="Fira Mono"/>
              </a:rPr>
              <a:t>for (int i = 0; i &lt; N; ++i) {</a:t>
            </a: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000000"/>
                </a:solidFill>
                <a:latin typeface="Fira Mono"/>
                <a:ea typeface="Fira Mono"/>
                <a:cs typeface="Fira Mono"/>
                <a:sym typeface="Fira Mono"/>
              </a:rPr>
              <a:t>    for (int j = 0; j &lt; M; ++j) {</a:t>
            </a: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000000"/>
                </a:solidFill>
                <a:latin typeface="Fira Mono"/>
                <a:ea typeface="Fira Mono"/>
                <a:cs typeface="Fira Mono"/>
                <a:sym typeface="Fira Mono"/>
              </a:rPr>
              <a:t>        printf("%d ", A[i][j])</a:t>
            </a: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000000"/>
                </a:solidFill>
                <a:latin typeface="Fira Mono"/>
                <a:ea typeface="Fira Mono"/>
                <a:cs typeface="Fira Mono"/>
                <a:sym typeface="Fira Mono"/>
              </a:rPr>
              <a:t>    }</a:t>
            </a:r>
            <a:endParaRPr sz="175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0">
                <a:solidFill>
                  <a:srgbClr val="000000"/>
                </a:solidFill>
                <a:latin typeface="Fira Mono"/>
                <a:ea typeface="Fira Mono"/>
                <a:cs typeface="Fira Mono"/>
                <a:sym typeface="Fira Mono"/>
              </a:rPr>
              <a:t>}</a:t>
            </a:r>
            <a:endParaRPr sz="1400">
              <a:solidFill>
                <a:srgbClr val="000000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sp>
        <p:nvSpPr>
          <p:cNvPr id="196" name="Google Shape;196;p3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Indexing 2d arrays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Print 2d int array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3"/>
          <p:cNvSpPr txBox="1"/>
          <p:nvPr/>
        </p:nvSpPr>
        <p:spPr>
          <a:xfrm>
            <a:off x="248150" y="1447850"/>
            <a:ext cx="8453100" cy="3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print_int_array(int arr[], int n)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for (int i = 0; i &lt; n; i++) printf(“%3d “, arr[i]);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print_2d_int_array(int mat[][COLS], int rows)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for (int i = 0; i &lt; rows; i++)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print_int_array(mat[i], COLS);</a:t>
            </a:r>
            <a:endParaRPr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printf(“\n”);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We must give dimensions for all but first dimension.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Why? mat[0] is of type int[COLS].  So mat is of type int[COLS] *.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mat[0] had variable length, it would have type int *.  Mat would be int **. No memory allocated.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Set all entries in 2D array to k.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3" name="Google Shape;213;p3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4"/>
          <p:cNvSpPr txBox="1"/>
          <p:nvPr/>
        </p:nvSpPr>
        <p:spPr>
          <a:xfrm>
            <a:off x="248150" y="1646775"/>
            <a:ext cx="5534400" cy="3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set_all_to_k(int A[][N], int m, int k)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for (int i = 0; i &lt; N; i++)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for (int j = 0; j &lt; m; j++)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A[i][j] = k;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set_all_to_k(int A[][N], int m, int k)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for (int i = 0; i &lt; N*m; i++) *(A[0] + i) = k;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Copy rows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3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5"/>
          <p:cNvSpPr txBox="1"/>
          <p:nvPr/>
        </p:nvSpPr>
        <p:spPr>
          <a:xfrm>
            <a:off x="248150" y="1646775"/>
            <a:ext cx="5534400" cy="3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memcpy(mat+j, mat+i, M * sizeof(int));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copies the ith row of mat to the jth row of mat.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each row of mat has length M.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Exercise: write a function that does this yourself.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Note:</a:t>
            </a:r>
            <a:r>
              <a:rPr lang="en-GB">
                <a:solidFill>
                  <a:schemeClr val="dk1"/>
                </a:solidFill>
              </a:rPr>
              <a:t> copying / manipulating columns is trickier!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775" y="1987726"/>
            <a:ext cx="3868451" cy="305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77"/>
          <p:cNvSpPr txBox="1">
            <a:spLocks noGrp="1"/>
          </p:cNvSpPr>
          <p:nvPr>
            <p:ph type="body" idx="1"/>
          </p:nvPr>
        </p:nvSpPr>
        <p:spPr>
          <a:xfrm>
            <a:off x="311700" y="1263525"/>
            <a:ext cx="8659200" cy="3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>
                <a:latin typeface="Consolas"/>
                <a:ea typeface="Consolas"/>
                <a:cs typeface="Consolas"/>
                <a:sym typeface="Consolas"/>
              </a:rPr>
              <a:t>Recursively partition array so that we have ‘smaller’ items on the left of our ‘pivot’ and ‘larger’ items on the right of our pivot.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7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7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Quicksort (Hoare, 1959)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7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Quicksort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6" name="Google Shape;526;p78"/>
          <p:cNvSpPr txBox="1"/>
          <p:nvPr/>
        </p:nvSpPr>
        <p:spPr>
          <a:xfrm>
            <a:off x="247275" y="1328700"/>
            <a:ext cx="85419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quicksort(int *A, int n){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(n &lt;= 1) return; // base case -- sorted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fe, fg;                                 // index: first equal=, first greater&gt;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pivot = choose_pivot(A);                // pick a pivot (value)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partition(A, n, &amp;fe, &amp;fg, pivot);           // partition the array.  (b)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quicksort(A, fe);                           // length of 1st partition: fe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quicksort(A + fg, n - fg);                  // length of 2nd partition: (n - fg)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equals are in place -- we’re done!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9"/>
          <p:cNvSpPr txBox="1"/>
          <p:nvPr/>
        </p:nvSpPr>
        <p:spPr>
          <a:xfrm>
            <a:off x="247275" y="1328700"/>
            <a:ext cx="85419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quicksort(int *A, int n){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if (n &lt;= 1) return; // base case -- sorted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int fe, fg;  // "first equal =", "first greater &gt;"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int pivot = choose_pivot(A);  // pick a pivot (value of the pivot, not index)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partition(A, n, &amp;fe, &amp;fg, pivot); // partition the array.  </a:t>
            </a:r>
            <a:r>
              <a:rPr lang="en-GB" sz="1100" b="1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sz="1100" b="1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100">
                <a:solidFill>
                  <a:schemeClr val="dk1"/>
                </a:solidFill>
                <a:highlight>
                  <a:srgbClr val="F6B26B"/>
                </a:highlight>
                <a:latin typeface="Consolas"/>
                <a:ea typeface="Consolas"/>
                <a:cs typeface="Consolas"/>
                <a:sym typeface="Consolas"/>
              </a:rPr>
              <a:t>quicksort(A, fe)</a:t>
            </a:r>
            <a:r>
              <a:rPr lang="en-GB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length of first partition is index of fe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100">
                <a:solidFill>
                  <a:schemeClr val="dk1"/>
                </a:solidFill>
                <a:highlight>
                  <a:srgbClr val="E06666"/>
                </a:highlight>
                <a:latin typeface="Consolas"/>
                <a:ea typeface="Consolas"/>
                <a:cs typeface="Consolas"/>
                <a:sym typeface="Consolas"/>
              </a:rPr>
              <a:t>quicksort(A + fg, n - fg)</a:t>
            </a:r>
            <a:r>
              <a:rPr lang="en-GB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length of second partition is size n - index of fg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equals are in place -- we’re done!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7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7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Quicksort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graphicFrame>
        <p:nvGraphicFramePr>
          <p:cNvPr id="535" name="Google Shape;535;p79"/>
          <p:cNvGraphicFramePr/>
          <p:nvPr/>
        </p:nvGraphicFramePr>
        <p:xfrm>
          <a:off x="5495925" y="2958050"/>
          <a:ext cx="3445650" cy="36573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6" name="Google Shape;536;p79"/>
          <p:cNvSpPr txBox="1"/>
          <p:nvPr/>
        </p:nvSpPr>
        <p:spPr>
          <a:xfrm>
            <a:off x="6642625" y="323330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537" name="Google Shape;537;p79"/>
          <p:cNvSpPr txBox="1"/>
          <p:nvPr/>
        </p:nvSpPr>
        <p:spPr>
          <a:xfrm>
            <a:off x="7456825" y="323330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538" name="Google Shape;538;p79"/>
          <p:cNvSpPr txBox="1"/>
          <p:nvPr/>
        </p:nvSpPr>
        <p:spPr>
          <a:xfrm>
            <a:off x="5565950" y="270965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539" name="Google Shape;539;p79"/>
          <p:cNvSpPr txBox="1"/>
          <p:nvPr/>
        </p:nvSpPr>
        <p:spPr>
          <a:xfrm>
            <a:off x="6718825" y="270965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540" name="Google Shape;540;p79"/>
          <p:cNvSpPr txBox="1"/>
          <p:nvPr/>
        </p:nvSpPr>
        <p:spPr>
          <a:xfrm>
            <a:off x="7556175" y="270965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541" name="Google Shape;541;p79"/>
          <p:cNvSpPr txBox="1"/>
          <p:nvPr/>
        </p:nvSpPr>
        <p:spPr>
          <a:xfrm>
            <a:off x="5854175" y="3671000"/>
            <a:ext cx="31905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 run quicksort on both partitions.</a:t>
            </a:r>
            <a:endParaRPr/>
          </a:p>
        </p:txBody>
      </p:sp>
      <p:graphicFrame>
        <p:nvGraphicFramePr>
          <p:cNvPr id="542" name="Google Shape;542;p79"/>
          <p:cNvGraphicFramePr/>
          <p:nvPr/>
        </p:nvGraphicFramePr>
        <p:xfrm>
          <a:off x="5495925" y="1489188"/>
          <a:ext cx="3445650" cy="36573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80"/>
          <p:cNvSpPr txBox="1"/>
          <p:nvPr/>
        </p:nvSpPr>
        <p:spPr>
          <a:xfrm>
            <a:off x="2711950" y="-26660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48" name="Google Shape;548;p80"/>
          <p:cNvGraphicFramePr/>
          <p:nvPr/>
        </p:nvGraphicFramePr>
        <p:xfrm>
          <a:off x="2975300" y="97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9" name="Google Shape;549;p80"/>
          <p:cNvSpPr txBox="1"/>
          <p:nvPr/>
        </p:nvSpPr>
        <p:spPr>
          <a:xfrm>
            <a:off x="4122000" y="12473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550" name="Google Shape;550;p80"/>
          <p:cNvSpPr txBox="1"/>
          <p:nvPr/>
        </p:nvSpPr>
        <p:spPr>
          <a:xfrm>
            <a:off x="4936200" y="12473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551" name="Google Shape;551;p80"/>
          <p:cNvSpPr txBox="1"/>
          <p:nvPr/>
        </p:nvSpPr>
        <p:spPr>
          <a:xfrm>
            <a:off x="3045325" y="7237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552" name="Google Shape;552;p80"/>
          <p:cNvSpPr txBox="1"/>
          <p:nvPr/>
        </p:nvSpPr>
        <p:spPr>
          <a:xfrm>
            <a:off x="4198200" y="723700"/>
            <a:ext cx="248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553" name="Google Shape;553;p80"/>
          <p:cNvSpPr txBox="1"/>
          <p:nvPr/>
        </p:nvSpPr>
        <p:spPr>
          <a:xfrm>
            <a:off x="4959350" y="7237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  <p:graphicFrame>
        <p:nvGraphicFramePr>
          <p:cNvPr id="554" name="Google Shape;554;p80"/>
          <p:cNvGraphicFramePr/>
          <p:nvPr/>
        </p:nvGraphicFramePr>
        <p:xfrm>
          <a:off x="2975300" y="12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5" name="Google Shape;555;p80"/>
          <p:cNvCxnSpPr/>
          <p:nvPr/>
        </p:nvCxnSpPr>
        <p:spPr>
          <a:xfrm flipH="1">
            <a:off x="2213725" y="1405525"/>
            <a:ext cx="1080300" cy="36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56" name="Google Shape;556;p80"/>
          <p:cNvGraphicFramePr/>
          <p:nvPr/>
        </p:nvGraphicFramePr>
        <p:xfrm>
          <a:off x="1634750" y="184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7" name="Google Shape;557;p80"/>
          <p:cNvSpPr txBox="1"/>
          <p:nvPr/>
        </p:nvSpPr>
        <p:spPr>
          <a:xfrm>
            <a:off x="2485400" y="1611025"/>
            <a:ext cx="248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558" name="Google Shape;558;p80"/>
          <p:cNvSpPr txBox="1"/>
          <p:nvPr/>
        </p:nvSpPr>
        <p:spPr>
          <a:xfrm>
            <a:off x="1685300" y="1604725"/>
            <a:ext cx="248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cxnSp>
        <p:nvCxnSpPr>
          <p:cNvPr id="559" name="Google Shape;559;p80"/>
          <p:cNvCxnSpPr/>
          <p:nvPr/>
        </p:nvCxnSpPr>
        <p:spPr>
          <a:xfrm flipH="1">
            <a:off x="1226950" y="2259375"/>
            <a:ext cx="782400" cy="46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60" name="Google Shape;560;p80"/>
          <p:cNvGraphicFramePr/>
          <p:nvPr/>
        </p:nvGraphicFramePr>
        <p:xfrm>
          <a:off x="869050" y="277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61" name="Google Shape;561;p80"/>
          <p:cNvCxnSpPr/>
          <p:nvPr/>
        </p:nvCxnSpPr>
        <p:spPr>
          <a:xfrm>
            <a:off x="2841750" y="2205500"/>
            <a:ext cx="347700" cy="45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2" name="Google Shape;562;p80"/>
          <p:cNvSpPr txBox="1"/>
          <p:nvPr/>
        </p:nvSpPr>
        <p:spPr>
          <a:xfrm>
            <a:off x="2923550" y="2630350"/>
            <a:ext cx="833400" cy="1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&lt;empty&gt;</a:t>
            </a:r>
            <a:endParaRPr sz="1200"/>
          </a:p>
        </p:txBody>
      </p:sp>
      <p:cxnSp>
        <p:nvCxnSpPr>
          <p:cNvPr id="563" name="Google Shape;563;p80"/>
          <p:cNvCxnSpPr/>
          <p:nvPr/>
        </p:nvCxnSpPr>
        <p:spPr>
          <a:xfrm flipH="1">
            <a:off x="409800" y="3138775"/>
            <a:ext cx="423600" cy="4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4" name="Google Shape;564;p80"/>
          <p:cNvCxnSpPr/>
          <p:nvPr/>
        </p:nvCxnSpPr>
        <p:spPr>
          <a:xfrm>
            <a:off x="1654525" y="3144450"/>
            <a:ext cx="347700" cy="45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5" name="Google Shape;565;p80"/>
          <p:cNvSpPr txBox="1"/>
          <p:nvPr/>
        </p:nvSpPr>
        <p:spPr>
          <a:xfrm>
            <a:off x="1643250" y="3523350"/>
            <a:ext cx="833400" cy="1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&lt;empty&gt;</a:t>
            </a:r>
            <a:endParaRPr sz="1200"/>
          </a:p>
        </p:txBody>
      </p:sp>
      <p:sp>
        <p:nvSpPr>
          <p:cNvPr id="566" name="Google Shape;566;p80"/>
          <p:cNvSpPr txBox="1"/>
          <p:nvPr/>
        </p:nvSpPr>
        <p:spPr>
          <a:xfrm>
            <a:off x="36200" y="3569375"/>
            <a:ext cx="833400" cy="1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&lt;empty&gt;</a:t>
            </a:r>
            <a:endParaRPr sz="1200"/>
          </a:p>
        </p:txBody>
      </p:sp>
      <p:cxnSp>
        <p:nvCxnSpPr>
          <p:cNvPr id="567" name="Google Shape;567;p80"/>
          <p:cNvCxnSpPr/>
          <p:nvPr/>
        </p:nvCxnSpPr>
        <p:spPr>
          <a:xfrm>
            <a:off x="4560650" y="544025"/>
            <a:ext cx="5100" cy="35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8" name="Google Shape;568;p80"/>
          <p:cNvSpPr txBox="1"/>
          <p:nvPr/>
        </p:nvSpPr>
        <p:spPr>
          <a:xfrm>
            <a:off x="876000" y="2531100"/>
            <a:ext cx="248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cxnSp>
        <p:nvCxnSpPr>
          <p:cNvPr id="569" name="Google Shape;569;p80"/>
          <p:cNvCxnSpPr/>
          <p:nvPr/>
        </p:nvCxnSpPr>
        <p:spPr>
          <a:xfrm>
            <a:off x="5771100" y="1335925"/>
            <a:ext cx="645600" cy="43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70" name="Google Shape;570;p80"/>
          <p:cNvGraphicFramePr/>
          <p:nvPr/>
        </p:nvGraphicFramePr>
        <p:xfrm>
          <a:off x="5863050" y="18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1" name="Google Shape;571;p80"/>
          <p:cNvSpPr txBox="1"/>
          <p:nvPr/>
        </p:nvSpPr>
        <p:spPr>
          <a:xfrm>
            <a:off x="6651775" y="128700"/>
            <a:ext cx="2418600" cy="11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Note: the resulting order within each partition (red / orange) doesn’t matter - it depends on the partition scheme used.  Here I’m using Hoare from the lectures, so I get this order.</a:t>
            </a:r>
            <a:endParaRPr sz="1000"/>
          </a:p>
        </p:txBody>
      </p:sp>
      <p:sp>
        <p:nvSpPr>
          <p:cNvPr id="572" name="Google Shape;572;p80"/>
          <p:cNvSpPr txBox="1"/>
          <p:nvPr/>
        </p:nvSpPr>
        <p:spPr>
          <a:xfrm>
            <a:off x="5863050" y="166185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573" name="Google Shape;573;p80"/>
          <p:cNvSpPr txBox="1"/>
          <p:nvPr/>
        </p:nvSpPr>
        <p:spPr>
          <a:xfrm>
            <a:off x="6330125" y="1661850"/>
            <a:ext cx="248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574" name="Google Shape;574;p80"/>
          <p:cNvSpPr txBox="1"/>
          <p:nvPr/>
        </p:nvSpPr>
        <p:spPr>
          <a:xfrm>
            <a:off x="6698275" y="166185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  <p:cxnSp>
        <p:nvCxnSpPr>
          <p:cNvPr id="575" name="Google Shape;575;p80"/>
          <p:cNvCxnSpPr/>
          <p:nvPr/>
        </p:nvCxnSpPr>
        <p:spPr>
          <a:xfrm flipH="1">
            <a:off x="5306975" y="2259375"/>
            <a:ext cx="782400" cy="46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76" name="Google Shape;576;p80"/>
          <p:cNvGraphicFramePr/>
          <p:nvPr/>
        </p:nvGraphicFramePr>
        <p:xfrm>
          <a:off x="5122150" y="285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7" name="Google Shape;577;p80"/>
          <p:cNvSpPr txBox="1"/>
          <p:nvPr/>
        </p:nvSpPr>
        <p:spPr>
          <a:xfrm>
            <a:off x="5189225" y="2630350"/>
            <a:ext cx="248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cxnSp>
        <p:nvCxnSpPr>
          <p:cNvPr id="578" name="Google Shape;578;p80"/>
          <p:cNvCxnSpPr/>
          <p:nvPr/>
        </p:nvCxnSpPr>
        <p:spPr>
          <a:xfrm flipH="1">
            <a:off x="4707625" y="3217925"/>
            <a:ext cx="423600" cy="4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9" name="Google Shape;579;p80"/>
          <p:cNvCxnSpPr/>
          <p:nvPr/>
        </p:nvCxnSpPr>
        <p:spPr>
          <a:xfrm>
            <a:off x="5495150" y="3223600"/>
            <a:ext cx="347700" cy="45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0" name="Google Shape;580;p80"/>
          <p:cNvSpPr txBox="1"/>
          <p:nvPr/>
        </p:nvSpPr>
        <p:spPr>
          <a:xfrm>
            <a:off x="5483875" y="3602500"/>
            <a:ext cx="833400" cy="1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&lt;empty&gt;</a:t>
            </a:r>
            <a:endParaRPr sz="1200"/>
          </a:p>
        </p:txBody>
      </p:sp>
      <p:sp>
        <p:nvSpPr>
          <p:cNvPr id="581" name="Google Shape;581;p80"/>
          <p:cNvSpPr txBox="1"/>
          <p:nvPr/>
        </p:nvSpPr>
        <p:spPr>
          <a:xfrm>
            <a:off x="4334025" y="3648525"/>
            <a:ext cx="833400" cy="1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&lt;empty&gt;</a:t>
            </a:r>
            <a:endParaRPr sz="1200"/>
          </a:p>
        </p:txBody>
      </p:sp>
      <p:cxnSp>
        <p:nvCxnSpPr>
          <p:cNvPr id="582" name="Google Shape;582;p80"/>
          <p:cNvCxnSpPr/>
          <p:nvPr/>
        </p:nvCxnSpPr>
        <p:spPr>
          <a:xfrm>
            <a:off x="7011600" y="2259375"/>
            <a:ext cx="645600" cy="43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83" name="Google Shape;583;p80"/>
          <p:cNvGraphicFramePr/>
          <p:nvPr/>
        </p:nvGraphicFramePr>
        <p:xfrm>
          <a:off x="7278300" y="285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" name="Google Shape;584;p80"/>
          <p:cNvSpPr txBox="1"/>
          <p:nvPr/>
        </p:nvSpPr>
        <p:spPr>
          <a:xfrm>
            <a:off x="7316900" y="2613375"/>
            <a:ext cx="248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585" name="Google Shape;585;p80"/>
          <p:cNvSpPr txBox="1"/>
          <p:nvPr/>
        </p:nvSpPr>
        <p:spPr>
          <a:xfrm>
            <a:off x="7685050" y="2613375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  <p:cxnSp>
        <p:nvCxnSpPr>
          <p:cNvPr id="586" name="Google Shape;586;p80"/>
          <p:cNvCxnSpPr/>
          <p:nvPr/>
        </p:nvCxnSpPr>
        <p:spPr>
          <a:xfrm flipH="1">
            <a:off x="6872975" y="3201075"/>
            <a:ext cx="423600" cy="4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7" name="Google Shape;587;p80"/>
          <p:cNvSpPr txBox="1"/>
          <p:nvPr/>
        </p:nvSpPr>
        <p:spPr>
          <a:xfrm>
            <a:off x="6499375" y="3631675"/>
            <a:ext cx="833400" cy="1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&lt;empty&gt;</a:t>
            </a:r>
            <a:endParaRPr sz="1200"/>
          </a:p>
        </p:txBody>
      </p:sp>
      <p:graphicFrame>
        <p:nvGraphicFramePr>
          <p:cNvPr id="588" name="Google Shape;588;p80"/>
          <p:cNvGraphicFramePr/>
          <p:nvPr/>
        </p:nvGraphicFramePr>
        <p:xfrm>
          <a:off x="7951450" y="37647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9" name="Google Shape;589;p80"/>
          <p:cNvSpPr txBox="1"/>
          <p:nvPr/>
        </p:nvSpPr>
        <p:spPr>
          <a:xfrm>
            <a:off x="8018525" y="3537776"/>
            <a:ext cx="248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cxnSp>
        <p:nvCxnSpPr>
          <p:cNvPr id="590" name="Google Shape;590;p80"/>
          <p:cNvCxnSpPr/>
          <p:nvPr/>
        </p:nvCxnSpPr>
        <p:spPr>
          <a:xfrm flipH="1">
            <a:off x="7536925" y="4125351"/>
            <a:ext cx="423600" cy="4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1" name="Google Shape;591;p80"/>
          <p:cNvCxnSpPr/>
          <p:nvPr/>
        </p:nvCxnSpPr>
        <p:spPr>
          <a:xfrm>
            <a:off x="8324450" y="4131026"/>
            <a:ext cx="347700" cy="45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2" name="Google Shape;592;p80"/>
          <p:cNvSpPr txBox="1"/>
          <p:nvPr/>
        </p:nvSpPr>
        <p:spPr>
          <a:xfrm>
            <a:off x="8313175" y="4509926"/>
            <a:ext cx="833400" cy="1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&lt;empty&gt;</a:t>
            </a:r>
            <a:endParaRPr sz="1200"/>
          </a:p>
        </p:txBody>
      </p:sp>
      <p:sp>
        <p:nvSpPr>
          <p:cNvPr id="593" name="Google Shape;593;p80"/>
          <p:cNvSpPr txBox="1"/>
          <p:nvPr/>
        </p:nvSpPr>
        <p:spPr>
          <a:xfrm>
            <a:off x="7163325" y="4555951"/>
            <a:ext cx="833400" cy="1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&lt;empty&gt;</a:t>
            </a:r>
            <a:endParaRPr sz="1200"/>
          </a:p>
        </p:txBody>
      </p:sp>
      <p:cxnSp>
        <p:nvCxnSpPr>
          <p:cNvPr id="594" name="Google Shape;594;p80"/>
          <p:cNvCxnSpPr/>
          <p:nvPr/>
        </p:nvCxnSpPr>
        <p:spPr>
          <a:xfrm>
            <a:off x="7910075" y="3217676"/>
            <a:ext cx="232800" cy="39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5" name="Google Shape;595;p80"/>
          <p:cNvSpPr txBox="1"/>
          <p:nvPr/>
        </p:nvSpPr>
        <p:spPr>
          <a:xfrm>
            <a:off x="956100" y="4351000"/>
            <a:ext cx="10803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Result:</a:t>
            </a:r>
            <a:endParaRPr/>
          </a:p>
        </p:txBody>
      </p:sp>
      <p:graphicFrame>
        <p:nvGraphicFramePr>
          <p:cNvPr id="596" name="Google Shape;596;p80"/>
          <p:cNvGraphicFramePr/>
          <p:nvPr/>
        </p:nvGraphicFramePr>
        <p:xfrm>
          <a:off x="2213725" y="4340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7" name="Google Shape;597;p80"/>
          <p:cNvSpPr txBox="1"/>
          <p:nvPr/>
        </p:nvSpPr>
        <p:spPr>
          <a:xfrm>
            <a:off x="4645500" y="510575"/>
            <a:ext cx="21084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Partition: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1"/>
          <p:cNvSpPr txBox="1">
            <a:spLocks noGrp="1"/>
          </p:cNvSpPr>
          <p:nvPr>
            <p:ph type="body" idx="1"/>
          </p:nvPr>
        </p:nvSpPr>
        <p:spPr>
          <a:xfrm>
            <a:off x="311700" y="1263525"/>
            <a:ext cx="8659200" cy="3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>
                <a:latin typeface="Consolas"/>
                <a:ea typeface="Consolas"/>
                <a:cs typeface="Consolas"/>
                <a:sym typeface="Consolas"/>
              </a:rPr>
              <a:t>Recursively partition array so that we have ‘smaller’ items on the left of our ‘pivot’ and ‘larger’ items on the right of our pivot.</a:t>
            </a:r>
            <a:endParaRPr i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0.  </a:t>
            </a:r>
            <a:r>
              <a:rPr lang="en-GB" b="1">
                <a:latin typeface="Consolas"/>
                <a:ea typeface="Consolas"/>
                <a:cs typeface="Consolas"/>
                <a:sym typeface="Consolas"/>
              </a:rPr>
              <a:t>Base case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if the array has 0 or 1 elements, it is sorted.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rabicPeriod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Pick a pivot.  (to partition the array with)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rabicPeriod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Partition the array into &lt;smaller&gt;, &lt;equal&gt; and &lt;greater&gt; partitions.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rabicPeriod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Recurse: quicksort the &lt;smaller&gt; partition, and quicksort the &lt;greater&gt; partition.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3" name="Google Shape;603;p8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8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Quicksort (Hoare, 1959)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606" name="Google Shape;60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450" y="3957725"/>
            <a:ext cx="6509450" cy="104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82"/>
          <p:cNvSpPr txBox="1">
            <a:spLocks noGrp="1"/>
          </p:cNvSpPr>
          <p:nvPr>
            <p:ph type="body" idx="1"/>
          </p:nvPr>
        </p:nvSpPr>
        <p:spPr>
          <a:xfrm>
            <a:off x="311700" y="1263525"/>
            <a:ext cx="8659200" cy="3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Quicksort:				                  	Partition: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2" name="Google Shape;612;p8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8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Quicksort Correctness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615" name="Google Shape;61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750" y="1782501"/>
            <a:ext cx="4763875" cy="2373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82"/>
          <p:cNvSpPr txBox="1"/>
          <p:nvPr/>
        </p:nvSpPr>
        <p:spPr>
          <a:xfrm>
            <a:off x="1493250" y="2010375"/>
            <a:ext cx="16371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p: pivot</a:t>
            </a:r>
            <a:endParaRPr/>
          </a:p>
        </p:txBody>
      </p:sp>
      <p:pic>
        <p:nvPicPr>
          <p:cNvPr id="617" name="Google Shape;61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7200" y="1587925"/>
            <a:ext cx="2247625" cy="15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6325" y="3071150"/>
            <a:ext cx="2153475" cy="207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8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6" name="Google Shape;626;p83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27" name="Google Shape;627;p83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4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4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4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4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&lt;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&lt;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&lt;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=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=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?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?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&gt;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&gt;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&gt;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8" name="Google Shape;628;p83"/>
          <p:cNvSpPr txBox="1"/>
          <p:nvPr/>
        </p:nvSpPr>
        <p:spPr>
          <a:xfrm>
            <a:off x="61337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629" name="Google Shape;629;p83"/>
          <p:cNvSpPr txBox="1"/>
          <p:nvPr/>
        </p:nvSpPr>
        <p:spPr>
          <a:xfrm>
            <a:off x="74813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630" name="Google Shape;630;p83"/>
          <p:cNvSpPr txBox="1"/>
          <p:nvPr/>
        </p:nvSpPr>
        <p:spPr>
          <a:xfrm>
            <a:off x="69203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631" name="Google Shape;631;p83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632" name="Google Shape;632;p83"/>
          <p:cNvSpPr txBox="1"/>
          <p:nvPr/>
        </p:nvSpPr>
        <p:spPr>
          <a:xfrm>
            <a:off x="62099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633" name="Google Shape;633;p83"/>
          <p:cNvSpPr txBox="1"/>
          <p:nvPr/>
        </p:nvSpPr>
        <p:spPr>
          <a:xfrm>
            <a:off x="758072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634" name="Google Shape;634;p83"/>
          <p:cNvSpPr txBox="1"/>
          <p:nvPr/>
        </p:nvSpPr>
        <p:spPr>
          <a:xfrm>
            <a:off x="5139475" y="292740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0</a:t>
            </a:r>
            <a:endParaRPr sz="1200"/>
          </a:p>
        </p:txBody>
      </p:sp>
      <p:sp>
        <p:nvSpPr>
          <p:cNvPr id="635" name="Google Shape;635;p83"/>
          <p:cNvSpPr txBox="1"/>
          <p:nvPr/>
        </p:nvSpPr>
        <p:spPr>
          <a:xfrm>
            <a:off x="8585225" y="292740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</a:t>
            </a: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8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84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44" name="Google Shape;644;p84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5" name="Google Shape;645;p84"/>
          <p:cNvSpPr txBox="1"/>
          <p:nvPr/>
        </p:nvSpPr>
        <p:spPr>
          <a:xfrm>
            <a:off x="507272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646" name="Google Shape;646;p84"/>
          <p:cNvSpPr txBox="1"/>
          <p:nvPr/>
        </p:nvSpPr>
        <p:spPr>
          <a:xfrm>
            <a:off x="858512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647" name="Google Shape;647;p84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648" name="Google Shape;648;p84"/>
          <p:cNvSpPr txBox="1"/>
          <p:nvPr/>
        </p:nvSpPr>
        <p:spPr>
          <a:xfrm>
            <a:off x="5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8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6" name="Google Shape;656;p85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57" name="Google Shape;657;p85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9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8" name="Google Shape;658;p85"/>
          <p:cNvSpPr txBox="1"/>
          <p:nvPr/>
        </p:nvSpPr>
        <p:spPr>
          <a:xfrm>
            <a:off x="507272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659" name="Google Shape;659;p85"/>
          <p:cNvSpPr txBox="1"/>
          <p:nvPr/>
        </p:nvSpPr>
        <p:spPr>
          <a:xfrm>
            <a:off x="858512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660" name="Google Shape;660;p85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661" name="Google Shape;661;p85"/>
          <p:cNvSpPr txBox="1"/>
          <p:nvPr/>
        </p:nvSpPr>
        <p:spPr>
          <a:xfrm>
            <a:off x="5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662" name="Google Shape;662;p85"/>
          <p:cNvSpPr/>
          <p:nvPr/>
        </p:nvSpPr>
        <p:spPr>
          <a:xfrm>
            <a:off x="446825" y="3239450"/>
            <a:ext cx="2782500" cy="766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85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 </a:t>
            </a:r>
            <a:r>
              <a:rPr lang="en-GB" b="1"/>
              <a:t>&gt;</a:t>
            </a:r>
            <a:r>
              <a:rPr lang="en-GB"/>
              <a:t> 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8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71" name="Google Shape;671;p86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72" name="Google Shape;672;p86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9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3" name="Google Shape;673;p86"/>
          <p:cNvSpPr txBox="1"/>
          <p:nvPr/>
        </p:nvSpPr>
        <p:spPr>
          <a:xfrm>
            <a:off x="507272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674" name="Google Shape;674;p86"/>
          <p:cNvSpPr txBox="1"/>
          <p:nvPr/>
        </p:nvSpPr>
        <p:spPr>
          <a:xfrm>
            <a:off x="82635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675" name="Google Shape;675;p86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676" name="Google Shape;676;p86"/>
          <p:cNvSpPr txBox="1"/>
          <p:nvPr/>
        </p:nvSpPr>
        <p:spPr>
          <a:xfrm>
            <a:off x="5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677" name="Google Shape;677;p86"/>
          <p:cNvSpPr/>
          <p:nvPr/>
        </p:nvSpPr>
        <p:spPr>
          <a:xfrm>
            <a:off x="446825" y="3239450"/>
            <a:ext cx="2782500" cy="766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86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 </a:t>
            </a:r>
            <a:r>
              <a:rPr lang="en-GB" b="1"/>
              <a:t>&gt;</a:t>
            </a:r>
            <a:r>
              <a:rPr lang="en-GB"/>
              <a:t> 5</a:t>
            </a:r>
            <a:endParaRPr/>
          </a:p>
        </p:txBody>
      </p:sp>
      <p:sp>
        <p:nvSpPr>
          <p:cNvPr id="679" name="Google Shape;679;p86"/>
          <p:cNvSpPr txBox="1"/>
          <p:nvPr/>
        </p:nvSpPr>
        <p:spPr>
          <a:xfrm>
            <a:off x="8263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8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8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87" name="Google Shape;687;p87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88" name="Google Shape;688;p87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5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9" name="Google Shape;689;p87"/>
          <p:cNvSpPr txBox="1"/>
          <p:nvPr/>
        </p:nvSpPr>
        <p:spPr>
          <a:xfrm>
            <a:off x="507272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690" name="Google Shape;690;p87"/>
          <p:cNvSpPr txBox="1"/>
          <p:nvPr/>
        </p:nvSpPr>
        <p:spPr>
          <a:xfrm>
            <a:off x="82635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691" name="Google Shape;691;p87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692" name="Google Shape;692;p87"/>
          <p:cNvSpPr txBox="1"/>
          <p:nvPr/>
        </p:nvSpPr>
        <p:spPr>
          <a:xfrm>
            <a:off x="5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693" name="Google Shape;693;p87"/>
          <p:cNvSpPr/>
          <p:nvPr/>
        </p:nvSpPr>
        <p:spPr>
          <a:xfrm>
            <a:off x="446825" y="3975675"/>
            <a:ext cx="2782500" cy="6246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87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 </a:t>
            </a:r>
            <a:r>
              <a:rPr lang="en-GB" b="1"/>
              <a:t>=</a:t>
            </a:r>
            <a:r>
              <a:rPr lang="en-GB"/>
              <a:t> 5</a:t>
            </a:r>
            <a:endParaRPr/>
          </a:p>
        </p:txBody>
      </p:sp>
      <p:sp>
        <p:nvSpPr>
          <p:cNvPr id="695" name="Google Shape;695;p87"/>
          <p:cNvSpPr txBox="1"/>
          <p:nvPr/>
        </p:nvSpPr>
        <p:spPr>
          <a:xfrm>
            <a:off x="8263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8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8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03" name="Google Shape;703;p88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04" name="Google Shape;704;p88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5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5" name="Google Shape;705;p88"/>
          <p:cNvSpPr txBox="1"/>
          <p:nvPr/>
        </p:nvSpPr>
        <p:spPr>
          <a:xfrm>
            <a:off x="507272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706" name="Google Shape;706;p88"/>
          <p:cNvSpPr txBox="1"/>
          <p:nvPr/>
        </p:nvSpPr>
        <p:spPr>
          <a:xfrm>
            <a:off x="82635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707" name="Google Shape;707;p88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708" name="Google Shape;708;p88"/>
          <p:cNvSpPr txBox="1"/>
          <p:nvPr/>
        </p:nvSpPr>
        <p:spPr>
          <a:xfrm>
            <a:off x="55299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709" name="Google Shape;709;p88"/>
          <p:cNvSpPr/>
          <p:nvPr/>
        </p:nvSpPr>
        <p:spPr>
          <a:xfrm>
            <a:off x="446825" y="3975675"/>
            <a:ext cx="2782500" cy="6246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88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 </a:t>
            </a:r>
            <a:r>
              <a:rPr lang="en-GB" b="1"/>
              <a:t>=</a:t>
            </a:r>
            <a:r>
              <a:rPr lang="en-GB"/>
              <a:t> 5</a:t>
            </a:r>
            <a:endParaRPr/>
          </a:p>
        </p:txBody>
      </p:sp>
      <p:sp>
        <p:nvSpPr>
          <p:cNvPr id="711" name="Google Shape;711;p88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712" name="Google Shape;712;p88"/>
          <p:cNvSpPr txBox="1"/>
          <p:nvPr/>
        </p:nvSpPr>
        <p:spPr>
          <a:xfrm>
            <a:off x="8263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8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8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20" name="Google Shape;720;p89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21" name="Google Shape;721;p89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6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2" name="Google Shape;722;p89"/>
          <p:cNvSpPr txBox="1"/>
          <p:nvPr/>
        </p:nvSpPr>
        <p:spPr>
          <a:xfrm>
            <a:off x="507272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723" name="Google Shape;723;p89"/>
          <p:cNvSpPr txBox="1"/>
          <p:nvPr/>
        </p:nvSpPr>
        <p:spPr>
          <a:xfrm>
            <a:off x="82635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724" name="Google Shape;724;p89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725" name="Google Shape;725;p89"/>
          <p:cNvSpPr/>
          <p:nvPr/>
        </p:nvSpPr>
        <p:spPr>
          <a:xfrm>
            <a:off x="446825" y="3249575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89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 </a:t>
            </a:r>
            <a:r>
              <a:rPr lang="en-GB" b="1"/>
              <a:t>&gt;</a:t>
            </a:r>
            <a:r>
              <a:rPr lang="en-GB"/>
              <a:t> 5</a:t>
            </a:r>
            <a:endParaRPr/>
          </a:p>
        </p:txBody>
      </p:sp>
      <p:sp>
        <p:nvSpPr>
          <p:cNvPr id="727" name="Google Shape;727;p89"/>
          <p:cNvSpPr txBox="1"/>
          <p:nvPr/>
        </p:nvSpPr>
        <p:spPr>
          <a:xfrm>
            <a:off x="55299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728" name="Google Shape;728;p89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729" name="Google Shape;729;p89"/>
          <p:cNvSpPr txBox="1"/>
          <p:nvPr/>
        </p:nvSpPr>
        <p:spPr>
          <a:xfrm>
            <a:off x="8263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9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9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37" name="Google Shape;737;p90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38" name="Google Shape;738;p90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6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9" name="Google Shape;739;p90"/>
          <p:cNvSpPr txBox="1"/>
          <p:nvPr/>
        </p:nvSpPr>
        <p:spPr>
          <a:xfrm>
            <a:off x="507272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740" name="Google Shape;740;p90"/>
          <p:cNvSpPr txBox="1"/>
          <p:nvPr/>
        </p:nvSpPr>
        <p:spPr>
          <a:xfrm>
            <a:off x="78063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741" name="Google Shape;741;p90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742" name="Google Shape;742;p90"/>
          <p:cNvSpPr/>
          <p:nvPr/>
        </p:nvSpPr>
        <p:spPr>
          <a:xfrm>
            <a:off x="446825" y="3249575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90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 </a:t>
            </a:r>
            <a:r>
              <a:rPr lang="en-GB" b="1"/>
              <a:t>&gt;</a:t>
            </a:r>
            <a:r>
              <a:rPr lang="en-GB"/>
              <a:t> 5</a:t>
            </a:r>
            <a:endParaRPr/>
          </a:p>
        </p:txBody>
      </p:sp>
      <p:sp>
        <p:nvSpPr>
          <p:cNvPr id="744" name="Google Shape;744;p90"/>
          <p:cNvSpPr txBox="1"/>
          <p:nvPr/>
        </p:nvSpPr>
        <p:spPr>
          <a:xfrm>
            <a:off x="55299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745" name="Google Shape;745;p90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746" name="Google Shape;746;p90"/>
          <p:cNvSpPr txBox="1"/>
          <p:nvPr/>
        </p:nvSpPr>
        <p:spPr>
          <a:xfrm>
            <a:off x="790565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9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4" name="Google Shape;754;p91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55" name="Google Shape;755;p91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2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6" name="Google Shape;756;p91"/>
          <p:cNvSpPr txBox="1"/>
          <p:nvPr/>
        </p:nvSpPr>
        <p:spPr>
          <a:xfrm>
            <a:off x="507272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757" name="Google Shape;757;p91"/>
          <p:cNvSpPr txBox="1"/>
          <p:nvPr/>
        </p:nvSpPr>
        <p:spPr>
          <a:xfrm>
            <a:off x="78063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758" name="Google Shape;758;p91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759" name="Google Shape;759;p91"/>
          <p:cNvSpPr/>
          <p:nvPr/>
        </p:nvSpPr>
        <p:spPr>
          <a:xfrm>
            <a:off x="446825" y="2460000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91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 </a:t>
            </a:r>
            <a:r>
              <a:rPr lang="en-GB" b="1"/>
              <a:t>&lt;</a:t>
            </a:r>
            <a:r>
              <a:rPr lang="en-GB"/>
              <a:t> 5</a:t>
            </a:r>
            <a:endParaRPr/>
          </a:p>
        </p:txBody>
      </p:sp>
      <p:sp>
        <p:nvSpPr>
          <p:cNvPr id="761" name="Google Shape;761;p91"/>
          <p:cNvSpPr txBox="1"/>
          <p:nvPr/>
        </p:nvSpPr>
        <p:spPr>
          <a:xfrm>
            <a:off x="55299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762" name="Google Shape;762;p91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763" name="Google Shape;763;p91"/>
          <p:cNvSpPr txBox="1"/>
          <p:nvPr/>
        </p:nvSpPr>
        <p:spPr>
          <a:xfrm>
            <a:off x="790565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9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9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9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1" name="Google Shape;771;p92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72" name="Google Shape;772;p92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2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3" name="Google Shape;773;p92"/>
          <p:cNvSpPr txBox="1"/>
          <p:nvPr/>
        </p:nvSpPr>
        <p:spPr>
          <a:xfrm>
            <a:off x="55196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774" name="Google Shape;774;p92"/>
          <p:cNvSpPr txBox="1"/>
          <p:nvPr/>
        </p:nvSpPr>
        <p:spPr>
          <a:xfrm>
            <a:off x="78063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775" name="Google Shape;775;p92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776" name="Google Shape;776;p92"/>
          <p:cNvSpPr/>
          <p:nvPr/>
        </p:nvSpPr>
        <p:spPr>
          <a:xfrm>
            <a:off x="446825" y="2460000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92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 </a:t>
            </a:r>
            <a:r>
              <a:rPr lang="en-GB" b="1"/>
              <a:t>&lt;</a:t>
            </a:r>
            <a:r>
              <a:rPr lang="en-GB"/>
              <a:t> 5</a:t>
            </a:r>
            <a:endParaRPr/>
          </a:p>
        </p:txBody>
      </p:sp>
      <p:sp>
        <p:nvSpPr>
          <p:cNvPr id="778" name="Google Shape;778;p92"/>
          <p:cNvSpPr txBox="1"/>
          <p:nvPr/>
        </p:nvSpPr>
        <p:spPr>
          <a:xfrm>
            <a:off x="590517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779" name="Google Shape;779;p92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780" name="Google Shape;780;p92"/>
          <p:cNvSpPr txBox="1"/>
          <p:nvPr/>
        </p:nvSpPr>
        <p:spPr>
          <a:xfrm>
            <a:off x="55776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781" name="Google Shape;781;p92"/>
          <p:cNvSpPr txBox="1"/>
          <p:nvPr/>
        </p:nvSpPr>
        <p:spPr>
          <a:xfrm>
            <a:off x="790565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9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9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9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9" name="Google Shape;789;p93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90" name="Google Shape;790;p93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5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1" name="Google Shape;791;p93"/>
          <p:cNvSpPr txBox="1"/>
          <p:nvPr/>
        </p:nvSpPr>
        <p:spPr>
          <a:xfrm>
            <a:off x="55196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792" name="Google Shape;792;p93"/>
          <p:cNvSpPr txBox="1"/>
          <p:nvPr/>
        </p:nvSpPr>
        <p:spPr>
          <a:xfrm>
            <a:off x="78063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793" name="Google Shape;793;p93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794" name="Google Shape;794;p93"/>
          <p:cNvSpPr/>
          <p:nvPr/>
        </p:nvSpPr>
        <p:spPr>
          <a:xfrm>
            <a:off x="446825" y="3886775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93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 </a:t>
            </a:r>
            <a:r>
              <a:rPr lang="en-GB" b="1"/>
              <a:t>=</a:t>
            </a:r>
            <a:r>
              <a:rPr lang="en-GB"/>
              <a:t> 5</a:t>
            </a:r>
            <a:endParaRPr/>
          </a:p>
        </p:txBody>
      </p:sp>
      <p:sp>
        <p:nvSpPr>
          <p:cNvPr id="796" name="Google Shape;796;p93"/>
          <p:cNvSpPr txBox="1"/>
          <p:nvPr/>
        </p:nvSpPr>
        <p:spPr>
          <a:xfrm>
            <a:off x="590517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797" name="Google Shape;797;p93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798" name="Google Shape;798;p93"/>
          <p:cNvSpPr txBox="1"/>
          <p:nvPr/>
        </p:nvSpPr>
        <p:spPr>
          <a:xfrm>
            <a:off x="55776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799" name="Google Shape;799;p93"/>
          <p:cNvSpPr txBox="1"/>
          <p:nvPr/>
        </p:nvSpPr>
        <p:spPr>
          <a:xfrm>
            <a:off x="790565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9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7" name="Google Shape;807;p94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08" name="Google Shape;808;p94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5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9" name="Google Shape;809;p94"/>
          <p:cNvSpPr txBox="1"/>
          <p:nvPr/>
        </p:nvSpPr>
        <p:spPr>
          <a:xfrm>
            <a:off x="55196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810" name="Google Shape;810;p94"/>
          <p:cNvSpPr txBox="1"/>
          <p:nvPr/>
        </p:nvSpPr>
        <p:spPr>
          <a:xfrm>
            <a:off x="78063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811" name="Google Shape;811;p94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812" name="Google Shape;812;p94"/>
          <p:cNvSpPr/>
          <p:nvPr/>
        </p:nvSpPr>
        <p:spPr>
          <a:xfrm>
            <a:off x="446825" y="3886775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94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 </a:t>
            </a:r>
            <a:r>
              <a:rPr lang="en-GB" b="1"/>
              <a:t>=</a:t>
            </a:r>
            <a:r>
              <a:rPr lang="en-GB"/>
              <a:t> 5</a:t>
            </a:r>
            <a:endParaRPr/>
          </a:p>
        </p:txBody>
      </p:sp>
      <p:sp>
        <p:nvSpPr>
          <p:cNvPr id="814" name="Google Shape;814;p94"/>
          <p:cNvSpPr txBox="1"/>
          <p:nvPr/>
        </p:nvSpPr>
        <p:spPr>
          <a:xfrm>
            <a:off x="62880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815" name="Google Shape;815;p94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816" name="Google Shape;816;p94"/>
          <p:cNvSpPr txBox="1"/>
          <p:nvPr/>
        </p:nvSpPr>
        <p:spPr>
          <a:xfrm>
            <a:off x="55776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817" name="Google Shape;817;p94"/>
          <p:cNvSpPr txBox="1"/>
          <p:nvPr/>
        </p:nvSpPr>
        <p:spPr>
          <a:xfrm>
            <a:off x="790565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9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9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9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5" name="Google Shape;825;p95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26" name="Google Shape;826;p95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3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7" name="Google Shape;827;p95"/>
          <p:cNvSpPr txBox="1"/>
          <p:nvPr/>
        </p:nvSpPr>
        <p:spPr>
          <a:xfrm>
            <a:off x="55196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828" name="Google Shape;828;p95"/>
          <p:cNvSpPr txBox="1"/>
          <p:nvPr/>
        </p:nvSpPr>
        <p:spPr>
          <a:xfrm>
            <a:off x="78063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829" name="Google Shape;829;p95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830" name="Google Shape;830;p95"/>
          <p:cNvSpPr/>
          <p:nvPr/>
        </p:nvSpPr>
        <p:spPr>
          <a:xfrm>
            <a:off x="446825" y="2460000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95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 </a:t>
            </a:r>
            <a:r>
              <a:rPr lang="en-GB" b="1"/>
              <a:t>&lt;</a:t>
            </a:r>
            <a:r>
              <a:rPr lang="en-GB"/>
              <a:t> 5</a:t>
            </a:r>
            <a:endParaRPr/>
          </a:p>
        </p:txBody>
      </p:sp>
      <p:sp>
        <p:nvSpPr>
          <p:cNvPr id="832" name="Google Shape;832;p95"/>
          <p:cNvSpPr txBox="1"/>
          <p:nvPr/>
        </p:nvSpPr>
        <p:spPr>
          <a:xfrm>
            <a:off x="62880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833" name="Google Shape;833;p95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834" name="Google Shape;834;p95"/>
          <p:cNvSpPr txBox="1"/>
          <p:nvPr/>
        </p:nvSpPr>
        <p:spPr>
          <a:xfrm>
            <a:off x="55776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835" name="Google Shape;835;p95"/>
          <p:cNvSpPr txBox="1"/>
          <p:nvPr/>
        </p:nvSpPr>
        <p:spPr>
          <a:xfrm>
            <a:off x="790565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9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9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9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3" name="Google Shape;843;p96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44" name="Google Shape;844;p96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3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5" name="Google Shape;845;p96"/>
          <p:cNvSpPr txBox="1"/>
          <p:nvPr/>
        </p:nvSpPr>
        <p:spPr>
          <a:xfrm>
            <a:off x="59051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846" name="Google Shape;846;p96"/>
          <p:cNvSpPr txBox="1"/>
          <p:nvPr/>
        </p:nvSpPr>
        <p:spPr>
          <a:xfrm>
            <a:off x="78063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847" name="Google Shape;847;p96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848" name="Google Shape;848;p96"/>
          <p:cNvSpPr/>
          <p:nvPr/>
        </p:nvSpPr>
        <p:spPr>
          <a:xfrm>
            <a:off x="446825" y="2460000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96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 </a:t>
            </a:r>
            <a:r>
              <a:rPr lang="en-GB" b="1"/>
              <a:t>&lt;</a:t>
            </a:r>
            <a:r>
              <a:rPr lang="en-GB"/>
              <a:t> 5</a:t>
            </a:r>
            <a:endParaRPr/>
          </a:p>
        </p:txBody>
      </p:sp>
      <p:sp>
        <p:nvSpPr>
          <p:cNvPr id="850" name="Google Shape;850;p96"/>
          <p:cNvSpPr txBox="1"/>
          <p:nvPr/>
        </p:nvSpPr>
        <p:spPr>
          <a:xfrm>
            <a:off x="6691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851" name="Google Shape;851;p96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852" name="Google Shape;852;p96"/>
          <p:cNvSpPr txBox="1"/>
          <p:nvPr/>
        </p:nvSpPr>
        <p:spPr>
          <a:xfrm>
            <a:off x="59813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853" name="Google Shape;853;p96"/>
          <p:cNvSpPr txBox="1"/>
          <p:nvPr/>
        </p:nvSpPr>
        <p:spPr>
          <a:xfrm>
            <a:off x="790565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9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9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9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1" name="Google Shape;861;p97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62" name="Google Shape;862;p97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2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3" name="Google Shape;863;p97"/>
          <p:cNvSpPr txBox="1"/>
          <p:nvPr/>
        </p:nvSpPr>
        <p:spPr>
          <a:xfrm>
            <a:off x="59051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864" name="Google Shape;864;p97"/>
          <p:cNvSpPr txBox="1"/>
          <p:nvPr/>
        </p:nvSpPr>
        <p:spPr>
          <a:xfrm>
            <a:off x="78063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865" name="Google Shape;865;p97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866" name="Google Shape;866;p97"/>
          <p:cNvSpPr/>
          <p:nvPr/>
        </p:nvSpPr>
        <p:spPr>
          <a:xfrm>
            <a:off x="446825" y="2460000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97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 </a:t>
            </a:r>
            <a:r>
              <a:rPr lang="en-GB" b="1"/>
              <a:t>&lt;</a:t>
            </a:r>
            <a:r>
              <a:rPr lang="en-GB"/>
              <a:t> 5</a:t>
            </a:r>
            <a:endParaRPr/>
          </a:p>
        </p:txBody>
      </p:sp>
      <p:sp>
        <p:nvSpPr>
          <p:cNvPr id="868" name="Google Shape;868;p97"/>
          <p:cNvSpPr txBox="1"/>
          <p:nvPr/>
        </p:nvSpPr>
        <p:spPr>
          <a:xfrm>
            <a:off x="6691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869" name="Google Shape;869;p97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870" name="Google Shape;870;p97"/>
          <p:cNvSpPr txBox="1"/>
          <p:nvPr/>
        </p:nvSpPr>
        <p:spPr>
          <a:xfrm>
            <a:off x="59813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871" name="Google Shape;871;p97"/>
          <p:cNvSpPr txBox="1"/>
          <p:nvPr/>
        </p:nvSpPr>
        <p:spPr>
          <a:xfrm>
            <a:off x="790565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9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9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9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9" name="Google Shape;879;p98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80" name="Google Shape;880;p98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2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1" name="Google Shape;881;p98"/>
          <p:cNvSpPr txBox="1"/>
          <p:nvPr/>
        </p:nvSpPr>
        <p:spPr>
          <a:xfrm>
            <a:off x="62861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882" name="Google Shape;882;p98"/>
          <p:cNvSpPr txBox="1"/>
          <p:nvPr/>
        </p:nvSpPr>
        <p:spPr>
          <a:xfrm>
            <a:off x="78063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883" name="Google Shape;883;p98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884" name="Google Shape;884;p98"/>
          <p:cNvSpPr/>
          <p:nvPr/>
        </p:nvSpPr>
        <p:spPr>
          <a:xfrm>
            <a:off x="446825" y="2460000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98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 </a:t>
            </a:r>
            <a:r>
              <a:rPr lang="en-GB" b="1"/>
              <a:t>&lt;</a:t>
            </a:r>
            <a:r>
              <a:rPr lang="en-GB"/>
              <a:t> 5</a:t>
            </a:r>
            <a:endParaRPr/>
          </a:p>
        </p:txBody>
      </p:sp>
      <p:sp>
        <p:nvSpPr>
          <p:cNvPr id="886" name="Google Shape;886;p98"/>
          <p:cNvSpPr txBox="1"/>
          <p:nvPr/>
        </p:nvSpPr>
        <p:spPr>
          <a:xfrm>
            <a:off x="7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887" name="Google Shape;887;p98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888" name="Google Shape;888;p98"/>
          <p:cNvSpPr txBox="1"/>
          <p:nvPr/>
        </p:nvSpPr>
        <p:spPr>
          <a:xfrm>
            <a:off x="63623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889" name="Google Shape;889;p98"/>
          <p:cNvSpPr txBox="1"/>
          <p:nvPr/>
        </p:nvSpPr>
        <p:spPr>
          <a:xfrm>
            <a:off x="790565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9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97" name="Google Shape;897;p99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98" name="Google Shape;898;p99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8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9" name="Google Shape;899;p99"/>
          <p:cNvSpPr txBox="1"/>
          <p:nvPr/>
        </p:nvSpPr>
        <p:spPr>
          <a:xfrm>
            <a:off x="62861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900" name="Google Shape;900;p99"/>
          <p:cNvSpPr txBox="1"/>
          <p:nvPr/>
        </p:nvSpPr>
        <p:spPr>
          <a:xfrm>
            <a:off x="7806300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901" name="Google Shape;901;p99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902" name="Google Shape;902;p99"/>
          <p:cNvSpPr/>
          <p:nvPr/>
        </p:nvSpPr>
        <p:spPr>
          <a:xfrm>
            <a:off x="446825" y="3241925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99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 </a:t>
            </a:r>
            <a:r>
              <a:rPr lang="en-GB" b="1"/>
              <a:t>&gt;</a:t>
            </a:r>
            <a:r>
              <a:rPr lang="en-GB"/>
              <a:t> 5</a:t>
            </a:r>
            <a:endParaRPr/>
          </a:p>
        </p:txBody>
      </p:sp>
      <p:sp>
        <p:nvSpPr>
          <p:cNvPr id="904" name="Google Shape;904;p99"/>
          <p:cNvSpPr txBox="1"/>
          <p:nvPr/>
        </p:nvSpPr>
        <p:spPr>
          <a:xfrm>
            <a:off x="7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905" name="Google Shape;905;p99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06" name="Google Shape;906;p99"/>
          <p:cNvSpPr txBox="1"/>
          <p:nvPr/>
        </p:nvSpPr>
        <p:spPr>
          <a:xfrm>
            <a:off x="63623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07" name="Google Shape;907;p99"/>
          <p:cNvSpPr txBox="1"/>
          <p:nvPr/>
        </p:nvSpPr>
        <p:spPr>
          <a:xfrm>
            <a:off x="790565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0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10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10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15" name="Google Shape;915;p100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16" name="Google Shape;916;p100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8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7" name="Google Shape;917;p100"/>
          <p:cNvSpPr txBox="1"/>
          <p:nvPr/>
        </p:nvSpPr>
        <p:spPr>
          <a:xfrm>
            <a:off x="62861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918" name="Google Shape;918;p100"/>
          <p:cNvSpPr txBox="1"/>
          <p:nvPr/>
        </p:nvSpPr>
        <p:spPr>
          <a:xfrm>
            <a:off x="74813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919" name="Google Shape;919;p100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920" name="Google Shape;920;p100"/>
          <p:cNvSpPr/>
          <p:nvPr/>
        </p:nvSpPr>
        <p:spPr>
          <a:xfrm>
            <a:off x="446825" y="3241925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100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 </a:t>
            </a:r>
            <a:r>
              <a:rPr lang="en-GB" b="1"/>
              <a:t>&gt;</a:t>
            </a:r>
            <a:r>
              <a:rPr lang="en-GB"/>
              <a:t> 5</a:t>
            </a:r>
            <a:endParaRPr/>
          </a:p>
        </p:txBody>
      </p:sp>
      <p:sp>
        <p:nvSpPr>
          <p:cNvPr id="922" name="Google Shape;922;p100"/>
          <p:cNvSpPr txBox="1"/>
          <p:nvPr/>
        </p:nvSpPr>
        <p:spPr>
          <a:xfrm>
            <a:off x="7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923" name="Google Shape;923;p100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24" name="Google Shape;924;p100"/>
          <p:cNvSpPr txBox="1"/>
          <p:nvPr/>
        </p:nvSpPr>
        <p:spPr>
          <a:xfrm>
            <a:off x="63623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25" name="Google Shape;925;p100"/>
          <p:cNvSpPr txBox="1"/>
          <p:nvPr/>
        </p:nvSpPr>
        <p:spPr>
          <a:xfrm>
            <a:off x="758072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0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10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10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3" name="Google Shape;933;p101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34" name="Google Shape;934;p101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7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5" name="Google Shape;935;p101"/>
          <p:cNvSpPr txBox="1"/>
          <p:nvPr/>
        </p:nvSpPr>
        <p:spPr>
          <a:xfrm>
            <a:off x="62861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936" name="Google Shape;936;p101"/>
          <p:cNvSpPr txBox="1"/>
          <p:nvPr/>
        </p:nvSpPr>
        <p:spPr>
          <a:xfrm>
            <a:off x="74813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937" name="Google Shape;937;p101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938" name="Google Shape;938;p101"/>
          <p:cNvSpPr/>
          <p:nvPr/>
        </p:nvSpPr>
        <p:spPr>
          <a:xfrm>
            <a:off x="446825" y="3241925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101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 </a:t>
            </a:r>
            <a:r>
              <a:rPr lang="en-GB" b="1"/>
              <a:t>&gt;</a:t>
            </a:r>
            <a:r>
              <a:rPr lang="en-GB"/>
              <a:t> 5</a:t>
            </a:r>
            <a:endParaRPr/>
          </a:p>
        </p:txBody>
      </p:sp>
      <p:sp>
        <p:nvSpPr>
          <p:cNvPr id="940" name="Google Shape;940;p101"/>
          <p:cNvSpPr txBox="1"/>
          <p:nvPr/>
        </p:nvSpPr>
        <p:spPr>
          <a:xfrm>
            <a:off x="7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941" name="Google Shape;941;p101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42" name="Google Shape;942;p101"/>
          <p:cNvSpPr txBox="1"/>
          <p:nvPr/>
        </p:nvSpPr>
        <p:spPr>
          <a:xfrm>
            <a:off x="63623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43" name="Google Shape;943;p101"/>
          <p:cNvSpPr txBox="1"/>
          <p:nvPr/>
        </p:nvSpPr>
        <p:spPr>
          <a:xfrm>
            <a:off x="758072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0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10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1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1" name="Google Shape;951;p102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52" name="Google Shape;952;p102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7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3" name="Google Shape;953;p102"/>
          <p:cNvSpPr txBox="1"/>
          <p:nvPr/>
        </p:nvSpPr>
        <p:spPr>
          <a:xfrm>
            <a:off x="62861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954" name="Google Shape;954;p102"/>
          <p:cNvSpPr txBox="1"/>
          <p:nvPr/>
        </p:nvSpPr>
        <p:spPr>
          <a:xfrm>
            <a:off x="71003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955" name="Google Shape;955;p102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956" name="Google Shape;956;p102"/>
          <p:cNvSpPr/>
          <p:nvPr/>
        </p:nvSpPr>
        <p:spPr>
          <a:xfrm>
            <a:off x="446825" y="3241925"/>
            <a:ext cx="2782500" cy="7818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102"/>
          <p:cNvSpPr txBox="1"/>
          <p:nvPr/>
        </p:nvSpPr>
        <p:spPr>
          <a:xfrm>
            <a:off x="4371925" y="2514563"/>
            <a:ext cx="959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 </a:t>
            </a:r>
            <a:r>
              <a:rPr lang="en-GB" b="1"/>
              <a:t>&gt;</a:t>
            </a:r>
            <a:r>
              <a:rPr lang="en-GB"/>
              <a:t> 5</a:t>
            </a:r>
            <a:endParaRPr/>
          </a:p>
        </p:txBody>
      </p:sp>
      <p:sp>
        <p:nvSpPr>
          <p:cNvPr id="958" name="Google Shape;958;p102"/>
          <p:cNvSpPr txBox="1"/>
          <p:nvPr/>
        </p:nvSpPr>
        <p:spPr>
          <a:xfrm>
            <a:off x="7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959" name="Google Shape;959;p102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60" name="Google Shape;960;p102"/>
          <p:cNvSpPr txBox="1"/>
          <p:nvPr/>
        </p:nvSpPr>
        <p:spPr>
          <a:xfrm>
            <a:off x="63623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61" name="Google Shape;961;p102"/>
          <p:cNvSpPr txBox="1"/>
          <p:nvPr/>
        </p:nvSpPr>
        <p:spPr>
          <a:xfrm>
            <a:off x="719972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0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10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9" name="Google Shape;969;p103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70" name="Google Shape;970;p103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1" name="Google Shape;971;p103"/>
          <p:cNvSpPr txBox="1"/>
          <p:nvPr/>
        </p:nvSpPr>
        <p:spPr>
          <a:xfrm>
            <a:off x="62861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972" name="Google Shape;972;p103"/>
          <p:cNvSpPr txBox="1"/>
          <p:nvPr/>
        </p:nvSpPr>
        <p:spPr>
          <a:xfrm>
            <a:off x="71003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973" name="Google Shape;973;p103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974" name="Google Shape;974;p103"/>
          <p:cNvSpPr/>
          <p:nvPr/>
        </p:nvSpPr>
        <p:spPr>
          <a:xfrm>
            <a:off x="446825" y="2253125"/>
            <a:ext cx="1447200" cy="2337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103"/>
          <p:cNvSpPr txBox="1"/>
          <p:nvPr/>
        </p:nvSpPr>
        <p:spPr>
          <a:xfrm>
            <a:off x="7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976" name="Google Shape;976;p103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77" name="Google Shape;977;p103"/>
          <p:cNvSpPr txBox="1"/>
          <p:nvPr/>
        </p:nvSpPr>
        <p:spPr>
          <a:xfrm>
            <a:off x="63623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78" name="Google Shape;978;p103"/>
          <p:cNvSpPr txBox="1"/>
          <p:nvPr/>
        </p:nvSpPr>
        <p:spPr>
          <a:xfrm>
            <a:off x="719972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79" name="Google Shape;979;p103"/>
          <p:cNvSpPr txBox="1"/>
          <p:nvPr/>
        </p:nvSpPr>
        <p:spPr>
          <a:xfrm>
            <a:off x="5691875" y="3777650"/>
            <a:ext cx="28029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Finished!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many operations was that?</a:t>
            </a:r>
            <a:endParaRPr/>
          </a:p>
        </p:txBody>
      </p:sp>
      <p:graphicFrame>
        <p:nvGraphicFramePr>
          <p:cNvPr id="980" name="Google Shape;980;p103"/>
          <p:cNvGraphicFramePr/>
          <p:nvPr/>
        </p:nvGraphicFramePr>
        <p:xfrm>
          <a:off x="5139475" y="3306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81" name="Google Shape;981;p103"/>
          <p:cNvCxnSpPr>
            <a:endCxn id="971" idx="3"/>
          </p:cNvCxnSpPr>
          <p:nvPr/>
        </p:nvCxnSpPr>
        <p:spPr>
          <a:xfrm rot="10800000">
            <a:off x="6854975" y="2930400"/>
            <a:ext cx="4800" cy="29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0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10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10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Hoare Partitioning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9" name="Google Shape;989;p104"/>
          <p:cNvSpPr txBox="1"/>
          <p:nvPr/>
        </p:nvSpPr>
        <p:spPr>
          <a:xfrm>
            <a:off x="247275" y="1252500"/>
            <a:ext cx="65925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 partition(int *A, int n, int* fe, int* fg, int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int next = 0; // next item to partition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*fe = 0; // first equals,  will go -&gt;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*fg = n; // first greater, will go &lt;-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while (next &lt; *fg)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if (A[next] &lt;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*fe,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(*fe)++;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if (A[next] &gt; pivot)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GB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(*fg)--;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int_swap(A + *fg, A + next);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else { // if (A[next] == pivot)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next++;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90" name="Google Shape;990;p104"/>
          <p:cNvGraphicFramePr/>
          <p:nvPr/>
        </p:nvGraphicFramePr>
        <p:xfrm>
          <a:off x="5139475" y="25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91" name="Google Shape;991;p104"/>
          <p:cNvSpPr txBox="1"/>
          <p:nvPr/>
        </p:nvSpPr>
        <p:spPr>
          <a:xfrm>
            <a:off x="62861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^fe</a:t>
            </a:r>
            <a:endParaRPr sz="1200"/>
          </a:p>
        </p:txBody>
      </p:sp>
      <p:sp>
        <p:nvSpPr>
          <p:cNvPr id="992" name="Google Shape;992;p104"/>
          <p:cNvSpPr txBox="1"/>
          <p:nvPr/>
        </p:nvSpPr>
        <p:spPr>
          <a:xfrm>
            <a:off x="7100375" y="2813550"/>
            <a:ext cx="568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^fg</a:t>
            </a:r>
            <a:endParaRPr sz="1200"/>
          </a:p>
        </p:txBody>
      </p:sp>
      <p:sp>
        <p:nvSpPr>
          <p:cNvPr id="993" name="Google Shape;993;p104"/>
          <p:cNvSpPr txBox="1"/>
          <p:nvPr/>
        </p:nvSpPr>
        <p:spPr>
          <a:xfrm>
            <a:off x="5072725" y="1767125"/>
            <a:ext cx="1041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Pivot: </a:t>
            </a:r>
            <a:r>
              <a:rPr lang="en-GB" b="1"/>
              <a:t>5</a:t>
            </a:r>
            <a:endParaRPr b="1"/>
          </a:p>
        </p:txBody>
      </p:sp>
      <p:sp>
        <p:nvSpPr>
          <p:cNvPr id="994" name="Google Shape;994;p104"/>
          <p:cNvSpPr/>
          <p:nvPr/>
        </p:nvSpPr>
        <p:spPr>
          <a:xfrm>
            <a:off x="446825" y="2253125"/>
            <a:ext cx="1447200" cy="233700"/>
          </a:xfrm>
          <a:prstGeom prst="rect">
            <a:avLst/>
          </a:prstGeom>
          <a:solidFill>
            <a:srgbClr val="80FF00">
              <a:alpha val="173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104"/>
          <p:cNvSpPr txBox="1"/>
          <p:nvPr/>
        </p:nvSpPr>
        <p:spPr>
          <a:xfrm>
            <a:off x="7072725" y="2226300"/>
            <a:ext cx="720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v </a:t>
            </a:r>
            <a:r>
              <a:rPr lang="en-GB" sz="1200"/>
              <a:t>next</a:t>
            </a:r>
            <a:endParaRPr sz="1200"/>
          </a:p>
        </p:txBody>
      </p:sp>
      <p:sp>
        <p:nvSpPr>
          <p:cNvPr id="996" name="Google Shape;996;p104"/>
          <p:cNvSpPr txBox="1"/>
          <p:nvPr/>
        </p:nvSpPr>
        <p:spPr>
          <a:xfrm>
            <a:off x="5209500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&lt;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97" name="Google Shape;997;p104"/>
          <p:cNvSpPr txBox="1"/>
          <p:nvPr/>
        </p:nvSpPr>
        <p:spPr>
          <a:xfrm>
            <a:off x="636237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=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98" name="Google Shape;998;p104"/>
          <p:cNvSpPr txBox="1"/>
          <p:nvPr/>
        </p:nvSpPr>
        <p:spPr>
          <a:xfrm>
            <a:off x="7199725" y="2289900"/>
            <a:ext cx="248700" cy="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</a:rPr>
              <a:t>&gt;</a:t>
            </a:r>
            <a:endParaRPr sz="1000">
              <a:solidFill>
                <a:schemeClr val="accent3"/>
              </a:solidFill>
            </a:endParaRPr>
          </a:p>
        </p:txBody>
      </p:sp>
      <p:sp>
        <p:nvSpPr>
          <p:cNvPr id="999" name="Google Shape;999;p104"/>
          <p:cNvSpPr txBox="1"/>
          <p:nvPr/>
        </p:nvSpPr>
        <p:spPr>
          <a:xfrm>
            <a:off x="5691875" y="3777650"/>
            <a:ext cx="28029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Finished!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many operations was that?</a:t>
            </a:r>
            <a:endParaRPr/>
          </a:p>
        </p:txBody>
      </p:sp>
      <p:graphicFrame>
        <p:nvGraphicFramePr>
          <p:cNvPr id="1000" name="Google Shape;1000;p104"/>
          <p:cNvGraphicFramePr/>
          <p:nvPr/>
        </p:nvGraphicFramePr>
        <p:xfrm>
          <a:off x="5139475" y="3306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01" name="Google Shape;1001;p104"/>
          <p:cNvCxnSpPr>
            <a:endCxn id="991" idx="3"/>
          </p:cNvCxnSpPr>
          <p:nvPr/>
        </p:nvCxnSpPr>
        <p:spPr>
          <a:xfrm rot="10800000">
            <a:off x="6854975" y="2930400"/>
            <a:ext cx="4800" cy="29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2" name="Google Shape;1002;p104"/>
          <p:cNvSpPr txBox="1"/>
          <p:nvPr/>
        </p:nvSpPr>
        <p:spPr>
          <a:xfrm>
            <a:off x="5884750" y="4463350"/>
            <a:ext cx="21366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/>
              <a:t>O(n)</a:t>
            </a:r>
            <a:endParaRPr sz="21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0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10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10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Quicksort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0" name="Google Shape;1010;p105"/>
          <p:cNvSpPr txBox="1"/>
          <p:nvPr/>
        </p:nvSpPr>
        <p:spPr>
          <a:xfrm>
            <a:off x="247275" y="1328700"/>
            <a:ext cx="85419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quicksort(int *A, int n){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(n &lt;= 1) return; // base case -- sorted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fe, fg;  // "first equal =", "first greater &gt;"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int pivot = choose_pivot(A);  // pick a pivot (value of the pivot, not index)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partition(A, n, &amp;fe, &amp;fg, pivot); // partition the array.  (b)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quicksort(A, fe); // length of first partition is index of fe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quicksort(A + fg, n - fg); // length of second partition is size n - index of fg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equals are in place -- we’re done!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1" name="Google Shape;1011;p105"/>
          <p:cNvSpPr txBox="1"/>
          <p:nvPr/>
        </p:nvSpPr>
        <p:spPr>
          <a:xfrm>
            <a:off x="977775" y="3847725"/>
            <a:ext cx="58848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choosing a pivot change the complexity of quicksort?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best choice of pivot?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0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10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10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Quicksort Performance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9" name="Google Shape;1019;p106"/>
          <p:cNvSpPr txBox="1"/>
          <p:nvPr/>
        </p:nvSpPr>
        <p:spPr>
          <a:xfrm>
            <a:off x="311700" y="1317575"/>
            <a:ext cx="88323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… depends on our choice of pivot!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eg:   2 </a:t>
            </a:r>
            <a:r>
              <a:rPr lang="en-GB" u="sng">
                <a:solidFill>
                  <a:schemeClr val="dk1"/>
                </a:solidFill>
              </a:rPr>
              <a:t>4</a:t>
            </a:r>
            <a:r>
              <a:rPr lang="en-GB">
                <a:solidFill>
                  <a:schemeClr val="dk1"/>
                </a:solidFill>
              </a:rPr>
              <a:t> 6 8 7 5 3 1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Best case quicksort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sort =&gt;     (&lt; 2 3 1) (= 4) (&gt; 7 8 6)                             Partitioning is n operations</a:t>
            </a:r>
            <a:endParaRPr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sort left =&gt;	  (&lt; 1) (= 2) (&gt; 3)                     		     n/2 ops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			</a:t>
            </a:r>
            <a:endParaRPr>
              <a:solidFill>
                <a:schemeClr val="dk1"/>
              </a:solidFill>
            </a:endParaRP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sort left =&gt;   (&lt; ) (= 1) (&gt; )  (done)                 n/4 ops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			sort right =&gt; (&lt; ) (= 3) (&gt; )  (done)                 n/4 ops</a:t>
            </a:r>
            <a:endParaRPr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sort right =&gt; (&lt; 6) (= 7) (&gt; 8)                                           n/2 ops</a:t>
            </a:r>
            <a:endParaRPr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		</a:t>
            </a:r>
            <a:endParaRPr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		sort left =&gt;   (&lt; ) (= 6) (&gt; )  (done)                 n/4 ops</a:t>
            </a:r>
            <a:endParaRPr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		sort right =&gt; (&lt; ) (= 8) (&gt; )  (done)                 n/4 ops</a:t>
            </a:r>
            <a:endParaRPr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									Total: n + 2*n/2 + 4*n/4 = 3n = </a:t>
            </a:r>
            <a:r>
              <a:rPr lang="en-GB" sz="1600" b="1">
                <a:solidFill>
                  <a:schemeClr val="dk1"/>
                </a:solidFill>
              </a:rPr>
              <a:t>O(n log n)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														(log2(8) = 3)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0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10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10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Quicksort Performance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7" name="Google Shape;1027;p107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… depends on our choice of pivot!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eg:   2 4 6 8 7 5 3 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Worst case quicksort</a:t>
            </a:r>
            <a:r>
              <a:rPr lang="en-GB">
                <a:solidFill>
                  <a:schemeClr val="dk1"/>
                </a:solidFill>
              </a:rPr>
              <a:t>…?   Just wait.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0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10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10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Choosing a pivot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5" name="Google Shape;1035;p108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b="1"/>
              <a:t>First element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9900"/>
                </a:highlight>
              </a:rPr>
              <a:t>1 </a:t>
            </a:r>
            <a:r>
              <a:rPr lang="en-GB"/>
              <a:t>2 3 4 5 6 7 8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^ pivot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issues?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10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10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10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Choosing a pivot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3" name="Google Shape;1043;p109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b="1"/>
              <a:t>First element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highlight>
                  <a:srgbClr val="FF9900"/>
                </a:highlight>
              </a:rPr>
              <a:t>1 </a:t>
            </a:r>
            <a:r>
              <a:rPr lang="en-GB"/>
              <a:t>2 3 4 5 6 7 8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^ pivot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issues?  </a:t>
            </a:r>
            <a:r>
              <a:rPr lang="en-GB">
                <a:solidFill>
                  <a:srgbClr val="FF0000"/>
                </a:solidFill>
              </a:rPr>
              <a:t>Yep.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 array is already sorted, we will get worst case time complexity.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Partitioning:                                                                         </a:t>
            </a:r>
            <a:r>
              <a:rPr lang="en-GB">
                <a:solidFill>
                  <a:schemeClr val="dk1"/>
                </a:solidFill>
              </a:rPr>
              <a:t>(recall: Hoare partitioning reverses &gt; elements)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(&lt;)                       (=)  1      (&gt;)  </a:t>
            </a:r>
            <a:r>
              <a:rPr lang="en-GB" u="sng"/>
              <a:t>8</a:t>
            </a:r>
            <a:r>
              <a:rPr lang="en-GB"/>
              <a:t> 7 6 5 4 3 2                        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7</a:t>
            </a:r>
            <a:r>
              <a:rPr lang="en-GB">
                <a:solidFill>
                  <a:schemeClr val="dk1"/>
                </a:solidFill>
              </a:rPr>
              <a:t> 6 5 4 3 2     (=)  8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6</a:t>
            </a:r>
            <a:r>
              <a:rPr lang="en-GB">
                <a:solidFill>
                  <a:schemeClr val="dk1"/>
                </a:solidFill>
              </a:rPr>
              <a:t> 5 4 3 2        (=)  7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5</a:t>
            </a:r>
            <a:r>
              <a:rPr lang="en-GB">
                <a:solidFill>
                  <a:schemeClr val="dk1"/>
                </a:solidFill>
              </a:rPr>
              <a:t> 4 3 2           (=)  6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4</a:t>
            </a:r>
            <a:r>
              <a:rPr lang="en-GB">
                <a:solidFill>
                  <a:schemeClr val="dk1"/>
                </a:solidFill>
              </a:rPr>
              <a:t> 3 2              (=)  5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3</a:t>
            </a:r>
            <a:r>
              <a:rPr lang="en-GB">
                <a:solidFill>
                  <a:schemeClr val="dk1"/>
                </a:solidFill>
              </a:rPr>
              <a:t> 2                 (=)  4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2</a:t>
            </a:r>
            <a:r>
              <a:rPr lang="en-GB">
                <a:solidFill>
                  <a:schemeClr val="dk1"/>
                </a:solidFill>
              </a:rPr>
              <a:t>                    (=)  3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                      (=)  2      (&gt;) 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1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11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1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Choosing a pivot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1" name="Google Shape;1051;p110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b="1"/>
              <a:t>First element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highlight>
                  <a:srgbClr val="FF9900"/>
                </a:highlight>
              </a:rPr>
              <a:t>1 </a:t>
            </a:r>
            <a:r>
              <a:rPr lang="en-GB"/>
              <a:t>2 3 4 5 6 7 8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^ pivot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issues?  </a:t>
            </a:r>
            <a:r>
              <a:rPr lang="en-GB">
                <a:solidFill>
                  <a:srgbClr val="FF0000"/>
                </a:solidFill>
              </a:rPr>
              <a:t>Yep.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 array is already sorted, we will get worst case time complexity.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Partitioning:                                                                         </a:t>
            </a:r>
            <a:r>
              <a:rPr lang="en-GB">
                <a:solidFill>
                  <a:schemeClr val="dk1"/>
                </a:solidFill>
              </a:rPr>
              <a:t>(recall: Hoare partitioning reverses &gt; elements)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(&lt;)                       (=)  1      (&gt;)  </a:t>
            </a:r>
            <a:r>
              <a:rPr lang="en-GB" u="sng"/>
              <a:t>8</a:t>
            </a:r>
            <a:r>
              <a:rPr lang="en-GB"/>
              <a:t> 7 6 5 4 3 2                        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7</a:t>
            </a:r>
            <a:r>
              <a:rPr lang="en-GB">
                <a:solidFill>
                  <a:schemeClr val="dk1"/>
                </a:solidFill>
              </a:rPr>
              <a:t> 6 5 4 3 2     (=)  8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6</a:t>
            </a:r>
            <a:r>
              <a:rPr lang="en-GB">
                <a:solidFill>
                  <a:schemeClr val="dk1"/>
                </a:solidFill>
              </a:rPr>
              <a:t> 5 4 3 2        (=)  7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5</a:t>
            </a:r>
            <a:r>
              <a:rPr lang="en-GB">
                <a:solidFill>
                  <a:schemeClr val="dk1"/>
                </a:solidFill>
              </a:rPr>
              <a:t> 4 3 2           (=)  6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4</a:t>
            </a:r>
            <a:r>
              <a:rPr lang="en-GB">
                <a:solidFill>
                  <a:schemeClr val="dk1"/>
                </a:solidFill>
              </a:rPr>
              <a:t> 3 2              (=)  5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3</a:t>
            </a:r>
            <a:r>
              <a:rPr lang="en-GB">
                <a:solidFill>
                  <a:schemeClr val="dk1"/>
                </a:solidFill>
              </a:rPr>
              <a:t> 2                 (=)  4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</a:t>
            </a:r>
            <a:r>
              <a:rPr lang="en-GB" u="sng">
                <a:solidFill>
                  <a:schemeClr val="dk1"/>
                </a:solidFill>
              </a:rPr>
              <a:t>2</a:t>
            </a:r>
            <a:r>
              <a:rPr lang="en-GB">
                <a:solidFill>
                  <a:schemeClr val="dk1"/>
                </a:solidFill>
              </a:rPr>
              <a:t>                    (=)  3   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                      (=)  2      (&gt;)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2" name="Google Shape;1052;p110"/>
          <p:cNvSpPr/>
          <p:nvPr/>
        </p:nvSpPr>
        <p:spPr>
          <a:xfrm>
            <a:off x="4632750" y="3272200"/>
            <a:ext cx="399900" cy="1672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110"/>
          <p:cNvSpPr txBox="1"/>
          <p:nvPr/>
        </p:nvSpPr>
        <p:spPr>
          <a:xfrm>
            <a:off x="5305375" y="3670775"/>
            <a:ext cx="19905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 partitions,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 is O(n)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time complexity: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n * O(n)  =  </a:t>
            </a:r>
            <a:r>
              <a:rPr lang="en-GB" b="1">
                <a:solidFill>
                  <a:srgbClr val="FF0000"/>
                </a:solidFill>
              </a:rPr>
              <a:t>O(n</a:t>
            </a:r>
            <a:r>
              <a:rPr lang="en-GB" b="1" baseline="30000">
                <a:solidFill>
                  <a:srgbClr val="FF0000"/>
                </a:solidFill>
              </a:rPr>
              <a:t>2</a:t>
            </a:r>
            <a:r>
              <a:rPr lang="en-GB" b="1">
                <a:solidFill>
                  <a:srgbClr val="FF0000"/>
                </a:solidFill>
              </a:rPr>
              <a:t>)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1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11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1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Quicksort Complexity - Pivot choice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graphicFrame>
        <p:nvGraphicFramePr>
          <p:cNvPr id="1061" name="Google Shape;1061;p111"/>
          <p:cNvGraphicFramePr/>
          <p:nvPr/>
        </p:nvGraphicFramePr>
        <p:xfrm>
          <a:off x="952475" y="1787175"/>
          <a:ext cx="7239050" cy="39621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62" name="Google Shape;1062;p111"/>
          <p:cNvSpPr txBox="1"/>
          <p:nvPr/>
        </p:nvSpPr>
        <p:spPr>
          <a:xfrm>
            <a:off x="421100" y="1210675"/>
            <a:ext cx="77304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Pivot:</a:t>
            </a:r>
            <a:r>
              <a:rPr lang="en-GB" b="1">
                <a:solidFill>
                  <a:schemeClr val="dk1"/>
                </a:solidFill>
              </a:rPr>
              <a:t> choose first item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063" name="Google Shape;1063;p111"/>
          <p:cNvGraphicFramePr/>
          <p:nvPr/>
        </p:nvGraphicFramePr>
        <p:xfrm>
          <a:off x="952475" y="2208900"/>
          <a:ext cx="7239050" cy="39621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4" name="Google Shape;1064;p111"/>
          <p:cNvGraphicFramePr/>
          <p:nvPr/>
        </p:nvGraphicFramePr>
        <p:xfrm>
          <a:off x="952475" y="2630625"/>
          <a:ext cx="7239050" cy="39621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5" name="Google Shape;1065;p111"/>
          <p:cNvGraphicFramePr/>
          <p:nvPr/>
        </p:nvGraphicFramePr>
        <p:xfrm>
          <a:off x="952475" y="3052350"/>
          <a:ext cx="7239050" cy="39621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66" name="Google Shape;1066;p111"/>
          <p:cNvSpPr txBox="1"/>
          <p:nvPr/>
        </p:nvSpPr>
        <p:spPr>
          <a:xfrm>
            <a:off x="154625" y="2228025"/>
            <a:ext cx="6957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O(n)</a:t>
            </a:r>
            <a:endParaRPr/>
          </a:p>
        </p:txBody>
      </p:sp>
      <p:sp>
        <p:nvSpPr>
          <p:cNvPr id="1067" name="Google Shape;1067;p111"/>
          <p:cNvSpPr txBox="1"/>
          <p:nvPr/>
        </p:nvSpPr>
        <p:spPr>
          <a:xfrm>
            <a:off x="154625" y="2627625"/>
            <a:ext cx="6957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O(n)</a:t>
            </a:r>
            <a:endParaRPr/>
          </a:p>
        </p:txBody>
      </p:sp>
      <p:sp>
        <p:nvSpPr>
          <p:cNvPr id="1068" name="Google Shape;1068;p111"/>
          <p:cNvSpPr txBox="1"/>
          <p:nvPr/>
        </p:nvSpPr>
        <p:spPr>
          <a:xfrm>
            <a:off x="154625" y="3021200"/>
            <a:ext cx="6957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O(n)</a:t>
            </a:r>
            <a:endParaRPr/>
          </a:p>
        </p:txBody>
      </p:sp>
      <p:graphicFrame>
        <p:nvGraphicFramePr>
          <p:cNvPr id="1069" name="Google Shape;1069;p111"/>
          <p:cNvGraphicFramePr/>
          <p:nvPr/>
        </p:nvGraphicFramePr>
        <p:xfrm>
          <a:off x="952475" y="3505225"/>
          <a:ext cx="7239050" cy="39621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58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70" name="Google Shape;1070;p111"/>
          <p:cNvSpPr txBox="1"/>
          <p:nvPr/>
        </p:nvSpPr>
        <p:spPr>
          <a:xfrm>
            <a:off x="154625" y="3474075"/>
            <a:ext cx="6957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O(n)</a:t>
            </a:r>
            <a:endParaRPr/>
          </a:p>
        </p:txBody>
      </p:sp>
      <p:sp>
        <p:nvSpPr>
          <p:cNvPr id="1071" name="Google Shape;1071;p111"/>
          <p:cNvSpPr txBox="1"/>
          <p:nvPr/>
        </p:nvSpPr>
        <p:spPr>
          <a:xfrm>
            <a:off x="2670800" y="3999175"/>
            <a:ext cx="12090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...</a:t>
            </a:r>
            <a:endParaRPr/>
          </a:p>
        </p:txBody>
      </p:sp>
      <p:graphicFrame>
        <p:nvGraphicFramePr>
          <p:cNvPr id="1072" name="Google Shape;1072;p111"/>
          <p:cNvGraphicFramePr/>
          <p:nvPr/>
        </p:nvGraphicFramePr>
        <p:xfrm>
          <a:off x="952475" y="4348675"/>
          <a:ext cx="7239050" cy="39621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1F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73" name="Google Shape;1073;p111"/>
          <p:cNvSpPr txBox="1"/>
          <p:nvPr/>
        </p:nvSpPr>
        <p:spPr>
          <a:xfrm>
            <a:off x="154625" y="4317525"/>
            <a:ext cx="6957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O(n)</a:t>
            </a:r>
            <a:endParaRPr/>
          </a:p>
        </p:txBody>
      </p:sp>
      <p:sp>
        <p:nvSpPr>
          <p:cNvPr id="1074" name="Google Shape;1074;p111"/>
          <p:cNvSpPr txBox="1"/>
          <p:nvPr/>
        </p:nvSpPr>
        <p:spPr>
          <a:xfrm>
            <a:off x="98400" y="4766400"/>
            <a:ext cx="40764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 * O(n)  =&gt; O(n</a:t>
            </a:r>
            <a:r>
              <a:rPr lang="en-GB" baseline="30000"/>
              <a:t>2</a:t>
            </a:r>
            <a:r>
              <a:rPr lang="en-GB"/>
              <a:t>), worst case</a:t>
            </a:r>
            <a:endParaRPr/>
          </a:p>
        </p:txBody>
      </p:sp>
      <p:sp>
        <p:nvSpPr>
          <p:cNvPr id="1075" name="Google Shape;1075;p111"/>
          <p:cNvSpPr txBox="1"/>
          <p:nvPr/>
        </p:nvSpPr>
        <p:spPr>
          <a:xfrm>
            <a:off x="3141725" y="4787475"/>
            <a:ext cx="42522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O(n) under insertion sort!!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1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11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1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Choosing a pivot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83" name="Google Shape;1083;p112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2.   Last element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issues?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1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11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1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Choosing a pivot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91" name="Google Shape;1091;p113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2.   Last element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Any issues?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8 7 6 5 4 3 2 </a:t>
            </a:r>
            <a:r>
              <a:rPr lang="en-GB" u="sng">
                <a:highlight>
                  <a:srgbClr val="FF9900"/>
                </a:highlight>
              </a:rPr>
              <a:t>1</a:t>
            </a:r>
            <a:endParaRPr u="sng">
              <a:highlight>
                <a:srgbClr val="FF99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^ pivot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 array is in reverse order, we will get worst case time complexity.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Partitioning: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(&lt;) </a:t>
            </a:r>
            <a:r>
              <a:rPr lang="en-GB">
                <a:solidFill>
                  <a:schemeClr val="dk1"/>
                </a:solidFill>
              </a:rPr>
              <a:t>                     </a:t>
            </a:r>
            <a:r>
              <a:rPr lang="en-GB"/>
              <a:t>  (=)  1   (&gt;)  2 3 4 5 6 7 </a:t>
            </a:r>
            <a:r>
              <a:rPr lang="en-GB" u="sng"/>
              <a:t>8</a:t>
            </a:r>
            <a:endParaRPr u="sng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 2 3 4 5 6 </a:t>
            </a:r>
            <a:r>
              <a:rPr lang="en-GB" u="sng">
                <a:solidFill>
                  <a:schemeClr val="dk1"/>
                </a:solidFill>
              </a:rPr>
              <a:t>7</a:t>
            </a:r>
            <a:r>
              <a:rPr lang="en-GB">
                <a:solidFill>
                  <a:schemeClr val="dk1"/>
                </a:solidFill>
              </a:rPr>
              <a:t>     (=)  8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 2 3 4 5 </a:t>
            </a:r>
            <a:r>
              <a:rPr lang="en-GB" u="sng">
                <a:solidFill>
                  <a:schemeClr val="dk1"/>
                </a:solidFill>
              </a:rPr>
              <a:t>6</a:t>
            </a:r>
            <a:r>
              <a:rPr lang="en-GB">
                <a:solidFill>
                  <a:schemeClr val="dk1"/>
                </a:solidFill>
              </a:rPr>
              <a:t>        (=)  7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 2 3 4 </a:t>
            </a:r>
            <a:r>
              <a:rPr lang="en-GB" u="sng">
                <a:solidFill>
                  <a:schemeClr val="dk1"/>
                </a:solidFill>
              </a:rPr>
              <a:t>5</a:t>
            </a:r>
            <a:r>
              <a:rPr lang="en-GB">
                <a:solidFill>
                  <a:schemeClr val="dk1"/>
                </a:solidFill>
              </a:rPr>
              <a:t>           (=)  6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 2 3 </a:t>
            </a:r>
            <a:r>
              <a:rPr lang="en-GB" u="sng">
                <a:solidFill>
                  <a:schemeClr val="dk1"/>
                </a:solidFill>
              </a:rPr>
              <a:t>4</a:t>
            </a:r>
            <a:r>
              <a:rPr lang="en-GB">
                <a:solidFill>
                  <a:schemeClr val="dk1"/>
                </a:solidFill>
              </a:rPr>
              <a:t>              (=)  5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 2 3                 (=)  4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 2                    (=)  3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                       (=)  2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92" name="Google Shape;1092;p113"/>
          <p:cNvSpPr/>
          <p:nvPr/>
        </p:nvSpPr>
        <p:spPr>
          <a:xfrm>
            <a:off x="4099350" y="3272200"/>
            <a:ext cx="399900" cy="1672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113"/>
          <p:cNvSpPr txBox="1"/>
          <p:nvPr/>
        </p:nvSpPr>
        <p:spPr>
          <a:xfrm>
            <a:off x="4771975" y="3899375"/>
            <a:ext cx="19905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 partitions,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 is O(n)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 * O(n)  =  </a:t>
            </a:r>
            <a:r>
              <a:rPr lang="en-GB" b="1">
                <a:solidFill>
                  <a:srgbClr val="FF0000"/>
                </a:solidFill>
              </a:rPr>
              <a:t>O(n</a:t>
            </a:r>
            <a:r>
              <a:rPr lang="en-GB" b="1" baseline="30000">
                <a:solidFill>
                  <a:srgbClr val="FF0000"/>
                </a:solidFill>
              </a:rPr>
              <a:t>2</a:t>
            </a:r>
            <a:r>
              <a:rPr lang="en-GB" b="1">
                <a:solidFill>
                  <a:srgbClr val="FF0000"/>
                </a:solidFill>
              </a:rPr>
              <a:t>)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1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11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1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Choosing a pivot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01" name="Google Shape;1101;p114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3.   Middle element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eg:   5 7 2 </a:t>
            </a:r>
            <a:r>
              <a:rPr lang="en-GB">
                <a:highlight>
                  <a:srgbClr val="FF9900"/>
                </a:highlight>
              </a:rPr>
              <a:t>9 </a:t>
            </a:r>
            <a:r>
              <a:rPr lang="en-GB"/>
              <a:t>3 2 5 7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issues?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1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11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1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Choosing a pivot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09" name="Google Shape;1109;p115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3.   Middle element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eg:   5 7 2 </a:t>
            </a:r>
            <a:r>
              <a:rPr lang="en-GB">
                <a:highlight>
                  <a:srgbClr val="FF9900"/>
                </a:highlight>
              </a:rPr>
              <a:t>9 </a:t>
            </a:r>
            <a:r>
              <a:rPr lang="en-GB"/>
              <a:t>3 2 5 7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issues?  Not with that one, but consider:    </a:t>
            </a:r>
            <a:r>
              <a:rPr lang="en-GB">
                <a:highlight>
                  <a:srgbClr val="FFFF00"/>
                </a:highlight>
              </a:rPr>
              <a:t>2 4 6 </a:t>
            </a:r>
            <a:r>
              <a:rPr lang="en-GB" u="sng">
                <a:highlight>
                  <a:srgbClr val="FFFF00"/>
                </a:highlight>
              </a:rPr>
              <a:t>8</a:t>
            </a:r>
            <a:r>
              <a:rPr lang="en-GB">
                <a:highlight>
                  <a:srgbClr val="FFFF00"/>
                </a:highlight>
              </a:rPr>
              <a:t> 7 5 3 1</a:t>
            </a:r>
            <a:endParaRPr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Partitioning: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(&lt;)  2 4 6 </a:t>
            </a:r>
            <a:r>
              <a:rPr lang="en-GB" u="sng">
                <a:solidFill>
                  <a:schemeClr val="dk1"/>
                </a:solidFill>
              </a:rPr>
              <a:t>7</a:t>
            </a:r>
            <a:r>
              <a:rPr lang="en-GB">
                <a:solidFill>
                  <a:schemeClr val="dk1"/>
                </a:solidFill>
              </a:rPr>
              <a:t> 5 3 1  (=)  8   (&gt;)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(&lt;)  2 4 </a:t>
            </a:r>
            <a:r>
              <a:rPr lang="en-GB" u="sng">
                <a:solidFill>
                  <a:schemeClr val="dk1"/>
                </a:solidFill>
              </a:rPr>
              <a:t>6</a:t>
            </a:r>
            <a:r>
              <a:rPr lang="en-GB">
                <a:solidFill>
                  <a:schemeClr val="dk1"/>
                </a:solidFill>
              </a:rPr>
              <a:t> 5 3 1     (=)  7   (&gt;)  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(&lt;)  2 4 </a:t>
            </a:r>
            <a:r>
              <a:rPr lang="en-GB" u="sng">
                <a:solidFill>
                  <a:schemeClr val="dk1"/>
                </a:solidFill>
              </a:rPr>
              <a:t>5</a:t>
            </a:r>
            <a:r>
              <a:rPr lang="en-GB">
                <a:solidFill>
                  <a:schemeClr val="dk1"/>
                </a:solidFill>
              </a:rPr>
              <a:t> 3 1        (=)  6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(&lt;)  2 </a:t>
            </a:r>
            <a:r>
              <a:rPr lang="en-GB" u="sng">
                <a:solidFill>
                  <a:schemeClr val="dk1"/>
                </a:solidFill>
              </a:rPr>
              <a:t>4</a:t>
            </a:r>
            <a:r>
              <a:rPr lang="en-GB">
                <a:solidFill>
                  <a:schemeClr val="dk1"/>
                </a:solidFill>
              </a:rPr>
              <a:t> 3 1           (=)  5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(&lt;)  2 </a:t>
            </a:r>
            <a:r>
              <a:rPr lang="en-GB" u="sng">
                <a:solidFill>
                  <a:schemeClr val="dk1"/>
                </a:solidFill>
              </a:rPr>
              <a:t>3</a:t>
            </a:r>
            <a:r>
              <a:rPr lang="en-GB">
                <a:solidFill>
                  <a:schemeClr val="dk1"/>
                </a:solidFill>
              </a:rPr>
              <a:t> 1              (=)  4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(&lt;)  </a:t>
            </a:r>
            <a:r>
              <a:rPr lang="en-GB" u="sng">
                <a:solidFill>
                  <a:schemeClr val="dk1"/>
                </a:solidFill>
              </a:rPr>
              <a:t>2</a:t>
            </a:r>
            <a:r>
              <a:rPr lang="en-GB">
                <a:solidFill>
                  <a:schemeClr val="dk1"/>
                </a:solidFill>
              </a:rPr>
              <a:t> 1                 (=)  3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(&lt;)  1                    (=)  2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(&lt;)                        (=)  1   (&gt;)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115"/>
          <p:cNvSpPr/>
          <p:nvPr/>
        </p:nvSpPr>
        <p:spPr>
          <a:xfrm>
            <a:off x="3337350" y="2662600"/>
            <a:ext cx="399900" cy="1672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115"/>
          <p:cNvSpPr txBox="1"/>
          <p:nvPr/>
        </p:nvSpPr>
        <p:spPr>
          <a:xfrm>
            <a:off x="4009975" y="3289775"/>
            <a:ext cx="19905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 partitions,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 is O(n)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 * O(n)  =  </a:t>
            </a:r>
            <a:r>
              <a:rPr lang="en-GB" b="1">
                <a:solidFill>
                  <a:srgbClr val="FF0000"/>
                </a:solidFill>
              </a:rPr>
              <a:t>O(n</a:t>
            </a:r>
            <a:r>
              <a:rPr lang="en-GB" b="1" baseline="30000">
                <a:solidFill>
                  <a:srgbClr val="FF0000"/>
                </a:solidFill>
              </a:rPr>
              <a:t>2</a:t>
            </a:r>
            <a:r>
              <a:rPr lang="en-GB" b="1">
                <a:solidFill>
                  <a:srgbClr val="FF0000"/>
                </a:solidFill>
              </a:rPr>
              <a:t>)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1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11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Choosing a pivot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19" name="Google Shape;1119;p116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Seems like wherever we pick a pivot, we're always getting O(n</a:t>
            </a:r>
            <a:r>
              <a:rPr lang="en-GB" baseline="30000"/>
              <a:t>2</a:t>
            </a:r>
            <a:r>
              <a:rPr lang="en-GB"/>
              <a:t>) some way.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do better?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1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1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1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Choosing a pivot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7" name="Google Shape;1127;p117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Seems like wherever we pick a pivot, we're always getting O(n</a:t>
            </a:r>
            <a:r>
              <a:rPr lang="en-GB" baseline="30000"/>
              <a:t>2</a:t>
            </a:r>
            <a:r>
              <a:rPr lang="en-GB"/>
              <a:t>) some way.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do better?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4.  Random pivot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On each partition, choose a random index in the array as the pivot.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eg:    2 4 6 8 7 5 3 1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There's a 2/n chance of choosing the </a:t>
            </a:r>
            <a:r>
              <a:rPr lang="en-GB" b="1">
                <a:solidFill>
                  <a:schemeClr val="dk1"/>
                </a:solidFill>
              </a:rPr>
              <a:t>worst</a:t>
            </a:r>
            <a:r>
              <a:rPr lang="en-GB">
                <a:solidFill>
                  <a:schemeClr val="dk1"/>
                </a:solidFill>
              </a:rPr>
              <a:t> case.       (1 or 8)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There's a 2/n chance of choosing the </a:t>
            </a:r>
            <a:r>
              <a:rPr lang="en-GB" b="1">
                <a:solidFill>
                  <a:schemeClr val="dk1"/>
                </a:solidFill>
              </a:rPr>
              <a:t>best</a:t>
            </a:r>
            <a:r>
              <a:rPr lang="en-GB">
                <a:solidFill>
                  <a:schemeClr val="dk1"/>
                </a:solidFill>
              </a:rPr>
              <a:t> case.         (4 or 5)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And we can have everything in between.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Turns out, this ensures O(n log n) as long as there isn't some prior distribution of the array.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11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11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1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Choosing a pivot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5" name="Google Shape;1135;p118"/>
          <p:cNvSpPr txBox="1"/>
          <p:nvPr/>
        </p:nvSpPr>
        <p:spPr>
          <a:xfrm>
            <a:off x="247275" y="1252500"/>
            <a:ext cx="84168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choose_pivot(int *A, int n)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return A[rand() % n];   // Random pivot  (best option, why?)</a:t>
            </a:r>
            <a:endParaRPr sz="15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return A[0];         // first item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return A[n-1];       // last item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return A[n/2];       // middle item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1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11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1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Quicksort Complexity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3" name="Google Shape;1143;p119"/>
          <p:cNvSpPr txBox="1"/>
          <p:nvPr/>
        </p:nvSpPr>
        <p:spPr>
          <a:xfrm>
            <a:off x="311700" y="1317575"/>
            <a:ext cx="8605800" cy="3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Space Complexity: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O(n) - 2 partition;  O(log n) - 3 partitions.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Complexity - depends on how the array is partitioned.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Best case:		Pivot always splits the array in half.		9 8 7 6 5 4 3 2 1   -&gt; choose 5.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	=&gt; O(n log 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Worst case: 	Pick pivot that is largest / smallest                    </a:t>
            </a:r>
            <a:r>
              <a:rPr lang="en-GB">
                <a:solidFill>
                  <a:schemeClr val="dk1"/>
                </a:solidFill>
              </a:rPr>
              <a:t>9 8 7 6 5 4 3 2 1   -&gt; choose 1 or 9.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	=&gt; O(n^2)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Average case: 	Pivot could be anywhere in between.    Proof in DoA / ADS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	=&gt; O(n log 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 is </a:t>
            </a:r>
            <a:r>
              <a:rPr lang="en-GB" b="1"/>
              <a:t>O(n)</a:t>
            </a:r>
            <a:r>
              <a:rPr lang="en-GB"/>
              <a:t>.   We partition O(log n) times if our pivot choice is good =&gt; O(n log n).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12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Comparing sorting algorithms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0" name="Google Shape;1150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59200" cy="4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1" name="Google Shape;1151;p12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52" name="Google Shape;1152;p120"/>
          <p:cNvGraphicFramePr/>
          <p:nvPr/>
        </p:nvGraphicFramePr>
        <p:xfrm>
          <a:off x="212825" y="1346025"/>
          <a:ext cx="8659200" cy="3047850"/>
        </p:xfrm>
        <a:graphic>
          <a:graphicData uri="http://schemas.openxmlformats.org/drawingml/2006/table">
            <a:tbl>
              <a:tblPr>
                <a:noFill/>
                <a:tableStyleId>{CCDE21E6-12A8-4CF8-B9F9-B912BA036C3D}</a:tableStyleId>
              </a:tblPr>
              <a:tblGrid>
                <a:gridCol w="172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Insertion sort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Quicksort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Idea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Builds sorted array sequentially, swapping elements towards the end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Recursively partition array into two parts, to sort independently (divide and conquer)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Notes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i="1"/>
                        <a:t>Easy to implement / understand.  Efficient for nearly sorted arrays, and small arrays.</a:t>
                      </a:r>
                      <a:endParaRPr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Complexity depends on pivot choice.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Choose random pivot for best results.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Hoare Partitioning is O(n)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Time Complexity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O(n) best   (already sorted!)</a:t>
                      </a:r>
                      <a:br>
                        <a:rPr lang="en-GB"/>
                      </a:br>
                      <a:r>
                        <a:rPr lang="en-GB"/>
                        <a:t>O(n</a:t>
                      </a:r>
                      <a:r>
                        <a:rPr lang="en-GB" baseline="30000"/>
                        <a:t>2</a:t>
                      </a:r>
                      <a:r>
                        <a:rPr lang="en-GB"/>
                        <a:t>) average and worst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</a:t>
                      </a:r>
                      <a:r>
                        <a:rPr lang="en-GB" baseline="30000"/>
                        <a:t>2</a:t>
                      </a:r>
                      <a:r>
                        <a:rPr lang="en-GB"/>
                        <a:t>) worst   (picking worst pivot)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 log n) average and best.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Space Complexity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   (auxiliary)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O(n)           (2 partition)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O(log n)     (3 partition)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7150</Words>
  <Application>Microsoft Macintosh PowerPoint</Application>
  <PresentationFormat>On-screen Show (16:9)</PresentationFormat>
  <Paragraphs>1385</Paragraphs>
  <Slides>55</Slides>
  <Notes>55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Consolas</vt:lpstr>
      <vt:lpstr>Fira Mono</vt:lpstr>
      <vt:lpstr>Arial</vt:lpstr>
      <vt:lpstr>Fira Code</vt:lpstr>
      <vt:lpstr>Simple Light</vt:lpstr>
      <vt:lpstr>Multidimensional Arrays</vt:lpstr>
      <vt:lpstr>PowerPoint Presentation</vt:lpstr>
      <vt:lpstr>Multidimensional arrays</vt:lpstr>
      <vt:lpstr>Multidimensional arrays</vt:lpstr>
      <vt:lpstr>Multidimensional arrays</vt:lpstr>
      <vt:lpstr>Multidimensional arrays</vt:lpstr>
      <vt:lpstr>Multidimensional arrays</vt:lpstr>
      <vt:lpstr>Indexing 2d arrays</vt:lpstr>
      <vt:lpstr>Print 2d int array</vt:lpstr>
      <vt:lpstr>Set all entries in 2D array to k.</vt:lpstr>
      <vt:lpstr>Copy rows</vt:lpstr>
      <vt:lpstr>Quicksort (Hoare, 1959)</vt:lpstr>
      <vt:lpstr>Quicksort Implementation</vt:lpstr>
      <vt:lpstr>Quicksort</vt:lpstr>
      <vt:lpstr>PowerPoint Presentation</vt:lpstr>
      <vt:lpstr>Quicksort (Hoare, 1959)</vt:lpstr>
      <vt:lpstr>Quicksort Correctness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Hoare Partitioning Implementation</vt:lpstr>
      <vt:lpstr>Quicksort Implementation</vt:lpstr>
      <vt:lpstr>Quicksort Performance</vt:lpstr>
      <vt:lpstr>Quicksort Performance</vt:lpstr>
      <vt:lpstr>Choosing a pivot</vt:lpstr>
      <vt:lpstr>Choosing a pivot</vt:lpstr>
      <vt:lpstr>Choosing a pivot</vt:lpstr>
      <vt:lpstr>Quicksort Complexity - Pivot choice</vt:lpstr>
      <vt:lpstr>Choosing a pivot</vt:lpstr>
      <vt:lpstr>Choosing a pivot</vt:lpstr>
      <vt:lpstr>Choosing a pivot</vt:lpstr>
      <vt:lpstr>Choosing a pivot</vt:lpstr>
      <vt:lpstr>Choosing a pivot</vt:lpstr>
      <vt:lpstr>Choosing a pivot</vt:lpstr>
      <vt:lpstr>Choosing a pivot</vt:lpstr>
      <vt:lpstr>Quicksort Complexity</vt:lpstr>
      <vt:lpstr>Comparing sorting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Tracy Bu</cp:lastModifiedBy>
  <cp:revision>2</cp:revision>
  <dcterms:modified xsi:type="dcterms:W3CDTF">2026-03-29T07:33:29Z</dcterms:modified>
</cp:coreProperties>
</file>