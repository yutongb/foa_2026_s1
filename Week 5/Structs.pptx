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40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8" r:id="rId31"/>
    <p:sldId id="289" r:id="rId32"/>
    <p:sldId id="290" r:id="rId33"/>
    <p:sldId id="291" r:id="rId34"/>
    <p:sldId id="292" r:id="rId35"/>
    <p:sldId id="293" r:id="rId36"/>
    <p:sldId id="294" r:id="rId37"/>
    <p:sldId id="295" r:id="rId38"/>
    <p:sldId id="296" r:id="rId39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41"/>
      <p:bold r:id="rId42"/>
      <p:italic r:id="rId43"/>
      <p:boldItalic r:id="rId44"/>
    </p:embeddedFont>
    <p:embeddedFont>
      <p:font typeface="Fira Code" panose="020B0809050000020004" pitchFamily="49" charset="0"/>
      <p:regular r:id="rId45"/>
      <p:bold r:id="rId4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60"/>
  </p:normalViewPr>
  <p:slideViewPr>
    <p:cSldViewPr snapToGrid="0">
      <p:cViewPr varScale="1">
        <p:scale>
          <a:sx n="158" d="100"/>
          <a:sy n="158" d="100"/>
        </p:scale>
        <p:origin x="512" y="19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2.fntdata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3.fntdata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6.fntdata"/><Relationship Id="rId20" Type="http://schemas.openxmlformats.org/officeDocument/2006/relationships/slide" Target="slides/slide19.xml"/><Relationship Id="rId41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985333042b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985333042b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985333042b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985333042b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985333042b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985333042b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985333042b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985333042b_0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985333042b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985333042b_0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985333042b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985333042b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985333042b_0_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985333042b_0_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985333042b_0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985333042b_0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985333042b_0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985333042b_0_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985333042b_0_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985333042b_0_1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985333042b_0_1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985333042b_0_1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985333042b_0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985333042b_0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985333042b_0_1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985333042b_0_1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985333042b_0_1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985333042b_0_1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985333042b_0_1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985333042b_0_1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985333042b_0_1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985333042b_0_1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985333042b_0_1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985333042b_0_1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985333042b_0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985333042b_0_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985333042b_0_1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985333042b_0_1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985333042b_0_1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985333042b_0_1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985333042b_0_2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985333042b_0_2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985333042b_0_2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985333042b_0_2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985333042b_0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985333042b_0_2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985333042b_0_2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985333042b_0_2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985333042b_0_2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985333042b_0_2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985333042b_0_2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985333042b_0_2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985333042b_0_2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985333042b_0_2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985333042b_0_2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985333042b_0_2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985333042b_0_2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985333042b_0_2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996ec3a6fe_0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996ec3a6fe_0_1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996ec3a6fe_0_1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996ec3a6fe_0_1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996ec3a6fe_0_1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996ec3a6fe_0_1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996ec3a6fe_0_1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996ec3a6fe_0_1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996ec3a6fe_0_1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996ec3a6fe_0_1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996ec3a6fe_0_1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996ec3a6fe_0_1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996ec3a6fe_0_2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996ec3a6fe_0_2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996ec3a6fe_0_2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996ec3a6fe_0_2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996ec3a6fe_0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996ec3a6fe_0_2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/>
          <p:nvPr/>
        </p:nvSpPr>
        <p:spPr>
          <a:xfrm>
            <a:off x="0" y="0"/>
            <a:ext cx="9144000" cy="42855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3493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>
                <a:solidFill>
                  <a:srgbClr val="FFFFFF"/>
                </a:solidFill>
              </a:rPr>
              <a:t>Structs</a:t>
            </a:r>
            <a:endParaRPr sz="4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>
            <a:spLocks noGrp="1"/>
          </p:cNvSpPr>
          <p:nvPr>
            <p:ph type="body" idx="1"/>
          </p:nvPr>
        </p:nvSpPr>
        <p:spPr>
          <a:xfrm>
            <a:off x="311700" y="1381075"/>
            <a:ext cx="8520600" cy="371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Structs represent some real world structure.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Structs store possibly </a:t>
            </a:r>
            <a:r>
              <a:rPr lang="en-GB" b="1">
                <a:latin typeface="Consolas"/>
                <a:ea typeface="Consolas"/>
                <a:cs typeface="Consolas"/>
                <a:sym typeface="Consolas"/>
              </a:rPr>
              <a:t>different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 data types in a contiguous block of memory.  Each field is a fixed offset from the start.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struct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int id;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char name[21];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int year_opened;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double balance;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} account;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6" name="Google Shape;66;p15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Structs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8" name="Google Shape;68;p15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>
            <a:spLocks noGrp="1"/>
          </p:cNvSpPr>
          <p:nvPr>
            <p:ph type="body" idx="1"/>
          </p:nvPr>
        </p:nvSpPr>
        <p:spPr>
          <a:xfrm>
            <a:off x="311700" y="1381075"/>
            <a:ext cx="8520600" cy="329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Structs represent some real world structure.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Structs store possibly </a:t>
            </a:r>
            <a:r>
              <a:rPr lang="en-GB" b="1">
                <a:latin typeface="Consolas"/>
                <a:ea typeface="Consolas"/>
                <a:cs typeface="Consolas"/>
                <a:sym typeface="Consolas"/>
              </a:rPr>
              <a:t>different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 data types in a contiguous block of memory.  Each field is a fixed offset from the start.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struct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int id;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char name[21];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int year_opened;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double balance;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} account;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4" name="Google Shape;74;p16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Structs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76" name="Google Shape;76;p16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16"/>
          <p:cNvSpPr txBox="1"/>
          <p:nvPr/>
        </p:nvSpPr>
        <p:spPr>
          <a:xfrm>
            <a:off x="2839875" y="5637550"/>
            <a:ext cx="4927200" cy="26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onsolas"/>
                <a:ea typeface="Consolas"/>
                <a:cs typeface="Consolas"/>
                <a:sym typeface="Consolas"/>
              </a:rPr>
              <a:t>struct account accounts[10];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onsolas"/>
                <a:ea typeface="Consolas"/>
                <a:cs typeface="Consolas"/>
                <a:sym typeface="Consolas"/>
              </a:rPr>
              <a:t>int n = 0;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onsolas"/>
                <a:ea typeface="Consolas"/>
                <a:cs typeface="Consolas"/>
                <a:sym typeface="Consolas"/>
              </a:rPr>
              <a:t>struct account acc = {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onsolas"/>
                <a:ea typeface="Consolas"/>
                <a:cs typeface="Consolas"/>
                <a:sym typeface="Consolas"/>
              </a:rPr>
              <a:t>	.id=12,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onsolas"/>
                <a:ea typeface="Consolas"/>
                <a:cs typeface="Consolas"/>
                <a:sym typeface="Consolas"/>
              </a:rPr>
              <a:t>	.name = "Liam",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onsolas"/>
                <a:ea typeface="Consolas"/>
                <a:cs typeface="Consolas"/>
                <a:sym typeface="Consolas"/>
              </a:rPr>
              <a:t>	.balance = 10.04,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.year_opened = 2023,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onsolas"/>
                <a:ea typeface="Consolas"/>
                <a:cs typeface="Consolas"/>
                <a:sym typeface="Consolas"/>
              </a:rPr>
              <a:t>};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onsolas"/>
                <a:ea typeface="Consolas"/>
                <a:cs typeface="Consolas"/>
                <a:sym typeface="Consolas"/>
              </a:rPr>
              <a:t>accounts[0] = acc;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onsolas"/>
                <a:ea typeface="Consolas"/>
                <a:cs typeface="Consolas"/>
                <a:sym typeface="Consolas"/>
              </a:rPr>
              <a:t>accounts[0].name[0];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onsolas"/>
                <a:ea typeface="Consolas"/>
                <a:cs typeface="Consolas"/>
                <a:sym typeface="Consolas"/>
              </a:rPr>
              <a:t>account.id = 12;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onsolas"/>
                <a:ea typeface="Consolas"/>
                <a:cs typeface="Consolas"/>
                <a:sym typeface="Consolas"/>
              </a:rPr>
              <a:t>strcpy(“Liam”, account.name);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onsolas"/>
                <a:ea typeface="Consolas"/>
                <a:cs typeface="Consolas"/>
                <a:sym typeface="Consolas"/>
              </a:rPr>
              <a:t>account.year_opened = 2023;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onsolas"/>
                <a:ea typeface="Consolas"/>
                <a:cs typeface="Consolas"/>
                <a:sym typeface="Consolas"/>
              </a:rPr>
              <a:t>account.balance = 0.01;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onsolas"/>
                <a:ea typeface="Consolas"/>
                <a:cs typeface="Consolas"/>
                <a:sym typeface="Consolas"/>
              </a:rPr>
              <a:t>// want to make another account...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>
            <a:spLocks noGrp="1"/>
          </p:cNvSpPr>
          <p:nvPr>
            <p:ph type="body" idx="1"/>
          </p:nvPr>
        </p:nvSpPr>
        <p:spPr>
          <a:xfrm>
            <a:off x="311700" y="1381075"/>
            <a:ext cx="8520600" cy="329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struct account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int id;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char name[21];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int year_opened;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double balance;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};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3" name="Google Shape;83;p17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Structs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5" name="Google Shape;85;p17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7"/>
          <p:cNvSpPr txBox="1"/>
          <p:nvPr/>
        </p:nvSpPr>
        <p:spPr>
          <a:xfrm>
            <a:off x="3533725" y="1151200"/>
            <a:ext cx="4927200" cy="21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onsolas"/>
                <a:ea typeface="Consolas"/>
                <a:cs typeface="Consolas"/>
                <a:sym typeface="Consolas"/>
              </a:rPr>
              <a:t>// create account a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onsolas"/>
                <a:ea typeface="Consolas"/>
                <a:cs typeface="Consolas"/>
                <a:sym typeface="Consolas"/>
              </a:rPr>
              <a:t>struct account account1;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onsolas"/>
                <a:ea typeface="Consolas"/>
                <a:cs typeface="Consolas"/>
                <a:sym typeface="Consolas"/>
              </a:rPr>
              <a:t>account1.id = 12;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onsolas"/>
                <a:ea typeface="Consolas"/>
                <a:cs typeface="Consolas"/>
                <a:sym typeface="Consolas"/>
              </a:rPr>
              <a:t>strcpy(“Liam”, account1.name);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onsolas"/>
                <a:ea typeface="Consolas"/>
                <a:cs typeface="Consolas"/>
                <a:sym typeface="Consolas"/>
              </a:rPr>
              <a:t>account1.year_opened = 2023;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onsolas"/>
                <a:ea typeface="Consolas"/>
                <a:cs typeface="Consolas"/>
                <a:sym typeface="Consolas"/>
              </a:rPr>
              <a:t>account1.balance = 0.01;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onsolas"/>
                <a:ea typeface="Consolas"/>
                <a:cs typeface="Consolas"/>
                <a:sym typeface="Consolas"/>
              </a:rPr>
              <a:t>struct account account2;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account2.id = 13;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strcpy(“Anon”, account2.name);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account2.year_opened = 2020;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account2.balance = 42069.42;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// verbose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>
            <a:spLocks noGrp="1"/>
          </p:cNvSpPr>
          <p:nvPr>
            <p:ph type="body" idx="1"/>
          </p:nvPr>
        </p:nvSpPr>
        <p:spPr>
          <a:xfrm>
            <a:off x="311700" y="1381075"/>
            <a:ext cx="8520600" cy="329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typedef struct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int id;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char name[21];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int year_opened;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double balance;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} account_t;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// “anonymous struct”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2" name="Google Shape;92;p18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Structs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94" name="Google Shape;94;p18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18"/>
          <p:cNvSpPr txBox="1"/>
          <p:nvPr/>
        </p:nvSpPr>
        <p:spPr>
          <a:xfrm>
            <a:off x="3533725" y="1151200"/>
            <a:ext cx="4927200" cy="21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onsolas"/>
                <a:ea typeface="Consolas"/>
                <a:cs typeface="Consolas"/>
                <a:sym typeface="Consolas"/>
              </a:rPr>
              <a:t>// create account a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latin typeface="Consolas"/>
                <a:ea typeface="Consolas"/>
                <a:cs typeface="Consolas"/>
                <a:sym typeface="Consolas"/>
              </a:rPr>
              <a:t>account_t</a:t>
            </a:r>
            <a:r>
              <a:rPr lang="en-GB" sz="1800">
                <a:latin typeface="Consolas"/>
                <a:ea typeface="Consolas"/>
                <a:cs typeface="Consolas"/>
                <a:sym typeface="Consolas"/>
              </a:rPr>
              <a:t> account1;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onsolas"/>
                <a:ea typeface="Consolas"/>
                <a:cs typeface="Consolas"/>
                <a:sym typeface="Consolas"/>
              </a:rPr>
              <a:t>account1.id = 12;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onsolas"/>
                <a:ea typeface="Consolas"/>
                <a:cs typeface="Consolas"/>
                <a:sym typeface="Consolas"/>
              </a:rPr>
              <a:t>strcpy(“Liam”, account1.name);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onsolas"/>
                <a:ea typeface="Consolas"/>
                <a:cs typeface="Consolas"/>
                <a:sym typeface="Consolas"/>
              </a:rPr>
              <a:t>account1.year_opened = 2023;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onsolas"/>
                <a:ea typeface="Consolas"/>
                <a:cs typeface="Consolas"/>
                <a:sym typeface="Consolas"/>
              </a:rPr>
              <a:t>account1.balance = 0.01;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account_t</a:t>
            </a:r>
            <a:r>
              <a:rPr lang="en-GB" sz="1800">
                <a:latin typeface="Consolas"/>
                <a:ea typeface="Consolas"/>
                <a:cs typeface="Consolas"/>
                <a:sym typeface="Consolas"/>
              </a:rPr>
              <a:t> account2;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account2.id = 13;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strcpy(“Anon”, account2.name);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account2.year_opened = 2020;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account2.balance = 42069.42;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// verbose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>
            <a:spLocks noGrp="1"/>
          </p:cNvSpPr>
          <p:nvPr>
            <p:ph type="body" idx="1"/>
          </p:nvPr>
        </p:nvSpPr>
        <p:spPr>
          <a:xfrm>
            <a:off x="311700" y="1381075"/>
            <a:ext cx="8520600" cy="329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typedef struct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int id;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char name[21];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int year_opened;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double balance;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} account_t;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account_t a1 = new_account(12, “Liam”, 2023, 0.01);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1" name="Google Shape;101;p19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Structs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03" name="Google Shape;103;p19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19"/>
          <p:cNvSpPr txBox="1"/>
          <p:nvPr/>
        </p:nvSpPr>
        <p:spPr>
          <a:xfrm>
            <a:off x="3349225" y="998800"/>
            <a:ext cx="5807100" cy="21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onsolas"/>
                <a:ea typeface="Consolas"/>
                <a:cs typeface="Consolas"/>
                <a:sym typeface="Consolas"/>
              </a:rPr>
              <a:t>account_t new_account(int id, char name[21],   int year_opened, double balance) {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n-GB" sz="18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account_t</a:t>
            </a: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account1;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account1.id = id;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strcpy(name, account1.name);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account1.year_opened = year_opened;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account1.balance = balance;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return account1;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onsolas"/>
                <a:ea typeface="Consolas"/>
                <a:cs typeface="Consolas"/>
                <a:sym typeface="Consolas"/>
              </a:rPr>
              <a:t>	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5" name="Google Shape;105;p19"/>
          <p:cNvSpPr txBox="1"/>
          <p:nvPr/>
        </p:nvSpPr>
        <p:spPr>
          <a:xfrm>
            <a:off x="774150" y="4374975"/>
            <a:ext cx="8151300" cy="6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Caution: this creates a struct within scope of new_account, and (shallow) copies the whole memory block to the returned scope.   Not a good idea if this is a large struct.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>
            <a:spLocks noGrp="1"/>
          </p:cNvSpPr>
          <p:nvPr>
            <p:ph type="body" idx="1"/>
          </p:nvPr>
        </p:nvSpPr>
        <p:spPr>
          <a:xfrm>
            <a:off x="311700" y="1381075"/>
            <a:ext cx="8520600" cy="329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typedef struct {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    int id;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    char name[21];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    int year_opened;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    double balance;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} account_t;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Consolas"/>
                <a:ea typeface="Consolas"/>
                <a:cs typeface="Consolas"/>
                <a:sym typeface="Consolas"/>
              </a:rPr>
              <a:t>account_t a1 = {.id=12, .name=“Liam”, 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  <a:p>
            <a:pPr marL="182880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Consolas"/>
                <a:ea typeface="Consolas"/>
                <a:cs typeface="Consolas"/>
                <a:sym typeface="Consolas"/>
              </a:rPr>
              <a:t>.year_opened=2023, .balance=0.01};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account_t a2 = a1;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a2.balance += 2;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printf(“%.2lf %.2lf”, a1.balance, a2.balance);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1" name="Google Shape;111;p20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Structs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13" name="Google Shape;113;p20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20"/>
          <p:cNvSpPr txBox="1"/>
          <p:nvPr/>
        </p:nvSpPr>
        <p:spPr>
          <a:xfrm>
            <a:off x="4355250" y="1511850"/>
            <a:ext cx="3642900" cy="6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This is all you need!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1"/>
          <p:cNvSpPr txBox="1">
            <a:spLocks noGrp="1"/>
          </p:cNvSpPr>
          <p:nvPr>
            <p:ph type="body" idx="1"/>
          </p:nvPr>
        </p:nvSpPr>
        <p:spPr>
          <a:xfrm>
            <a:off x="311700" y="1381075"/>
            <a:ext cx="8520600" cy="329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typedef struct {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    int id;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    char name[21];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    int year_opened;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    double balance;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} account_t;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account_t a1 = {12, “Liam”, 2023, 0.01};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account_t a2 = a1;  // (shallow) copies!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a2.balance += 2;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printf(“%.2lf %.2lf”, a1.balance, a2.balance);  // 0.01 2.01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0" name="Google Shape;120;p21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Structs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22" name="Google Shape;122;p21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>
            <a:spLocks noGrp="1"/>
          </p:cNvSpPr>
          <p:nvPr>
            <p:ph type="body" idx="1"/>
          </p:nvPr>
        </p:nvSpPr>
        <p:spPr>
          <a:xfrm>
            <a:off x="311700" y="1381075"/>
            <a:ext cx="8520600" cy="329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struct mystruct {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    int val;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    char *name;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};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char name[] = “Test”;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struct mystruct s1 = {12, name};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struct mystruct s2 = s1;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s1.name[0] = ‘t’;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S2.val = 2;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printf(“%d %d”, s1.val, s2.val};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printf(“%s %s”, s1.name, s2.name);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8" name="Google Shape;128;p22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Structs - Shallow copy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0" name="Google Shape;130;p22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3"/>
          <p:cNvSpPr txBox="1">
            <a:spLocks noGrp="1"/>
          </p:cNvSpPr>
          <p:nvPr>
            <p:ph type="body" idx="1"/>
          </p:nvPr>
        </p:nvSpPr>
        <p:spPr>
          <a:xfrm>
            <a:off x="311700" y="1381075"/>
            <a:ext cx="8520600" cy="376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struct mystruct {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    int val;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    char *name;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};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char name[] = “Test”;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struct mystruct s1 = {12, name};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struct mystruct s2 = s1;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s1.name[0] = ‘t’;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S2.val = 2;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printf(“%d %d”, s1.val, s2.val};   // 12 test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printf(“%s %s”, s1.name, s2.name); // 2 </a:t>
            </a:r>
            <a:r>
              <a:rPr lang="en-GB" sz="1400" b="1">
                <a:latin typeface="Consolas"/>
                <a:ea typeface="Consolas"/>
                <a:cs typeface="Consolas"/>
                <a:sym typeface="Consolas"/>
              </a:rPr>
              <a:t>test</a:t>
            </a:r>
            <a:endParaRPr sz="1400" b="1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1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1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6" name="Google Shape;136;p23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Structs - Shallow copy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8" name="Google Shape;138;p23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23"/>
          <p:cNvSpPr txBox="1"/>
          <p:nvPr/>
        </p:nvSpPr>
        <p:spPr>
          <a:xfrm>
            <a:off x="5584750" y="4422325"/>
            <a:ext cx="3391500" cy="9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Need to copy whatever is being stored as a pointer -- deep copy.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4"/>
          <p:cNvSpPr txBox="1">
            <a:spLocks noGrp="1"/>
          </p:cNvSpPr>
          <p:nvPr>
            <p:ph type="body" idx="1"/>
          </p:nvPr>
        </p:nvSpPr>
        <p:spPr>
          <a:xfrm>
            <a:off x="311700" y="1381075"/>
            <a:ext cx="8520600" cy="329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typedef struct {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    int id;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    char name[21];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    int year_opened;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    double balance;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} account_t;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int cmp_account_id(void * a1, void *a2) {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    account_t *p1 = a1, *p2 = a2;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    return p1-&gt;id - p2-&gt;id;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account_t accounts[NUM_ACCTS] = …;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qsort(accounts, NUM_ACCTS, sizeof(account_t), cmp_account_id);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// now accounts are sorted by id!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5" name="Google Shape;145;p24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Structs - Motivation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47" name="Google Shape;147;p24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24"/>
          <p:cNvSpPr txBox="1"/>
          <p:nvPr/>
        </p:nvSpPr>
        <p:spPr>
          <a:xfrm>
            <a:off x="5041050" y="1359450"/>
            <a:ext cx="3642900" cy="6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 can now sort by any of these fields. 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5"/>
          <p:cNvSpPr txBox="1">
            <a:spLocks noGrp="1"/>
          </p:cNvSpPr>
          <p:nvPr>
            <p:ph type="body" idx="1"/>
          </p:nvPr>
        </p:nvSpPr>
        <p:spPr>
          <a:xfrm>
            <a:off x="311700" y="1381075"/>
            <a:ext cx="8520600" cy="329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typedef struct {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    int id;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    char name[21];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    int year_opened;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    double balance;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} account_t;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int cmp_account_balance(void* a1, void* a2) {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    account_t *p1, *p2;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    return p1-&gt;balance - p2-&gt;balance;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account_t accounts[NUM_ACCTS] = …;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qsort(accounts, NUM_ACCTS, sizeof(account_t), cmp_account_balance);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// now accounts are sorted by balance!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4" name="Google Shape;154;p25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Structs - Motivation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6" name="Google Shape;156;p25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25"/>
          <p:cNvSpPr txBox="1"/>
          <p:nvPr/>
        </p:nvSpPr>
        <p:spPr>
          <a:xfrm>
            <a:off x="5041050" y="1359450"/>
            <a:ext cx="3642900" cy="6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 can now sort by any of these fields. 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6"/>
          <p:cNvSpPr txBox="1">
            <a:spLocks noGrp="1"/>
          </p:cNvSpPr>
          <p:nvPr>
            <p:ph type="body" idx="1"/>
          </p:nvPr>
        </p:nvSpPr>
        <p:spPr>
          <a:xfrm>
            <a:off x="311700" y="1381075"/>
            <a:ext cx="8520600" cy="329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typedef struct {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    int id;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    char name[21];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    int opened_year, opened_month, opened_date;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    int closed_year, closed_month, closed_date;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    double balance;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} account_t;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… more repetition.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Solution?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3" name="Google Shape;163;p26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Hierarchical struct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65" name="Google Shape;165;p26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7"/>
          <p:cNvSpPr txBox="1">
            <a:spLocks noGrp="1"/>
          </p:cNvSpPr>
          <p:nvPr>
            <p:ph type="body" idx="1"/>
          </p:nvPr>
        </p:nvSpPr>
        <p:spPr>
          <a:xfrm>
            <a:off x="311700" y="1381075"/>
            <a:ext cx="8520600" cy="329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typedef struct {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    int dd, mm, yyyy;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} date_t;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typedef struct {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    int id;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    char name[21];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    date_t opened, closed;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    double balance;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} account_t;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account_t liam = {42, "Liam Saliba", {20,9,2022}, {-1,-1,-1}, 0};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liam.opened.yyyy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1" name="Google Shape;171;p27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Hierarchical struct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3" name="Google Shape;173;p27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8"/>
          <p:cNvSpPr txBox="1">
            <a:spLocks noGrp="1"/>
          </p:cNvSpPr>
          <p:nvPr>
            <p:ph type="body" idx="1"/>
          </p:nvPr>
        </p:nvSpPr>
        <p:spPr>
          <a:xfrm>
            <a:off x="311700" y="1381075"/>
            <a:ext cx="8520600" cy="329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typedef struct {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    int dd, mm, yyyy;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} date_t;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typedef struct {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    int id;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    char name[21];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    date_t opened, closed;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    double balance;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} account_t;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9" name="Google Shape;179;p28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Hierarchical struct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81" name="Google Shape;181;p28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28"/>
          <p:cNvSpPr txBox="1"/>
          <p:nvPr/>
        </p:nvSpPr>
        <p:spPr>
          <a:xfrm>
            <a:off x="3533725" y="1320600"/>
            <a:ext cx="5455500" cy="321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void print_date(date_t date)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	printf(“%d/%d/%d”, date.dd, date.mm, date.yyyy);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// then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account_t account = {12, “Liam”, {11,12,2020}, {12,12,2020}, 0.01};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print_date(account.opened);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print_date(account.closed);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9"/>
          <p:cNvSpPr txBox="1">
            <a:spLocks noGrp="1"/>
          </p:cNvSpPr>
          <p:nvPr>
            <p:ph type="body" idx="1"/>
          </p:nvPr>
        </p:nvSpPr>
        <p:spPr>
          <a:xfrm>
            <a:off x="311700" y="1381075"/>
            <a:ext cx="4260300" cy="329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Structs are not arrays.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typedef struct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	int x, y;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} point_t;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!=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typedef int point_t[2];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8" name="Google Shape;188;p29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Structs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90" name="Google Shape;190;p29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29"/>
          <p:cNvSpPr txBox="1">
            <a:spLocks noGrp="1"/>
          </p:cNvSpPr>
          <p:nvPr>
            <p:ph type="body" idx="1"/>
          </p:nvPr>
        </p:nvSpPr>
        <p:spPr>
          <a:xfrm>
            <a:off x="4343400" y="1381075"/>
            <a:ext cx="4462800" cy="329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// both can be declared like this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point_t p = {1, 2};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// struct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printf(“(%d, %d)”, p.x, p.y);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// array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printf(“(%d, %d)”, p[0], p[1]);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// (extension:)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// point_t p = {.y = 2, .x = 1};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0"/>
          <p:cNvSpPr txBox="1">
            <a:spLocks noGrp="1"/>
          </p:cNvSpPr>
          <p:nvPr>
            <p:ph type="body" idx="1"/>
          </p:nvPr>
        </p:nvSpPr>
        <p:spPr>
          <a:xfrm>
            <a:off x="311700" y="1381075"/>
            <a:ext cx="8568300" cy="329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// Calculate the Euclidean distance                between two</a:t>
            </a:r>
            <a:br>
              <a:rPr lang="en-GB">
                <a:latin typeface="Consolas"/>
                <a:ea typeface="Consolas"/>
                <a:cs typeface="Consolas"/>
                <a:sym typeface="Consolas"/>
              </a:rPr>
            </a:b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points p1=(x1, y1) and p2=(x2, y2).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#include &lt;math.h&gt;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double distance(int x1, int y1, int x2, int y2)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return sqrt( (x1-x2) * (x1-x2) + (y1-y2) * (y1-y2) 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7" name="Google Shape;197;p30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Arrays...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99" name="Google Shape;199;p30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0" name="Google Shape;20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93775" y="1448175"/>
            <a:ext cx="1709224" cy="380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1"/>
          <p:cNvSpPr txBox="1">
            <a:spLocks noGrp="1"/>
          </p:cNvSpPr>
          <p:nvPr>
            <p:ph type="body" idx="1"/>
          </p:nvPr>
        </p:nvSpPr>
        <p:spPr>
          <a:xfrm>
            <a:off x="311700" y="1381075"/>
            <a:ext cx="8568300" cy="329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// Calculate the Euclidean distance                between two</a:t>
            </a:r>
            <a:br>
              <a:rPr lang="en-GB">
                <a:latin typeface="Consolas"/>
                <a:ea typeface="Consolas"/>
                <a:cs typeface="Consolas"/>
                <a:sym typeface="Consolas"/>
              </a:rPr>
            </a:b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points p1=(x1, y1) and p2=(x2, y2).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#include &lt;math.h&gt;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typedef struct {int x, y;} point_t;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double distance(point_t p1, point_t p2)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int xs = p1.x - p2.x, ys = p1.y - p2.y;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return sqrt( xs*xs + ys*ys 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6" name="Google Shape;206;p31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Structs...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8" name="Google Shape;208;p31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9" name="Google Shape;209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93775" y="1448175"/>
            <a:ext cx="1709224" cy="380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2"/>
          <p:cNvSpPr txBox="1">
            <a:spLocks noGrp="1"/>
          </p:cNvSpPr>
          <p:nvPr>
            <p:ph type="body" idx="1"/>
          </p:nvPr>
        </p:nvSpPr>
        <p:spPr>
          <a:xfrm>
            <a:off x="311700" y="1381075"/>
            <a:ext cx="8568300" cy="350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typedef struct {int x, y;} point_t;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// “highest” -- maximum y value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point_t highest_point(point_t points[], int n)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assert(n &gt; 0);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point_t highest = points[0];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for (int i = 1; i &lt; n; i++)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    if (points[i].y &gt; highest.y)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       highest = points[i];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return highest;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5" name="Google Shape;215;p32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Arrays of structs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17" name="Google Shape;217;p32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3"/>
          <p:cNvSpPr txBox="1">
            <a:spLocks noGrp="1"/>
          </p:cNvSpPr>
          <p:nvPr>
            <p:ph type="body" idx="1"/>
          </p:nvPr>
        </p:nvSpPr>
        <p:spPr>
          <a:xfrm>
            <a:off x="311700" y="1381075"/>
            <a:ext cx="8568300" cy="350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// “highest” -- maximum y value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// arguably less readable, and we can’t return the entire point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int highest_point(int points[][2], int n)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assert(n &gt; 0);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int highest = points[0][1];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for (int i = 1; i &lt; n; i++)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    if (points[i][1] &gt; highest)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       highest = points[i][1];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return highest;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3" name="Google Shape;223;p33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3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Arrays of structs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5" name="Google Shape;225;p33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4"/>
          <p:cNvSpPr txBox="1">
            <a:spLocks noGrp="1"/>
          </p:cNvSpPr>
          <p:nvPr>
            <p:ph type="body" idx="1"/>
          </p:nvPr>
        </p:nvSpPr>
        <p:spPr>
          <a:xfrm>
            <a:off x="311700" y="1381075"/>
            <a:ext cx="8568300" cy="350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// “highest” -- maximum y value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// arguably less readable now returning index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int highest_point(int points[][2], int n)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assert(n &gt; 0);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int highest_i = 0;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for (int i = 1; i &lt; n; i++)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    if (points[i][1] &gt; points[highest_i][1])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       highest_i = i;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return highest_i;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1" name="Google Shape;231;p34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3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Arrays of structs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33" name="Google Shape;233;p34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5"/>
          <p:cNvSpPr txBox="1">
            <a:spLocks noGrp="1"/>
          </p:cNvSpPr>
          <p:nvPr>
            <p:ph type="body" idx="1"/>
          </p:nvPr>
        </p:nvSpPr>
        <p:spPr>
          <a:xfrm>
            <a:off x="100175" y="1228675"/>
            <a:ext cx="8779800" cy="376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Consolas"/>
                <a:ea typeface="Consolas"/>
                <a:cs typeface="Consolas"/>
                <a:sym typeface="Consolas"/>
              </a:rPr>
              <a:t>struct pair_pt {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Consolas"/>
                <a:ea typeface="Consolas"/>
                <a:cs typeface="Consolas"/>
                <a:sym typeface="Consolas"/>
              </a:rPr>
              <a:t>    point_t p1, p2;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Consolas"/>
                <a:ea typeface="Consolas"/>
                <a:cs typeface="Consolas"/>
                <a:sym typeface="Consolas"/>
              </a:rPr>
              <a:t>    double dist;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Consolas"/>
                <a:ea typeface="Consolas"/>
                <a:cs typeface="Consolas"/>
                <a:sym typeface="Consolas"/>
              </a:rPr>
              <a:t>}; // not typedef’d as to not pollute types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Consolas"/>
                <a:ea typeface="Consolas"/>
                <a:cs typeface="Consolas"/>
                <a:sym typeface="Consolas"/>
              </a:rPr>
              <a:t>// Find the closest pair of points, and their distance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Consolas"/>
                <a:ea typeface="Consolas"/>
                <a:cs typeface="Consolas"/>
                <a:sym typeface="Consolas"/>
              </a:rPr>
              <a:t>struct pair_pt closestpair(point_t points[], int n) {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Consolas"/>
                <a:ea typeface="Consolas"/>
                <a:cs typeface="Consolas"/>
                <a:sym typeface="Consolas"/>
              </a:rPr>
              <a:t>    assert( n &gt;= 2);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Consolas"/>
                <a:ea typeface="Consolas"/>
                <a:cs typeface="Consolas"/>
                <a:sym typeface="Consolas"/>
              </a:rPr>
              <a:t>    struct pair_pt closest_pair = {0, 1, distance(points[0], points[1]) }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Consolas"/>
                <a:ea typeface="Consolas"/>
                <a:cs typeface="Consolas"/>
                <a:sym typeface="Consolas"/>
              </a:rPr>
              <a:t>    for (int i = 0; i &lt; n - 1; i++) {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Consolas"/>
                <a:ea typeface="Consolas"/>
                <a:cs typeface="Consolas"/>
                <a:sym typeface="Consolas"/>
              </a:rPr>
              <a:t>        for (int j = 1; j &lt; n; j++) {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Consolas"/>
                <a:ea typeface="Consolas"/>
                <a:cs typeface="Consolas"/>
                <a:sym typeface="Consolas"/>
              </a:rPr>
              <a:t>            double dist = distance(points[i], points[j]);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Consolas"/>
                <a:ea typeface="Consolas"/>
                <a:cs typeface="Consolas"/>
                <a:sym typeface="Consolas"/>
              </a:rPr>
              <a:t>            if (dist &lt; closest_pair.dist) { // why can’t we do = {points[i], points[j], dist} ?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Consolas"/>
                <a:ea typeface="Consolas"/>
                <a:cs typeface="Consolas"/>
                <a:sym typeface="Consolas"/>
              </a:rPr>
              <a:t>                closest_pair.p1 = points[i];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Consolas"/>
                <a:ea typeface="Consolas"/>
                <a:cs typeface="Consolas"/>
                <a:sym typeface="Consolas"/>
              </a:rPr>
              <a:t>                closest_pair.p2 = points[j];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Consolas"/>
                <a:ea typeface="Consolas"/>
                <a:cs typeface="Consolas"/>
                <a:sym typeface="Consolas"/>
              </a:rPr>
              <a:t>                closest_pair.dist = dist;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Consolas"/>
                <a:ea typeface="Consolas"/>
                <a:cs typeface="Consolas"/>
                <a:sym typeface="Consolas"/>
              </a:rPr>
              <a:t>            }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Consolas"/>
                <a:ea typeface="Consolas"/>
                <a:cs typeface="Consolas"/>
                <a:sym typeface="Consolas"/>
              </a:rPr>
              <a:t>    return closest_pair;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Consolas"/>
                <a:ea typeface="Consolas"/>
                <a:cs typeface="Consolas"/>
                <a:sym typeface="Consolas"/>
              </a:rPr>
              <a:t>} 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9" name="Google Shape;239;p35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Arrays of structs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41" name="Google Shape;241;p35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6"/>
          <p:cNvSpPr txBox="1">
            <a:spLocks noGrp="1"/>
          </p:cNvSpPr>
          <p:nvPr>
            <p:ph type="body" idx="1"/>
          </p:nvPr>
        </p:nvSpPr>
        <p:spPr>
          <a:xfrm>
            <a:off x="311700" y="1381075"/>
            <a:ext cx="8207400" cy="329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// sets a point p to (x,y)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point_t* set_point(point_t *p, int x, int y)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(*p).x = x;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(*p).y = y;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return p;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47" name="Google Shape;247;p36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3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Structs - pointers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49" name="Google Shape;249;p36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7"/>
          <p:cNvSpPr txBox="1">
            <a:spLocks noGrp="1"/>
          </p:cNvSpPr>
          <p:nvPr>
            <p:ph type="body" idx="1"/>
          </p:nvPr>
        </p:nvSpPr>
        <p:spPr>
          <a:xfrm>
            <a:off x="311700" y="1381075"/>
            <a:ext cx="8613600" cy="353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// sets a point p to (x,y)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point_t* set_point(point_t *p, int x, int y)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p-&gt;x = x;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p-&gt;y = y;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return p;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55" name="Google Shape;255;p37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3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Structs - pointers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57" name="Google Shape;257;p37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8"/>
          <p:cNvSpPr txBox="1">
            <a:spLocks noGrp="1"/>
          </p:cNvSpPr>
          <p:nvPr>
            <p:ph type="body" idx="1"/>
          </p:nvPr>
        </p:nvSpPr>
        <p:spPr>
          <a:xfrm>
            <a:off x="311700" y="1381075"/>
            <a:ext cx="8568300" cy="350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typedef struct {int x, y;} point_t;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// “highest” -- maximum y value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point_t highest_point(point_t points[], int n)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assert(n &gt; 0);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point_t highest = points[0];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for (int i = 1; i &lt; n; i++)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    if (</a:t>
            </a:r>
            <a:r>
              <a:rPr lang="en-GB" b="1">
                <a:latin typeface="Consolas"/>
                <a:ea typeface="Consolas"/>
                <a:cs typeface="Consolas"/>
                <a:sym typeface="Consolas"/>
              </a:rPr>
              <a:t>(points+i)-&gt;y</a:t>
            </a:r>
            <a:r>
              <a:rPr lang="en-GB">
                <a:latin typeface="Consolas"/>
                <a:ea typeface="Consolas"/>
                <a:cs typeface="Consolas"/>
                <a:sym typeface="Consolas"/>
              </a:rPr>
              <a:t> &gt; highest.y)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       highest = points[i];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return highest;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3" name="Google Shape;263;p38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3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Arrays of structs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65" name="Google Shape;265;p38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9"/>
          <p:cNvSpPr txBox="1">
            <a:spLocks noGrp="1"/>
          </p:cNvSpPr>
          <p:nvPr>
            <p:ph type="body" idx="1"/>
          </p:nvPr>
        </p:nvSpPr>
        <p:spPr>
          <a:xfrm>
            <a:off x="311700" y="1381075"/>
            <a:ext cx="8520600" cy="329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typedef char name_t[NAME_LEN + 1];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// family tree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typedef struct {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    name_t name;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    person_t *mother;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    person_t *father;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    person_t *spouse;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} person_t;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// this won’t work.  Can’t use person_t when not yet defined.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1" name="Google Shape;271;p39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3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Recursive struct definition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3" name="Google Shape;273;p39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0"/>
          <p:cNvSpPr txBox="1">
            <a:spLocks noGrp="1"/>
          </p:cNvSpPr>
          <p:nvPr>
            <p:ph type="body" idx="1"/>
          </p:nvPr>
        </p:nvSpPr>
        <p:spPr>
          <a:xfrm>
            <a:off x="311700" y="1381075"/>
            <a:ext cx="8520600" cy="329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typedef char name_t[NAME_LEN + 1];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// family tree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typedef struct person person_t;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struct person {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    name_t name;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    person_t *mother;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    person_t *father;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    person_t *spouse;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Consolas"/>
                <a:ea typeface="Consolas"/>
                <a:cs typeface="Consolas"/>
                <a:sym typeface="Consolas"/>
              </a:rPr>
              <a:t>};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9" name="Google Shape;279;p40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4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Recursive struct definition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81" name="Google Shape;281;p40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1"/>
          <p:cNvSpPr txBox="1">
            <a:spLocks noGrp="1"/>
          </p:cNvSpPr>
          <p:nvPr>
            <p:ph type="body" idx="1"/>
          </p:nvPr>
        </p:nvSpPr>
        <p:spPr>
          <a:xfrm>
            <a:off x="311700" y="1381075"/>
            <a:ext cx="8520600" cy="329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This definition is very powerful.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Used for: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91440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-GB" sz="1800">
                <a:latin typeface="Consolas"/>
                <a:ea typeface="Consolas"/>
                <a:cs typeface="Consolas"/>
                <a:sym typeface="Consolas"/>
              </a:rPr>
              <a:t>Graphs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91440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-GB" sz="1800">
                <a:latin typeface="Consolas"/>
                <a:ea typeface="Consolas"/>
                <a:cs typeface="Consolas"/>
                <a:sym typeface="Consolas"/>
              </a:rPr>
              <a:t>Linked lists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91440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-GB" sz="1800">
                <a:latin typeface="Consolas"/>
                <a:ea typeface="Consolas"/>
                <a:cs typeface="Consolas"/>
                <a:sym typeface="Consolas"/>
              </a:rPr>
              <a:t>Trees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91440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-GB" sz="1800">
                <a:latin typeface="Consolas"/>
                <a:ea typeface="Consolas"/>
                <a:cs typeface="Consolas"/>
                <a:sym typeface="Consolas"/>
              </a:rPr>
              <a:t>… among others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7" name="Google Shape;287;p41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4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Coming up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89" name="Google Shape;289;p41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2"/>
          <p:cNvSpPr txBox="1">
            <a:spLocks noGrp="1"/>
          </p:cNvSpPr>
          <p:nvPr>
            <p:ph type="body" idx="1"/>
          </p:nvPr>
        </p:nvSpPr>
        <p:spPr>
          <a:xfrm>
            <a:off x="311700" y="1381075"/>
            <a:ext cx="8520600" cy="329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Use structs for…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91440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onsolas"/>
              <a:buChar char="-"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Store hierarchically arranged data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91440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onsolas"/>
              <a:buChar char="-"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Minimise repeated variable declarations (int year1, year2, year3 …)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91440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onsolas"/>
              <a:buChar char="-"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Simplifying function calls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91440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onsolas"/>
              <a:buChar char="-"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Multiple return values from functions (less messy than pointers)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Be careful...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91440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onsolas"/>
              <a:buChar char="-"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Structs are copied in their entirety when passed to a function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91440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onsolas"/>
              <a:buChar char="-"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For large structs, this is an expensive operation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91440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onsolas"/>
              <a:buChar char="-"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We may instead copy a pointer to the structure instead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137160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onsolas"/>
              <a:buChar char="-"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Every struct.parameter becomes a struct-&gt;parameter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95" name="Google Shape;295;p42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4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Final notes on structs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97" name="Google Shape;297;p42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4"/>
          <p:cNvSpPr/>
          <p:nvPr/>
        </p:nvSpPr>
        <p:spPr>
          <a:xfrm>
            <a:off x="0" y="0"/>
            <a:ext cx="9144000" cy="42855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34"/>
          <p:cNvSpPr txBox="1">
            <a:spLocks noGrp="1"/>
          </p:cNvSpPr>
          <p:nvPr>
            <p:ph type="title"/>
          </p:nvPr>
        </p:nvSpPr>
        <p:spPr>
          <a:xfrm>
            <a:off x="311700" y="3493025"/>
            <a:ext cx="89019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 dirty="0" err="1">
                <a:solidFill>
                  <a:srgbClr val="FFFFFF"/>
                </a:solidFill>
              </a:rPr>
              <a:t>sizeof</a:t>
            </a:r>
            <a:r>
              <a:rPr lang="en-GB" sz="4800" dirty="0">
                <a:solidFill>
                  <a:srgbClr val="FFFFFF"/>
                </a:solidFill>
              </a:rPr>
              <a:t> structs</a:t>
            </a:r>
            <a:endParaRPr sz="480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5"/>
          <p:cNvSpPr txBox="1">
            <a:spLocks noGrp="1"/>
          </p:cNvSpPr>
          <p:nvPr>
            <p:ph type="body" idx="1"/>
          </p:nvPr>
        </p:nvSpPr>
        <p:spPr>
          <a:xfrm>
            <a:off x="311700" y="1381075"/>
            <a:ext cx="8520600" cy="329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struct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int id;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char name[21];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int year_opened;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double balance;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} account;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sizeof(account.name) ?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sizeof(account) ?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4" name="Google Shape;194;p35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sizeof structs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96" name="Google Shape;196;p35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6"/>
          <p:cNvSpPr txBox="1">
            <a:spLocks noGrp="1"/>
          </p:cNvSpPr>
          <p:nvPr>
            <p:ph type="body" idx="1"/>
          </p:nvPr>
        </p:nvSpPr>
        <p:spPr>
          <a:xfrm>
            <a:off x="311700" y="1381075"/>
            <a:ext cx="8520600" cy="360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struct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int id;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char name[21];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int year_opened;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double balance;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} account;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sizeof(account.name) </a:t>
            </a:r>
            <a:r>
              <a:rPr lang="en-GB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= sizeof(char) * 21 = 1 * 21 = 21</a:t>
            </a:r>
            <a:endParaRPr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sizeof(account) ?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2" name="Google Shape;202;p36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3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sizeof structs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4" name="Google Shape;204;p36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7"/>
          <p:cNvSpPr txBox="1">
            <a:spLocks noGrp="1"/>
          </p:cNvSpPr>
          <p:nvPr>
            <p:ph type="body" idx="1"/>
          </p:nvPr>
        </p:nvSpPr>
        <p:spPr>
          <a:xfrm>
            <a:off x="311700" y="1381075"/>
            <a:ext cx="8520600" cy="360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struct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int id;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char name[21];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int year_opened;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double balance;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} account;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sizeof(account.name) </a:t>
            </a:r>
            <a:r>
              <a:rPr lang="en-GB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= sizeof(char) * 21 = 1 * 21 = 21</a:t>
            </a:r>
            <a:endParaRPr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sizeof(account)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GB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= sizeof(account.id) + sizeof(account.name)</a:t>
            </a:r>
            <a:endParaRPr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    + sizeof(account.year_opened) + sizeof(account.balance)</a:t>
            </a:r>
            <a:endParaRPr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  = sizeof(int) + 21 + sizeof(int) + sizeof(double)</a:t>
            </a:r>
            <a:endParaRPr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  = 4 + 21 + 4 + 8 = 37  (bytes)</a:t>
            </a:r>
            <a:endParaRPr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0" name="Google Shape;210;p37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3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sizeof structs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12" name="Google Shape;212;p37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8"/>
          <p:cNvSpPr txBox="1">
            <a:spLocks noGrp="1"/>
          </p:cNvSpPr>
          <p:nvPr>
            <p:ph type="body" idx="1"/>
          </p:nvPr>
        </p:nvSpPr>
        <p:spPr>
          <a:xfrm>
            <a:off x="311700" y="1381075"/>
            <a:ext cx="8520600" cy="360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struct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int id;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char *name;</a:t>
            </a:r>
            <a:endParaRPr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int year_opened;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double balance;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} account;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account.name = “Hello”;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sizeof(account.name) = ?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sizeof(account) = ?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8" name="Google Shape;218;p38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3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sizeof structs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0" name="Google Shape;220;p38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9"/>
          <p:cNvSpPr txBox="1">
            <a:spLocks noGrp="1"/>
          </p:cNvSpPr>
          <p:nvPr>
            <p:ph type="body" idx="1"/>
          </p:nvPr>
        </p:nvSpPr>
        <p:spPr>
          <a:xfrm>
            <a:off x="311700" y="1381075"/>
            <a:ext cx="8520600" cy="360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struct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int id;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char *name;</a:t>
            </a:r>
            <a:endParaRPr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int year_opened;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double balance;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} account;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account.name = “Hello”;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sizeof(account.name) </a:t>
            </a:r>
            <a:r>
              <a:rPr lang="en-GB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= sizeof(char *) = 8 (64-bit), 4 (32-bit)</a:t>
            </a:r>
            <a:endParaRPr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sizeof(account) = ?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6" name="Google Shape;226;p39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3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sizeof structs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8" name="Google Shape;228;p39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0"/>
          <p:cNvSpPr txBox="1">
            <a:spLocks noGrp="1"/>
          </p:cNvSpPr>
          <p:nvPr>
            <p:ph type="body" idx="1"/>
          </p:nvPr>
        </p:nvSpPr>
        <p:spPr>
          <a:xfrm>
            <a:off x="311700" y="1381075"/>
            <a:ext cx="8520600" cy="360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struct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int id;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char *name;</a:t>
            </a:r>
            <a:endParaRPr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int year_opened;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    double balance;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} account;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account.name = “Hello”;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sizeof(account.name) </a:t>
            </a:r>
            <a:r>
              <a:rPr lang="en-GB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= sizeof(char *) = 8 (64-bit), 4 (32-bit)</a:t>
            </a:r>
            <a:endParaRPr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sizeof(account) </a:t>
            </a:r>
            <a:r>
              <a:rPr lang="en-GB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= 4 + 8 + 4 + 8 = 24</a:t>
            </a:r>
            <a:endParaRPr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onsolas"/>
                <a:ea typeface="Consolas"/>
                <a:cs typeface="Consolas"/>
                <a:sym typeface="Consolas"/>
              </a:rPr>
              <a:t>That’s ok, because this is a string literal.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4" name="Google Shape;234;p40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4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sizeof structs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36" name="Google Shape;236;p40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41"/>
          <p:cNvSpPr txBox="1">
            <a:spLocks noGrp="1"/>
          </p:cNvSpPr>
          <p:nvPr>
            <p:ph type="body" idx="1"/>
          </p:nvPr>
        </p:nvSpPr>
        <p:spPr>
          <a:xfrm>
            <a:off x="311700" y="1381075"/>
            <a:ext cx="8520600" cy="360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struct {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    int id;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char *name;</a:t>
            </a:r>
            <a:endParaRPr sz="16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    int year_opened;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    double balance;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} account;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char name[] = “Namey name”; // assume from input.</a:t>
            </a:r>
            <a:endParaRPr sz="160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account.name = malloc(strlen(name) + 1); assert(account.name);</a:t>
            </a:r>
            <a:endParaRPr sz="160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strcpy(account.name, name);</a:t>
            </a:r>
            <a:endParaRPr sz="160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sizeof(account) = 4 + 8 + 4 + 8 = 24   </a:t>
            </a:r>
            <a:r>
              <a:rPr lang="en-GB" sz="16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- </a:t>
            </a:r>
            <a:r>
              <a:rPr lang="en-GB" sz="16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unchanged</a:t>
            </a:r>
            <a:endParaRPr sz="160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Now there’s 11 bytes (sizeof(name)) unaccounted for! Careful!</a:t>
            </a:r>
            <a:endParaRPr sz="160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42" name="Google Shape;242;p41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4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sizeof structs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44" name="Google Shape;244;p41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2"/>
          <p:cNvSpPr txBox="1">
            <a:spLocks noGrp="1"/>
          </p:cNvSpPr>
          <p:nvPr>
            <p:ph type="body" idx="1"/>
          </p:nvPr>
        </p:nvSpPr>
        <p:spPr>
          <a:xfrm>
            <a:off x="311700" y="1381075"/>
            <a:ext cx="8520600" cy="360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struct {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    int id;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char *name;</a:t>
            </a:r>
            <a:endParaRPr sz="16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size_t name_size;  // if we </a:t>
            </a:r>
            <a:r>
              <a:rPr lang="en-GB" sz="1600" i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need</a:t>
            </a:r>
            <a:r>
              <a:rPr lang="en-GB" sz="16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the size.</a:t>
            </a:r>
            <a:endParaRPr sz="160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    int year_opened;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    double balance;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} account;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char name[] = “Namey name”; // assume from input.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account.name_size = strlen(name) + 1;</a:t>
            </a:r>
            <a:endParaRPr sz="160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account.name = malloc(</a:t>
            </a:r>
            <a:r>
              <a:rPr lang="en-GB" sz="16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account.name_size</a:t>
            </a: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);  assert(account.name);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strcpy(account.name, name);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sizeof(account) = 4 + 8 + 4 + </a:t>
            </a:r>
            <a:r>
              <a:rPr lang="en-GB" sz="16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4 </a:t>
            </a: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+ 8 = </a:t>
            </a:r>
            <a:r>
              <a:rPr lang="en-GB" sz="16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28 </a:t>
            </a:r>
            <a:r>
              <a:rPr lang="en-GB" sz="1600">
                <a:latin typeface="Consolas"/>
                <a:ea typeface="Consolas"/>
                <a:cs typeface="Consolas"/>
                <a:sym typeface="Consolas"/>
              </a:rPr>
              <a:t> (4B to store name_size)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name_size + sizeof(account) = 28 + 11 = 41  &lt;- actual size of struct.</a:t>
            </a:r>
            <a:endParaRPr sz="160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50" name="Google Shape;250;p42"/>
          <p:cNvSpPr/>
          <p:nvPr/>
        </p:nvSpPr>
        <p:spPr>
          <a:xfrm>
            <a:off x="0" y="0"/>
            <a:ext cx="9144000" cy="11103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4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sizeof structs</a:t>
            </a:r>
            <a:endParaRPr>
              <a:solidFill>
                <a:srgbClr val="FFFFFF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52" name="Google Shape;252;p42"/>
          <p:cNvSpPr txBox="1"/>
          <p:nvPr/>
        </p:nvSpPr>
        <p:spPr>
          <a:xfrm>
            <a:off x="2711950" y="-2742200"/>
            <a:ext cx="58071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3228</Words>
  <Application>Microsoft Macintosh PowerPoint</Application>
  <PresentationFormat>On-screen Show (16:9)</PresentationFormat>
  <Paragraphs>526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2" baseType="lpstr">
      <vt:lpstr>Consolas</vt:lpstr>
      <vt:lpstr>Arial</vt:lpstr>
      <vt:lpstr>Fira Code</vt:lpstr>
      <vt:lpstr>Simple Light</vt:lpstr>
      <vt:lpstr>Structs</vt:lpstr>
      <vt:lpstr>Structs</vt:lpstr>
      <vt:lpstr>Structs</vt:lpstr>
      <vt:lpstr>Structs</vt:lpstr>
      <vt:lpstr>Structs</vt:lpstr>
      <vt:lpstr>Structs</vt:lpstr>
      <vt:lpstr>Structs</vt:lpstr>
      <vt:lpstr>Structs</vt:lpstr>
      <vt:lpstr>Structs - Shallow copy</vt:lpstr>
      <vt:lpstr>Structs - Shallow copy</vt:lpstr>
      <vt:lpstr>Structs - Motivation</vt:lpstr>
      <vt:lpstr>Structs - Motivation</vt:lpstr>
      <vt:lpstr>Hierarchical struct</vt:lpstr>
      <vt:lpstr>Hierarchical struct</vt:lpstr>
      <vt:lpstr>Hierarchical struct</vt:lpstr>
      <vt:lpstr>Structs</vt:lpstr>
      <vt:lpstr>Arrays...</vt:lpstr>
      <vt:lpstr>Structs...</vt:lpstr>
      <vt:lpstr>Arrays of structs</vt:lpstr>
      <vt:lpstr>Arrays of structs</vt:lpstr>
      <vt:lpstr>Arrays of structs</vt:lpstr>
      <vt:lpstr>Arrays of structs</vt:lpstr>
      <vt:lpstr>Structs - pointers</vt:lpstr>
      <vt:lpstr>Structs - pointers</vt:lpstr>
      <vt:lpstr>Arrays of structs</vt:lpstr>
      <vt:lpstr>Recursive struct definition</vt:lpstr>
      <vt:lpstr>Recursive struct definition</vt:lpstr>
      <vt:lpstr>Coming up</vt:lpstr>
      <vt:lpstr>Final notes on structs</vt:lpstr>
      <vt:lpstr>sizeof structs</vt:lpstr>
      <vt:lpstr>sizeof structs</vt:lpstr>
      <vt:lpstr>sizeof structs</vt:lpstr>
      <vt:lpstr>sizeof structs</vt:lpstr>
      <vt:lpstr>sizeof structs</vt:lpstr>
      <vt:lpstr>sizeof structs</vt:lpstr>
      <vt:lpstr>sizeof structs</vt:lpstr>
      <vt:lpstr>sizeof structs</vt:lpstr>
      <vt:lpstr>sizeof structs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Tracy Bu</cp:lastModifiedBy>
  <cp:revision>2</cp:revision>
  <dcterms:modified xsi:type="dcterms:W3CDTF">2026-03-29T07:46:43Z</dcterms:modified>
</cp:coreProperties>
</file>